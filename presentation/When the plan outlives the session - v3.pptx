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e4613e63884e4f" /><Relationship Type="http://schemas.openxmlformats.org/officeDocument/2006/relationships/extended-properties" Target="/docProps/app.xml" Id="R9e778bbeef4e4b9f" /><Relationship Type="http://schemas.openxmlformats.org/officeDocument/2006/relationships/officeDocument" Target="/ppt/presentation.xml" Id="Rdbc84101f2d946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fd7682282b4187"/>
  </p:sldMasterIdLst>
  <p:notesMasterIdLst>
    <p:notesMasterId xmlns:r="http://schemas.openxmlformats.org/officeDocument/2006/relationships" r:id="R0f0a9ba545dc4059"/>
  </p:notesMasterIdLst>
  <p:sldIdLst>
    <p:sldId xmlns:r="http://schemas.openxmlformats.org/officeDocument/2006/relationships" id="256" r:id="Ra0668d69c3934ccb"/>
    <p:sldId xmlns:r="http://schemas.openxmlformats.org/officeDocument/2006/relationships" id="257" r:id="R77c3fa4ea6294f29"/>
    <p:sldId xmlns:r="http://schemas.openxmlformats.org/officeDocument/2006/relationships" id="258" r:id="R36b72f0579414424"/>
    <p:sldId xmlns:r="http://schemas.openxmlformats.org/officeDocument/2006/relationships" id="259" r:id="R21a8c6f1db504de1"/>
    <p:sldId xmlns:r="http://schemas.openxmlformats.org/officeDocument/2006/relationships" id="260" r:id="Rbaf25f2a1afb4256"/>
    <p:sldId xmlns:r="http://schemas.openxmlformats.org/officeDocument/2006/relationships" id="261" r:id="R72c3cef95bd7435d"/>
    <p:sldId xmlns:r="http://schemas.openxmlformats.org/officeDocument/2006/relationships" id="262" r:id="R970c4565f83544ae"/>
    <p:sldId xmlns:r="http://schemas.openxmlformats.org/officeDocument/2006/relationships" id="263" r:id="Rc25f235d77b5402d"/>
    <p:sldId xmlns:r="http://schemas.openxmlformats.org/officeDocument/2006/relationships" id="264" r:id="Radd68e5123184b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b5e47bd7714b4b" /><Relationship Type="http://schemas.openxmlformats.org/officeDocument/2006/relationships/slideMaster" Target="/ppt/slideMasters/slideMaster1.xml" Id="R2cfd7682282b4187" /><Relationship Type="http://schemas.openxmlformats.org/officeDocument/2006/relationships/notesMaster" Target="/ppt/notesMasters/notesMaster1.xml" Id="R0f0a9ba545dc4059" /><Relationship Type="http://schemas.openxmlformats.org/officeDocument/2006/relationships/presProps" Target="/ppt/presProps.xml" Id="R0df1977a6bfb4123" /><Relationship Type="http://schemas.openxmlformats.org/officeDocument/2006/relationships/tableStyles" Target="/ppt/tableStyles.xml" Id="R8aeedc72c4174e41" /><Relationship Type="http://schemas.openxmlformats.org/officeDocument/2006/relationships/slide" Target="/ppt/slides/slide1.xml" Id="Ra0668d69c3934ccb" /><Relationship Type="http://schemas.openxmlformats.org/officeDocument/2006/relationships/slide" Target="/ppt/slides/slide2.xml" Id="R77c3fa4ea6294f29" /><Relationship Type="http://schemas.openxmlformats.org/officeDocument/2006/relationships/slide" Target="/ppt/slides/slide3.xml" Id="R36b72f0579414424" /><Relationship Type="http://schemas.openxmlformats.org/officeDocument/2006/relationships/slide" Target="/ppt/slides/slide4.xml" Id="R21a8c6f1db504de1" /><Relationship Type="http://schemas.openxmlformats.org/officeDocument/2006/relationships/slide" Target="/ppt/slides/slide5.xml" Id="Rbaf25f2a1afb4256" /><Relationship Type="http://schemas.openxmlformats.org/officeDocument/2006/relationships/slide" Target="/ppt/slides/slide6.xml" Id="R72c3cef95bd7435d" /><Relationship Type="http://schemas.openxmlformats.org/officeDocument/2006/relationships/slide" Target="/ppt/slides/slide7.xml" Id="R970c4565f83544ae" /><Relationship Type="http://schemas.openxmlformats.org/officeDocument/2006/relationships/slide" Target="/ppt/slides/slide8.xml" Id="Rc25f235d77b5402d" /><Relationship Type="http://schemas.openxmlformats.org/officeDocument/2006/relationships/slide" Target="/ppt/slides/slide9.xml" Id="Radd68e5123184b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21b25a9a194b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3f2ee59942441b" /><Relationship Type="http://schemas.openxmlformats.org/officeDocument/2006/relationships/notesMaster" Target="/ppt/notesMasters/notesMaster1.xml" Id="R779bee65035f46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c72f272e524eb0" /><Relationship Type="http://schemas.openxmlformats.org/officeDocument/2006/relationships/notesMaster" Target="/ppt/notesMasters/notesMaster1.xml" Id="R3d827af0891b40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41e5d836544be0" /><Relationship Type="http://schemas.openxmlformats.org/officeDocument/2006/relationships/notesMaster" Target="/ppt/notesMasters/notesMaster1.xml" Id="R1b5d548b0cd449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189768a4bb4958" /><Relationship Type="http://schemas.openxmlformats.org/officeDocument/2006/relationships/notesMaster" Target="/ppt/notesMasters/notesMaster1.xml" Id="Raf7a2058f53746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58855fc05a4cdf" /><Relationship Type="http://schemas.openxmlformats.org/officeDocument/2006/relationships/notesMaster" Target="/ppt/notesMasters/notesMaster1.xml" Id="Rce2da375e84949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6fa56a805145f0" /><Relationship Type="http://schemas.openxmlformats.org/officeDocument/2006/relationships/notesMaster" Target="/ppt/notesMasters/notesMaster1.xml" Id="Rac7dc9821a2147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a27cc7d66f4940" /><Relationship Type="http://schemas.openxmlformats.org/officeDocument/2006/relationships/notesMaster" Target="/ppt/notesMasters/notesMaster1.xml" Id="Rf2ca705614ec4f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d9f240494644a0" /><Relationship Type="http://schemas.openxmlformats.org/officeDocument/2006/relationships/notesMaster" Target="/ppt/notesMasters/notesMaster1.xml" Id="R0814dd8e744947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d7a1002e86411a" /><Relationship Type="http://schemas.openxmlformats.org/officeDocument/2006/relationships/notesMaster" Target="/ppt/notesMasters/notesMaster1.xml" Id="R657d13072ed244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audience’s normal experience: “You are probably all very familiar with this flow.” In Plan Mode Claude reads and explores without editing source files, presents a plan, and begins editing after approval in the selected permission mode. Say plainly that this is a useful workflow and is not the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“But what happens when the work is too large for one sitting, starts spawning new work, or needs to move across several sessions?”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https://code.claude.com/docs/en/permission-modes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Now show what “more complex” can become. Steve Yegge did not reject Markdown from the outset: he went all-in on Git-versioned, hierarchical Markdown plans for agent orchestration—and eventually found 605 plan files in varying stages of decay.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screenshot as evidence: the agent has created a follow-up issue, recorded what it depends on, and made the critical path explicit. This is the move from plans as documents to work as queryable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“This pressure grows as we move from an assistant inside one session toward agents working across tasks and in parallel. You may remember this model from the sprint review.”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Accuracy note: the launch essay describes Beads’ historical JSONL implementation. Current technical claims later in the deck use the modern Dolt-based documentation.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Steve Yegge, Introducing Beads: A coding agent memory system, 13 October 2025: https://steve-yegge.medium.com/introducing-beads-a-coding-agent-memory-system-637d7d92514a</a:t>
            </a:r>
          </a:p>
          <a:p xmlns:a="http://schemas.openxmlformats.org/drawingml/2006/main">
            <a:r>
              <a:t>- Original image from the essay: https://miro.medium.com/v2/resize:fit:1400/1*HbBoe7lEio9gX6v6-ZFbZQ.png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exact adoption-stages slide from the sprint review. Move quickly from left to right: interactive coding assistance, a more autonomous agent, task-bounded agents, then parallel orchestration. Treat it as a useful progression, not a maturity score everyone must climb.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point for today is narrower: the farther right we work, the more tasks outlive an individual conversation and the more coordination state matters. A native Markdown plan can be enough on the left; durable, queryable task state becomes increasingly valuable as work becomes longer-lived and more concurrent.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“Even before full orchestration, ordinary engineering work already creates these pressure points.”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Reused source slide: /Users/paishe01/hNotes/20__Output/Agentic AI workflows — adoption stages.pptx, slide 1</a:t>
            </a:r>
          </a:p>
          <a:p xmlns:a="http://schemas.openxmlformats.org/drawingml/2006/main">
            <a:r>
              <a:t>- User-provided asset: yegge-agent-evolution.webp</a:t>
            </a:r>
          </a:p>
          <a:p xmlns:a="http://schemas.openxmlformats.org/drawingml/2006/main">
            <a:r>
              <a:t>- Stage model reference: https://justin.abrah.ms/blog/2026-01-08-yegge-s-developer-agent-evolution-model.html</a:t>
            </a:r>
          </a:p>
          <a:p xmlns:a="http://schemas.openxmlformats.org/drawingml/2006/main">
            <a:r>
              <a:t>- Brand treatment: https://brandhub.stepstone.com/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Let the complexity emerge through questions: What is done? What is next? Where does the bug belong? What is blocked? How does a fresh session know why? Acknowledge that Markdown can encode all of this. The point is that we are progressively designing task-management conventions inside the document.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 back to the adoption slide: parallelism is only the most visible version of the problem; continuity, provenance, and dependency tracking begin to matter as soon as work crosses a session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beads only now. It is a persistent, dependency-aware task graph designed for AI-supervised coding workflows. The agent can restore project context, find unblocked work, inspect one bounded unit, claim it, record discovered work with provenance, and leave a durable hand-off.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https://github.com/gastownhall/beads/blob/main/docs/index.md</a:t>
            </a:r>
          </a:p>
          <a:p xmlns:a="http://schemas.openxmlformats.org/drawingml/2006/main">
            <a:r>
              <a:t>- https://github.com/gastownhall/beads/blob/main/docs/getting-started/ide-setup.md</a:t>
            </a:r>
          </a:p>
          <a:p xmlns:a="http://schemas.openxmlformats.org/drawingml/2006/main">
            <a:r>
              <a:t>- https://github.com/gastownhall/beads/blob/main/docs/multi-agent/coordination.md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Switch to the terminal. Run the prepared demo from presentation/demo-runbook.md. Keep this to roughly three minutes. If the live agent response stalls, use the deterministic CLI path and continue; the audience still sees the same persisted context and task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https://github.com/gastownhall/beads/blob/main/docs/index.md</a:t>
            </a:r>
          </a:p>
          <a:p xmlns:a="http://schemas.openxmlformats.org/drawingml/2006/main">
            <a:r>
              <a:t>- Local demo runbook: presentation/demo-runbook.md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presentation task selected with its children, state, description, acceptance criteria, design, and notes. The opening slide already established the repository-level view; here, zoom into one durable hand-off.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screenshot captured from beads-map on 2026-09-02: presentation/assets/beads-map-presentation-work.png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not a benchmark or a causal productivity claim. It is a traceable project history: 49 beads were closed between 25 and 31 August 2026, spanning product decisions, implementation, bugs, packaging, and release hardening. The visualizer shown here was built through the system it visualizes.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bd stats and closed-issue records inspected 2026-09-02</a:t>
            </a:r>
          </a:p>
          <a:p xmlns:a="http://schemas.openxmlformats.org/drawingml/2006/main">
            <a:r>
              <a:t>- Local screenshot captured from beads-map on 2026-09-02: presentation/assets/beads-map-release-hardening.png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without overselling. Ask people to try beads on one genuine multi-session task and tell you where it helps or adds friction. Leave the final slide visible for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https://github.com/gastownhall/beads/blob/main/docs/index.md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17c6aec55344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79a5da1d224a30" /><Relationship Type="http://schemas.openxmlformats.org/officeDocument/2006/relationships/slideLayout" Target="/ppt/slideLayouts/slideLayout1.xml" Id="Rfe2d9ce8009844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2d9ce8009844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00fe87f024fc9" /><Relationship Type="http://schemas.openxmlformats.org/officeDocument/2006/relationships/notesSlide" Target="/ppt/notesSlides/notesSlide1.xml" Id="Rf0b3765577db43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a0e804406483c" /><Relationship Type="http://schemas.openxmlformats.org/officeDocument/2006/relationships/image" Target="/ppt/media/image.png" Id="R4aa31e42e23742c5" /><Relationship Type="http://schemas.openxmlformats.org/officeDocument/2006/relationships/notesSlide" Target="/ppt/notesSlides/notesSlide2.xml" Id="R552bf165c79348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84a1a74fd4317" /><Relationship Type="http://schemas.openxmlformats.org/officeDocument/2006/relationships/image" Target="/ppt/media/image.bin" Id="R36562cc7b4fc4705" /><Relationship Type="http://schemas.openxmlformats.org/officeDocument/2006/relationships/notesSlide" Target="/ppt/notesSlides/notesSlide3.xml" Id="R27940764717c4f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4571d59794508" /><Relationship Type="http://schemas.openxmlformats.org/officeDocument/2006/relationships/notesSlide" Target="/ppt/notesSlides/notesSlide4.xml" Id="R3d4769d8448946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feb3e87834c15" /><Relationship Type="http://schemas.openxmlformats.org/officeDocument/2006/relationships/notesSlide" Target="/ppt/notesSlides/notesSlide5.xml" Id="R8a85a905d93746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99731f05649da" /><Relationship Type="http://schemas.openxmlformats.org/officeDocument/2006/relationships/notesSlide" Target="/ppt/notesSlides/notesSlide6.xml" Id="R10e51baa154846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cf403b06a400b" /><Relationship Type="http://schemas.openxmlformats.org/officeDocument/2006/relationships/image" Target="/ppt/media/image.jpeg" Id="R3cbd42de92f94ddb" /><Relationship Type="http://schemas.openxmlformats.org/officeDocument/2006/relationships/notesSlide" Target="/ppt/notesSlides/notesSlide7.xml" Id="Rb5c2a5cae2d143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69a6920b442af" /><Relationship Type="http://schemas.openxmlformats.org/officeDocument/2006/relationships/image" Target="/ppt/media/image2.jpeg" Id="R95f35d538abd4e43" /><Relationship Type="http://schemas.openxmlformats.org/officeDocument/2006/relationships/notesSlide" Target="/ppt/notesSlides/notesSlide8.xml" Id="Ra327e5c07d0044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caa45414f494b" /><Relationship Type="http://schemas.openxmlformats.org/officeDocument/2006/relationships/notesSlide" Target="/ppt/notesSlides/notesSlide9.xml" Id="R7c4eb374e8ba42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THE FAMILIAR FLOW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The familiar Claude Code loop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1</a:t>
            </a:r>
          </a:p>
        </p:txBody>
      </p:sp>
      <p:sp>
        <p:nvSpPr>
          <p:cNvPr id="7" name="classical-step-1">
            <a:extLst xmlns:a="http://schemas.openxmlformats.org/drawingml/2006/main">
              <a:ext uri="{FF2B5EF4-FFF2-40B4-BE49-F238E27FC236}">
                <a16:creationId xmlns:a16="http://schemas.microsoft.com/office/drawing/2014/main" id="{BC616160-4903-461B-818E-E879F67B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479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PLAN MODE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Read + propose</a:t>
            </a:r>
          </a:p>
        </p:txBody>
      </p:sp>
      <p:sp>
        <p:nvSpPr>
          <p:cNvPr id="8" name="classical-step-2">
            <a:extLst xmlns:a="http://schemas.openxmlformats.org/drawingml/2006/main">
              <a:ext uri="{FF2B5EF4-FFF2-40B4-BE49-F238E27FC236}">
                <a16:creationId xmlns:a16="http://schemas.microsoft.com/office/drawing/2014/main" id="{54881E1A-77E9-42DB-8CCC-AE35A0E4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479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REVIEW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Refine + approve</a:t>
            </a:r>
          </a:p>
        </p:txBody>
      </p:sp>
      <p:sp>
        <p:nvSpPr>
          <p:cNvPr id="9" name="classical-step-3">
            <a:extLst xmlns:a="http://schemas.openxmlformats.org/drawingml/2006/main">
              <a:ext uri="{FF2B5EF4-FFF2-40B4-BE49-F238E27FC236}">
                <a16:creationId xmlns:a16="http://schemas.microsoft.com/office/drawing/2014/main" id="{01229AD3-BCE5-4CB7-9B83-7D71D7CB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EXECUTE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Edit + run</a:t>
            </a:r>
          </a:p>
        </p:txBody>
      </p:sp>
      <p:sp>
        <p:nvSpPr>
          <p:cNvPr id="10" name="classical-step-4">
            <a:extLst xmlns:a="http://schemas.openxmlformats.org/drawingml/2006/main">
              <a:ext uri="{FF2B5EF4-FFF2-40B4-BE49-F238E27FC236}">
                <a16:creationId xmlns:a16="http://schemas.microsoft.com/office/drawing/2014/main" id="{D4B45699-C7D8-4BFB-B7D9-AA0C6817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479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VERIFY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Review the result</a:t>
            </a:r>
          </a:p>
        </p:txBody>
      </p:sp>
      <p:sp>
        <p:nvSpPr>
          <p:cNvPr id="11" name="classical-arrow-1">
            <a:extLst xmlns:a="http://schemas.openxmlformats.org/drawingml/2006/main">
              <a:ext uri="{FF2B5EF4-FFF2-40B4-BE49-F238E27FC236}">
                <a16:creationId xmlns:a16="http://schemas.microsoft.com/office/drawing/2014/main" id="{C439129A-4C6C-437B-B0FB-52DAA4E4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90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2" name="classical-arrow-2">
            <a:extLst xmlns:a="http://schemas.openxmlformats.org/drawingml/2006/main">
              <a:ext uri="{FF2B5EF4-FFF2-40B4-BE49-F238E27FC236}">
                <a16:creationId xmlns:a16="http://schemas.microsoft.com/office/drawing/2014/main" id="{8AA5D5E0-C0DA-48DB-826E-63108855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90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3" name="classical-arrow-3">
            <a:extLst xmlns:a="http://schemas.openxmlformats.org/drawingml/2006/main">
              <a:ext uri="{FF2B5EF4-FFF2-40B4-BE49-F238E27FC236}">
                <a16:creationId xmlns:a16="http://schemas.microsoft.com/office/drawing/2014/main" id="{3F3917BF-DFE2-4B86-8766-FA466D84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90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4" name="classical-caption">
            <a:extLst xmlns:a="http://schemas.openxmlformats.org/drawingml/2006/main">
              <a:ext uri="{FF2B5EF4-FFF2-40B4-BE49-F238E27FC236}">
                <a16:creationId xmlns:a16="http://schemas.microsoft.com/office/drawing/2014/main" id="{C5A1B456-9B08-4A25-96C1-80E963D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95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 strong workflow for bounded work inside one session</a:t>
            </a:r>
          </a:p>
        </p:txBody>
      </p:sp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STEVE YEGGE  ·  INTRODUCING BEADS  ·  2025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605 markdown plan files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31e42e23742c5"/>
          <a:srcRect xmlns:a="http://schemas.openxmlformats.org/drawingml/2006/main" l="0" t="29980" r="0" b="299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95450"/>
            <a:ext cx="10820400" cy="4400550"/>
          </a:xfrm>
          <a:prstGeom xmlns:a="http://schemas.openxmlformats.org/drawingml/2006/main" prst="rect">
            <a:avLst/>
          </a:prstGeom>
        </p:spPr>
      </p:pic>
      <p:sp>
        <p:nvSpPr>
          <p:cNvPr id="8" name="source-attribution">
            <a:extLst xmlns:a="http://schemas.openxmlformats.org/drawingml/2006/main">
              <a:ext uri="{FF2B5EF4-FFF2-40B4-BE49-F238E27FC236}">
                <a16:creationId xmlns:a16="http://schemas.microsoft.com/office/drawing/2014/main" id="{51B9064E-E6F5-41AA-9C69-7492D03E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50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“in varying stages of decay” — Steve Yegge</a:t>
            </a:r>
          </a:p>
        </p:txBody>
      </p:sp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CODING WORKFLOW SNAPSHOT  ·  ADOPTION MODEL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The Stages of AI Adoption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62cc7b4fc4705"/>
          <a:stretch xmlns:a="http://schemas.openxmlformats.org/drawingml/2006/main"/>
        </p:blipFill>
        <p:spPr>
          <a:xfrm xmlns:a="http://schemas.openxmlformats.org/drawingml/2006/main">
            <a:off x="1714500" y="1385615"/>
            <a:ext cx="8763000" cy="47820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731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">
            <a:extLst xmlns:a="http://schemas.openxmlformats.org/drawingml/2006/main">
              <a:ext uri="{FF2B5EF4-FFF2-40B4-BE49-F238E27FC236}">
                <a16:creationId xmlns:a16="http://schemas.microsoft.com/office/drawing/2014/main" id="{0DCF47BE-DFE5-4017-B1BE-FC92D56B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THE PRESSURE POINTS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B46A96-9C71-4467-85D7-8F5BBFD1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Real work escapes the session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D55878A-C749-4345-BCB1-91648F12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811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Markdown can carry this—but each pressure adds another convention.</a:t>
            </a:r>
          </a:p>
        </p:txBody>
      </p:sp>
      <p:sp>
        <p:nvSpPr>
          <p:cNvPr id="4" name="count-header">
            <a:extLst xmlns:a="http://schemas.openxmlformats.org/drawingml/2006/main">
              <a:ext uri="{FF2B5EF4-FFF2-40B4-BE49-F238E27FC236}">
                <a16:creationId xmlns:a16="http://schemas.microsoft.com/office/drawing/2014/main" id="{FB1C5206-9B1A-4E9E-9AED-FA3800CD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1914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WHAT HAPPENS?</a:t>
            </a:r>
          </a:p>
        </p:txBody>
      </p:sp>
      <p:sp>
        <p:nvSpPr>
          <p:cNvPr id="5" name="who-header">
            <a:extLst xmlns:a="http://schemas.openxmlformats.org/drawingml/2006/main">
              <a:ext uri="{FF2B5EF4-FFF2-40B4-BE49-F238E27FC236}">
                <a16:creationId xmlns:a16="http://schemas.microsoft.com/office/drawing/2014/main" id="{9C894F39-2EA2-406B-AD33-82F05836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19145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THE PLAN NOW NEEDS</a:t>
            </a:r>
          </a:p>
        </p:txBody>
      </p:sp>
      <p:sp>
        <p:nvSpPr>
          <p:cNvPr id="6" name="tool-0">
            <a:extLst xmlns:a="http://schemas.openxmlformats.org/drawingml/2006/main">
              <a:ext uri="{FF2B5EF4-FFF2-40B4-BE49-F238E27FC236}">
                <a16:creationId xmlns:a16="http://schemas.microsoft.com/office/drawing/2014/main" id="{2ED8A1F9-3653-4165-AE13-FC7191CB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419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Several sessions</a:t>
            </a:r>
          </a:p>
        </p:txBody>
      </p:sp>
      <p:sp>
        <p:nvSpPr>
          <p:cNvPr id="7" name="kind-0">
            <a:extLst xmlns:a="http://schemas.openxmlformats.org/drawingml/2006/main">
              <a:ext uri="{FF2B5EF4-FFF2-40B4-BE49-F238E27FC236}">
                <a16:creationId xmlns:a16="http://schemas.microsoft.com/office/drawing/2014/main" id="{74FAFCA1-579A-4312-B6A5-CE5ADCE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7146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Work continues tomorrow</a:t>
            </a:r>
          </a:p>
        </p:txBody>
      </p:sp>
      <p:sp>
        <p:nvSpPr>
          <p:cNvPr id="8" name="track-0">
            <a:extLst xmlns:a="http://schemas.openxmlformats.org/drawingml/2006/main">
              <a:ext uri="{FF2B5EF4-FFF2-40B4-BE49-F238E27FC236}">
                <a16:creationId xmlns:a16="http://schemas.microsoft.com/office/drawing/2014/main" id="{6FFA0D4D-BBE2-4D62-BE26-51F574DD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9" name="bar-0">
            <a:extLst xmlns:a="http://schemas.openxmlformats.org/drawingml/2006/main">
              <a:ext uri="{FF2B5EF4-FFF2-40B4-BE49-F238E27FC236}">
                <a16:creationId xmlns:a16="http://schemas.microsoft.com/office/drawing/2014/main" id="{AE288DFF-C9F7-4099-B5FC-3C8368B0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0" name="count-dot-0">
            <a:extLst xmlns:a="http://schemas.openxmlformats.org/drawingml/2006/main">
              <a:ext uri="{FF2B5EF4-FFF2-40B4-BE49-F238E27FC236}">
                <a16:creationId xmlns:a16="http://schemas.microsoft.com/office/drawing/2014/main" id="{08C58B02-A3E4-42E7-92E9-40F7D421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count-0">
            <a:extLst xmlns:a="http://schemas.openxmlformats.org/drawingml/2006/main">
              <a:ext uri="{FF2B5EF4-FFF2-40B4-BE49-F238E27FC236}">
                <a16:creationId xmlns:a16="http://schemas.microsoft.com/office/drawing/2014/main" id="{2029673E-609F-40F5-8BF7-2CDD6AC3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51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2" name="people-0">
            <a:extLst xmlns:a="http://schemas.openxmlformats.org/drawingml/2006/main">
              <a:ext uri="{FF2B5EF4-FFF2-40B4-BE49-F238E27FC236}">
                <a16:creationId xmlns:a16="http://schemas.microsoft.com/office/drawing/2014/main" id="{A05016CF-CBE1-434F-ADFB-7BB33998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514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State</a:t>
            </a:r>
          </a:p>
        </p:txBody>
      </p:sp>
      <p:sp>
        <p:nvSpPr>
          <p:cNvPr id="13" name="row-rule-0">
            <a:extLst xmlns:a="http://schemas.openxmlformats.org/drawingml/2006/main">
              <a:ext uri="{FF2B5EF4-FFF2-40B4-BE49-F238E27FC236}">
                <a16:creationId xmlns:a16="http://schemas.microsoft.com/office/drawing/2014/main" id="{FB249F42-162A-478A-A446-4702AA9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14" name="tool-1">
            <a:extLst xmlns:a="http://schemas.openxmlformats.org/drawingml/2006/main">
              <a:ext uri="{FF2B5EF4-FFF2-40B4-BE49-F238E27FC236}">
                <a16:creationId xmlns:a16="http://schemas.microsoft.com/office/drawing/2014/main" id="{8B85E11A-B72F-4CAB-AC64-8B9B099C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38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New work appears</a:t>
            </a:r>
          </a:p>
        </p:txBody>
      </p:sp>
      <p:sp>
        <p:nvSpPr>
          <p:cNvPr id="15" name="kind-1">
            <a:extLst xmlns:a="http://schemas.openxmlformats.org/drawingml/2006/main">
              <a:ext uri="{FF2B5EF4-FFF2-40B4-BE49-F238E27FC236}">
                <a16:creationId xmlns:a16="http://schemas.microsoft.com/office/drawing/2014/main" id="{B5718566-62F6-48F7-97DB-7E8BAA0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533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Execution reveals a bug</a:t>
            </a:r>
          </a:p>
        </p:txBody>
      </p:sp>
      <p:sp>
        <p:nvSpPr>
          <p:cNvPr id="16" name="track-1">
            <a:extLst xmlns:a="http://schemas.openxmlformats.org/drawingml/2006/main">
              <a:ext uri="{FF2B5EF4-FFF2-40B4-BE49-F238E27FC236}">
                <a16:creationId xmlns:a16="http://schemas.microsoft.com/office/drawing/2014/main" id="{696F6BE6-F61A-436D-9C87-FBC8A420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17" name="bar-1">
            <a:extLst xmlns:a="http://schemas.openxmlformats.org/drawingml/2006/main">
              <a:ext uri="{FF2B5EF4-FFF2-40B4-BE49-F238E27FC236}">
                <a16:creationId xmlns:a16="http://schemas.microsoft.com/office/drawing/2014/main" id="{9A875AD8-994E-44F6-BA8C-EF70865A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8" name="count-dot-1">
            <a:extLst xmlns:a="http://schemas.openxmlformats.org/drawingml/2006/main">
              <a:ext uri="{FF2B5EF4-FFF2-40B4-BE49-F238E27FC236}">
                <a16:creationId xmlns:a16="http://schemas.microsoft.com/office/drawing/2014/main" id="{044331BB-9ED9-4A0C-963A-E832A38B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count-1">
            <a:extLst xmlns:a="http://schemas.openxmlformats.org/drawingml/2006/main">
              <a:ext uri="{FF2B5EF4-FFF2-40B4-BE49-F238E27FC236}">
                <a16:creationId xmlns:a16="http://schemas.microsoft.com/office/drawing/2014/main" id="{EF00076C-A85F-408F-8917-ABD4FDC7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333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20" name="people-1">
            <a:extLst xmlns:a="http://schemas.openxmlformats.org/drawingml/2006/main">
              <a:ext uri="{FF2B5EF4-FFF2-40B4-BE49-F238E27FC236}">
                <a16:creationId xmlns:a16="http://schemas.microsoft.com/office/drawing/2014/main" id="{1C0C1962-E4EB-42B5-A19F-2483BEA0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3333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Provenance</a:t>
            </a:r>
          </a:p>
        </p:txBody>
      </p:sp>
      <p:sp>
        <p:nvSpPr>
          <p:cNvPr id="21" name="row-rule-1">
            <a:extLst xmlns:a="http://schemas.openxmlformats.org/drawingml/2006/main">
              <a:ext uri="{FF2B5EF4-FFF2-40B4-BE49-F238E27FC236}">
                <a16:creationId xmlns:a16="http://schemas.microsoft.com/office/drawing/2014/main" id="{ACAABAA6-126D-4CC2-8363-9819E981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22" name="tool-2">
            <a:extLst xmlns:a="http://schemas.openxmlformats.org/drawingml/2006/main">
              <a:ext uri="{FF2B5EF4-FFF2-40B4-BE49-F238E27FC236}">
                <a16:creationId xmlns:a16="http://schemas.microsoft.com/office/drawing/2014/main" id="{B8CE818F-8514-438A-BB73-A01C047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057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Dependencies</a:t>
            </a:r>
          </a:p>
        </p:txBody>
      </p:sp>
      <p:sp>
        <p:nvSpPr>
          <p:cNvPr id="23" name="kind-2">
            <a:extLst xmlns:a="http://schemas.openxmlformats.org/drawingml/2006/main">
              <a:ext uri="{FF2B5EF4-FFF2-40B4-BE49-F238E27FC236}">
                <a16:creationId xmlns:a16="http://schemas.microsoft.com/office/drawing/2014/main" id="{C1268AA5-062E-428F-8B88-389EB789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3529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Task B waits for Task A</a:t>
            </a:r>
          </a:p>
        </p:txBody>
      </p:sp>
      <p:sp>
        <p:nvSpPr>
          <p:cNvPr id="24" name="track-2">
            <a:extLst xmlns:a="http://schemas.openxmlformats.org/drawingml/2006/main">
              <a:ext uri="{FF2B5EF4-FFF2-40B4-BE49-F238E27FC236}">
                <a16:creationId xmlns:a16="http://schemas.microsoft.com/office/drawing/2014/main" id="{CA26178F-0F96-467C-914F-FCC0CAD5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25" name="bar-2">
            <a:extLst xmlns:a="http://schemas.openxmlformats.org/drawingml/2006/main">
              <a:ext uri="{FF2B5EF4-FFF2-40B4-BE49-F238E27FC236}">
                <a16:creationId xmlns:a16="http://schemas.microsoft.com/office/drawing/2014/main" id="{E2B27E75-921D-44C5-B1A4-3063266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26" name="count-dot-2">
            <a:extLst xmlns:a="http://schemas.openxmlformats.org/drawingml/2006/main">
              <a:ext uri="{FF2B5EF4-FFF2-40B4-BE49-F238E27FC236}">
                <a16:creationId xmlns:a16="http://schemas.microsoft.com/office/drawing/2014/main" id="{7E954652-70E2-4FEC-A620-CB0A9CE0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count-2">
            <a:extLst xmlns:a="http://schemas.openxmlformats.org/drawingml/2006/main">
              <a:ext uri="{FF2B5EF4-FFF2-40B4-BE49-F238E27FC236}">
                <a16:creationId xmlns:a16="http://schemas.microsoft.com/office/drawing/2014/main" id="{106791A0-6A75-419A-AE80-944FC2B4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152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28" name="people-2">
            <a:extLst xmlns:a="http://schemas.openxmlformats.org/drawingml/2006/main">
              <a:ext uri="{FF2B5EF4-FFF2-40B4-BE49-F238E27FC236}">
                <a16:creationId xmlns:a16="http://schemas.microsoft.com/office/drawing/2014/main" id="{B01622AC-2AE1-47C8-8A79-73C10745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152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 graph</a:t>
            </a:r>
          </a:p>
        </p:txBody>
      </p:sp>
      <p:sp>
        <p:nvSpPr>
          <p:cNvPr id="29" name="row-rule-2">
            <a:extLst xmlns:a="http://schemas.openxmlformats.org/drawingml/2006/main">
              <a:ext uri="{FF2B5EF4-FFF2-40B4-BE49-F238E27FC236}">
                <a16:creationId xmlns:a16="http://schemas.microsoft.com/office/drawing/2014/main" id="{4E8FF3AB-B8CB-4975-8AB6-DCD53F2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0" name="tool-3">
            <a:extLst xmlns:a="http://schemas.openxmlformats.org/drawingml/2006/main">
              <a:ext uri="{FF2B5EF4-FFF2-40B4-BE49-F238E27FC236}">
                <a16:creationId xmlns:a16="http://schemas.microsoft.com/office/drawing/2014/main" id="{BC65CA02-B707-450A-A5E7-6B5779E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876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 hand-off</a:t>
            </a:r>
          </a:p>
        </p:txBody>
      </p:sp>
      <p:sp>
        <p:nvSpPr>
          <p:cNvPr id="31" name="kind-3">
            <a:extLst xmlns:a="http://schemas.openxmlformats.org/drawingml/2006/main">
              <a:ext uri="{FF2B5EF4-FFF2-40B4-BE49-F238E27FC236}">
                <a16:creationId xmlns:a16="http://schemas.microsoft.com/office/drawing/2014/main" id="{1EC84F41-F4ED-4A54-B6FA-9FF89D3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1720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Another session takes over</a:t>
            </a:r>
          </a:p>
        </p:txBody>
      </p:sp>
      <p:sp>
        <p:nvSpPr>
          <p:cNvPr id="32" name="track-3">
            <a:extLst xmlns:a="http://schemas.openxmlformats.org/drawingml/2006/main">
              <a:ext uri="{FF2B5EF4-FFF2-40B4-BE49-F238E27FC236}">
                <a16:creationId xmlns:a16="http://schemas.microsoft.com/office/drawing/2014/main" id="{73BCFEA3-3BAE-436F-A3FC-E69255CD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33" name="bar-3">
            <a:extLst xmlns:a="http://schemas.openxmlformats.org/drawingml/2006/main">
              <a:ext uri="{FF2B5EF4-FFF2-40B4-BE49-F238E27FC236}">
                <a16:creationId xmlns:a16="http://schemas.microsoft.com/office/drawing/2014/main" id="{3C56A538-B3AF-4E09-8239-8C17F211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34" name="count-dot-3">
            <a:extLst xmlns:a="http://schemas.openxmlformats.org/drawingml/2006/main">
              <a:ext uri="{FF2B5EF4-FFF2-40B4-BE49-F238E27FC236}">
                <a16:creationId xmlns:a16="http://schemas.microsoft.com/office/drawing/2014/main" id="{8352FBF2-11EE-4215-9D60-AD6C36BC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14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count-3">
            <a:extLst xmlns:a="http://schemas.openxmlformats.org/drawingml/2006/main">
              <a:ext uri="{FF2B5EF4-FFF2-40B4-BE49-F238E27FC236}">
                <a16:creationId xmlns:a16="http://schemas.microsoft.com/office/drawing/2014/main" id="{218C3602-AC28-45F8-97BD-436F70AE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972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36" name="people-3">
            <a:extLst xmlns:a="http://schemas.openxmlformats.org/drawingml/2006/main">
              <a:ext uri="{FF2B5EF4-FFF2-40B4-BE49-F238E27FC236}">
                <a16:creationId xmlns:a16="http://schemas.microsoft.com/office/drawing/2014/main" id="{D4AF6103-CCB9-4D8D-B811-B9AF963E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972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Memory</a:t>
            </a:r>
          </a:p>
        </p:txBody>
      </p:sp>
      <p:sp>
        <p:nvSpPr>
          <p:cNvPr id="37" name="row-rule-3">
            <a:extLst xmlns:a="http://schemas.openxmlformats.org/drawingml/2006/main">
              <a:ext uri="{FF2B5EF4-FFF2-40B4-BE49-F238E27FC236}">
                <a16:creationId xmlns:a16="http://schemas.microsoft.com/office/drawing/2014/main" id="{3BFF27DA-093F-444B-BD8B-2D539F74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8" name="note">
            <a:extLst xmlns:a="http://schemas.openxmlformats.org/drawingml/2006/main">
              <a:ext uri="{FF2B5EF4-FFF2-40B4-BE49-F238E27FC236}">
                <a16:creationId xmlns:a16="http://schemas.microsoft.com/office/drawing/2014/main" id="{9261BF10-8624-48C5-BE76-D2758B48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9055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IDs · status · ownership · dependencies · provenance · hand-off context</a:t>
            </a:r>
          </a:p>
        </p:txBody>
      </p:sp>
      <p:sp>
        <p:nvSpPr>
          <p:cNvPr id="39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9AE085A-0F0A-42C7-8FA9-4E895CE5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0" name="footer-2">
            <a:extLst xmlns:a="http://schemas.openxmlformats.org/drawingml/2006/main">
              <a:ext uri="{FF2B5EF4-FFF2-40B4-BE49-F238E27FC236}">
                <a16:creationId xmlns:a16="http://schemas.microsoft.com/office/drawing/2014/main" id="{7B3305BD-1A52-4FCA-A7A9-BEA5D41D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AI Engineering Fridays  ·  4</a:t>
            </a:r>
          </a:p>
        </p:txBody>
      </p:sp>
    </p:spTree>
    <p:extLst>
      <p:ext uri="{BB962C8B-B14F-4D97-AF65-F5344CB8AC3E}">
        <p14:creationId xmlns:p14="http://schemas.microsoft.com/office/powerpoint/2010/main" val="17613312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BEADS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Beads makes the work state explicit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5</a:t>
            </a:r>
          </a:p>
        </p:txBody>
      </p:sp>
      <p:sp>
        <p:nvSpPr>
          <p:cNvPr id="7" name="beads-step-1">
            <a:extLst xmlns:a="http://schemas.openxmlformats.org/drawingml/2006/main">
              <a:ext uri="{FF2B5EF4-FFF2-40B4-BE49-F238E27FC236}">
                <a16:creationId xmlns:a16="http://schemas.microsoft.com/office/drawing/2014/main" id="{1BC54ECD-8C3C-416D-9538-FD378ABD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prime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restore context</a:t>
            </a:r>
          </a:p>
        </p:txBody>
      </p:sp>
      <p:sp>
        <p:nvSpPr>
          <p:cNvPr id="8" name="beads-step-2">
            <a:extLst xmlns:a="http://schemas.openxmlformats.org/drawingml/2006/main">
              <a:ext uri="{FF2B5EF4-FFF2-40B4-BE49-F238E27FC236}">
                <a16:creationId xmlns:a16="http://schemas.microsoft.com/office/drawing/2014/main" id="{161EB8AB-7264-46DD-96A8-FA793341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ready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find work</a:t>
            </a:r>
          </a:p>
        </p:txBody>
      </p:sp>
      <p:sp>
        <p:nvSpPr>
          <p:cNvPr id="9" name="beads-step-3">
            <a:extLst xmlns:a="http://schemas.openxmlformats.org/drawingml/2006/main">
              <a:ext uri="{FF2B5EF4-FFF2-40B4-BE49-F238E27FC236}">
                <a16:creationId xmlns:a16="http://schemas.microsoft.com/office/drawing/2014/main" id="{61672731-4358-47B3-AE99-A61AB232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show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inspect</a:t>
            </a:r>
          </a:p>
        </p:txBody>
      </p:sp>
      <p:sp>
        <p:nvSpPr>
          <p:cNvPr id="10" name="beads-step-4">
            <a:extLst xmlns:a="http://schemas.openxmlformats.org/drawingml/2006/main">
              <a:ext uri="{FF2B5EF4-FFF2-40B4-BE49-F238E27FC236}">
                <a16:creationId xmlns:a16="http://schemas.microsoft.com/office/drawing/2014/main" id="{C5FF1062-3CE8-4C9E-9A72-91A4FCA1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update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claim + record</a:t>
            </a:r>
          </a:p>
        </p:txBody>
      </p:sp>
      <p:sp>
        <p:nvSpPr>
          <p:cNvPr id="11" name="beads-step-5">
            <a:extLst xmlns:a="http://schemas.openxmlformats.org/drawingml/2006/main">
              <a:ext uri="{FF2B5EF4-FFF2-40B4-BE49-F238E27FC236}">
                <a16:creationId xmlns:a16="http://schemas.microsoft.com/office/drawing/2014/main" id="{5B4770C5-0D7B-463D-A1C1-956C3BAB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close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hand off</a:t>
            </a:r>
          </a:p>
        </p:txBody>
      </p:sp>
      <p:sp>
        <p:nvSpPr>
          <p:cNvPr id="12" name="beads-arrow-1">
            <a:extLst xmlns:a="http://schemas.openxmlformats.org/drawingml/2006/main">
              <a:ext uri="{FF2B5EF4-FFF2-40B4-BE49-F238E27FC236}">
                <a16:creationId xmlns:a16="http://schemas.microsoft.com/office/drawing/2014/main" id="{2FC229A4-0FF6-4195-9310-A57A5F69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3" name="beads-arrow-2">
            <a:extLst xmlns:a="http://schemas.openxmlformats.org/drawingml/2006/main">
              <a:ext uri="{FF2B5EF4-FFF2-40B4-BE49-F238E27FC236}">
                <a16:creationId xmlns:a16="http://schemas.microsoft.com/office/drawing/2014/main" id="{F17866EC-D9DF-400B-8C41-DCC0B30C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4" name="beads-arrow-3">
            <a:extLst xmlns:a="http://schemas.openxmlformats.org/drawingml/2006/main">
              <a:ext uri="{FF2B5EF4-FFF2-40B4-BE49-F238E27FC236}">
                <a16:creationId xmlns:a16="http://schemas.microsoft.com/office/drawing/2014/main" id="{7B9FA2FD-CBA2-443D-8EF8-307A380E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5" name="beads-arrow-4">
            <a:extLst xmlns:a="http://schemas.openxmlformats.org/drawingml/2006/main">
              <a:ext uri="{FF2B5EF4-FFF2-40B4-BE49-F238E27FC236}">
                <a16:creationId xmlns:a16="http://schemas.microsoft.com/office/drawing/2014/main" id="{E384A66D-E410-4746-9090-95490367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6" name="beads-caption">
            <a:extLst xmlns:a="http://schemas.openxmlformats.org/drawingml/2006/main">
              <a:ext uri="{FF2B5EF4-FFF2-40B4-BE49-F238E27FC236}">
                <a16:creationId xmlns:a16="http://schemas.microsoft.com/office/drawing/2014/main" id="{60F3A728-640F-480E-BDF5-0EE1C31C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671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Discovered work becomes a linked bead—not a lost note</a:t>
            </a:r>
          </a:p>
        </p:txBody>
      </p:sp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">
            <a:extLst xmlns:a="http://schemas.openxmlformats.org/drawingml/2006/main">
              <a:ext uri="{FF2B5EF4-FFF2-40B4-BE49-F238E27FC236}">
                <a16:creationId xmlns:a16="http://schemas.microsoft.com/office/drawing/2014/main" id="{0DCF47BE-DFE5-4017-B1BE-FC92D56B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LIVE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B46A96-9C71-4467-85D7-8F5BBFD1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2390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 short beads loop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D55878A-C749-4345-BCB1-91648F12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811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 fresh session can recover context and leave the next one a clean hand-off.</a:t>
            </a:r>
          </a:p>
        </p:txBody>
      </p:sp>
      <p:sp>
        <p:nvSpPr>
          <p:cNvPr id="4" name="count-header">
            <a:extLst xmlns:a="http://schemas.openxmlformats.org/drawingml/2006/main">
              <a:ext uri="{FF2B5EF4-FFF2-40B4-BE49-F238E27FC236}">
                <a16:creationId xmlns:a16="http://schemas.microsoft.com/office/drawing/2014/main" id="{FB1C5206-9B1A-4E9E-9AED-FA3800CD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1914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COMMAND</a:t>
            </a:r>
          </a:p>
        </p:txBody>
      </p:sp>
      <p:sp>
        <p:nvSpPr>
          <p:cNvPr id="5" name="who-header">
            <a:extLst xmlns:a="http://schemas.openxmlformats.org/drawingml/2006/main">
              <a:ext uri="{FF2B5EF4-FFF2-40B4-BE49-F238E27FC236}">
                <a16:creationId xmlns:a16="http://schemas.microsoft.com/office/drawing/2014/main" id="{9C894F39-2EA2-406B-AD33-82F05836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19145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RESULT</a:t>
            </a:r>
          </a:p>
        </p:txBody>
      </p:sp>
      <p:sp>
        <p:nvSpPr>
          <p:cNvPr id="6" name="tool-0">
            <a:extLst xmlns:a="http://schemas.openxmlformats.org/drawingml/2006/main">
              <a:ext uri="{FF2B5EF4-FFF2-40B4-BE49-F238E27FC236}">
                <a16:creationId xmlns:a16="http://schemas.microsoft.com/office/drawing/2014/main" id="{2ED8A1F9-3653-4165-AE13-FC7191CB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419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prime</a:t>
            </a:r>
          </a:p>
        </p:txBody>
      </p:sp>
      <p:sp>
        <p:nvSpPr>
          <p:cNvPr id="7" name="kind-0">
            <a:extLst xmlns:a="http://schemas.openxmlformats.org/drawingml/2006/main">
              <a:ext uri="{FF2B5EF4-FFF2-40B4-BE49-F238E27FC236}">
                <a16:creationId xmlns:a16="http://schemas.microsoft.com/office/drawing/2014/main" id="{74FAFCA1-579A-4312-B6A5-CE5ADCE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7146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Load workflow + project memory</a:t>
            </a:r>
          </a:p>
        </p:txBody>
      </p:sp>
      <p:sp>
        <p:nvSpPr>
          <p:cNvPr id="8" name="track-0">
            <a:extLst xmlns:a="http://schemas.openxmlformats.org/drawingml/2006/main">
              <a:ext uri="{FF2B5EF4-FFF2-40B4-BE49-F238E27FC236}">
                <a16:creationId xmlns:a16="http://schemas.microsoft.com/office/drawing/2014/main" id="{6FFA0D4D-BBE2-4D62-BE26-51F574DD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9" name="bar-0">
            <a:extLst xmlns:a="http://schemas.openxmlformats.org/drawingml/2006/main">
              <a:ext uri="{FF2B5EF4-FFF2-40B4-BE49-F238E27FC236}">
                <a16:creationId xmlns:a16="http://schemas.microsoft.com/office/drawing/2014/main" id="{AE288DFF-C9F7-4099-B5FC-3C8368B0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0" name="count-dot-0">
            <a:extLst xmlns:a="http://schemas.openxmlformats.org/drawingml/2006/main">
              <a:ext uri="{FF2B5EF4-FFF2-40B4-BE49-F238E27FC236}">
                <a16:creationId xmlns:a16="http://schemas.microsoft.com/office/drawing/2014/main" id="{08C58B02-A3E4-42E7-92E9-40F7D421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count-0">
            <a:extLst xmlns:a="http://schemas.openxmlformats.org/drawingml/2006/main">
              <a:ext uri="{FF2B5EF4-FFF2-40B4-BE49-F238E27FC236}">
                <a16:creationId xmlns:a16="http://schemas.microsoft.com/office/drawing/2014/main" id="{2029673E-609F-40F5-8BF7-2CDD6AC3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51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1</a:t>
            </a:r>
          </a:p>
        </p:txBody>
      </p:sp>
      <p:sp>
        <p:nvSpPr>
          <p:cNvPr id="12" name="people-0">
            <a:extLst xmlns:a="http://schemas.openxmlformats.org/drawingml/2006/main">
              <a:ext uri="{FF2B5EF4-FFF2-40B4-BE49-F238E27FC236}">
                <a16:creationId xmlns:a16="http://schemas.microsoft.com/office/drawing/2014/main" id="{A05016CF-CBE1-434F-ADFB-7BB33998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514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Orient</a:t>
            </a:r>
          </a:p>
        </p:txBody>
      </p:sp>
      <p:sp>
        <p:nvSpPr>
          <p:cNvPr id="13" name="row-rule-0">
            <a:extLst xmlns:a="http://schemas.openxmlformats.org/drawingml/2006/main">
              <a:ext uri="{FF2B5EF4-FFF2-40B4-BE49-F238E27FC236}">
                <a16:creationId xmlns:a16="http://schemas.microsoft.com/office/drawing/2014/main" id="{FB249F42-162A-478A-A446-4702AA9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14" name="tool-1">
            <a:extLst xmlns:a="http://schemas.openxmlformats.org/drawingml/2006/main">
              <a:ext uri="{FF2B5EF4-FFF2-40B4-BE49-F238E27FC236}">
                <a16:creationId xmlns:a16="http://schemas.microsoft.com/office/drawing/2014/main" id="{8B85E11A-B72F-4CAB-AC64-8B9B099C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38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ready</a:t>
            </a:r>
          </a:p>
        </p:txBody>
      </p:sp>
      <p:sp>
        <p:nvSpPr>
          <p:cNvPr id="15" name="kind-1">
            <a:extLst xmlns:a="http://schemas.openxmlformats.org/drawingml/2006/main">
              <a:ext uri="{FF2B5EF4-FFF2-40B4-BE49-F238E27FC236}">
                <a16:creationId xmlns:a16="http://schemas.microsoft.com/office/drawing/2014/main" id="{B5718566-62F6-48F7-97DB-7E8BAA0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533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Find work with no open blockers</a:t>
            </a:r>
          </a:p>
        </p:txBody>
      </p:sp>
      <p:sp>
        <p:nvSpPr>
          <p:cNvPr id="16" name="track-1">
            <a:extLst xmlns:a="http://schemas.openxmlformats.org/drawingml/2006/main">
              <a:ext uri="{FF2B5EF4-FFF2-40B4-BE49-F238E27FC236}">
                <a16:creationId xmlns:a16="http://schemas.microsoft.com/office/drawing/2014/main" id="{696F6BE6-F61A-436D-9C87-FBC8A420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17" name="bar-1">
            <a:extLst xmlns:a="http://schemas.openxmlformats.org/drawingml/2006/main">
              <a:ext uri="{FF2B5EF4-FFF2-40B4-BE49-F238E27FC236}">
                <a16:creationId xmlns:a16="http://schemas.microsoft.com/office/drawing/2014/main" id="{9A875AD8-994E-44F6-BA8C-EF70865A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8" name="count-dot-1">
            <a:extLst xmlns:a="http://schemas.openxmlformats.org/drawingml/2006/main">
              <a:ext uri="{FF2B5EF4-FFF2-40B4-BE49-F238E27FC236}">
                <a16:creationId xmlns:a16="http://schemas.microsoft.com/office/drawing/2014/main" id="{044331BB-9ED9-4A0C-963A-E832A38B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count-1">
            <a:extLst xmlns:a="http://schemas.openxmlformats.org/drawingml/2006/main">
              <a:ext uri="{FF2B5EF4-FFF2-40B4-BE49-F238E27FC236}">
                <a16:creationId xmlns:a16="http://schemas.microsoft.com/office/drawing/2014/main" id="{EF00076C-A85F-408F-8917-ABD4FDC7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333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2</a:t>
            </a:r>
          </a:p>
        </p:txBody>
      </p:sp>
      <p:sp>
        <p:nvSpPr>
          <p:cNvPr id="20" name="people-1">
            <a:extLst xmlns:a="http://schemas.openxmlformats.org/drawingml/2006/main">
              <a:ext uri="{FF2B5EF4-FFF2-40B4-BE49-F238E27FC236}">
                <a16:creationId xmlns:a16="http://schemas.microsoft.com/office/drawing/2014/main" id="{1C0C1962-E4EB-42B5-A19F-2483BEA0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3333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Choose</a:t>
            </a:r>
          </a:p>
        </p:txBody>
      </p:sp>
      <p:sp>
        <p:nvSpPr>
          <p:cNvPr id="21" name="row-rule-1">
            <a:extLst xmlns:a="http://schemas.openxmlformats.org/drawingml/2006/main">
              <a:ext uri="{FF2B5EF4-FFF2-40B4-BE49-F238E27FC236}">
                <a16:creationId xmlns:a16="http://schemas.microsoft.com/office/drawing/2014/main" id="{ACAABAA6-126D-4CC2-8363-9819E981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22" name="tool-2">
            <a:extLst xmlns:a="http://schemas.openxmlformats.org/drawingml/2006/main">
              <a:ext uri="{FF2B5EF4-FFF2-40B4-BE49-F238E27FC236}">
                <a16:creationId xmlns:a16="http://schemas.microsoft.com/office/drawing/2014/main" id="{B8CE818F-8514-438A-BB73-A01C047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057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show &lt;id&gt;</a:t>
            </a:r>
          </a:p>
        </p:txBody>
      </p:sp>
      <p:sp>
        <p:nvSpPr>
          <p:cNvPr id="23" name="kind-2">
            <a:extLst xmlns:a="http://schemas.openxmlformats.org/drawingml/2006/main">
              <a:ext uri="{FF2B5EF4-FFF2-40B4-BE49-F238E27FC236}">
                <a16:creationId xmlns:a16="http://schemas.microsoft.com/office/drawing/2014/main" id="{C1268AA5-062E-428F-8B88-389EB789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3529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Inspect one bounded task</a:t>
            </a:r>
          </a:p>
        </p:txBody>
      </p:sp>
      <p:sp>
        <p:nvSpPr>
          <p:cNvPr id="24" name="track-2">
            <a:extLst xmlns:a="http://schemas.openxmlformats.org/drawingml/2006/main">
              <a:ext uri="{FF2B5EF4-FFF2-40B4-BE49-F238E27FC236}">
                <a16:creationId xmlns:a16="http://schemas.microsoft.com/office/drawing/2014/main" id="{CA26178F-0F96-467C-914F-FCC0CAD5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25" name="bar-2">
            <a:extLst xmlns:a="http://schemas.openxmlformats.org/drawingml/2006/main">
              <a:ext uri="{FF2B5EF4-FFF2-40B4-BE49-F238E27FC236}">
                <a16:creationId xmlns:a16="http://schemas.microsoft.com/office/drawing/2014/main" id="{E2B27E75-921D-44C5-B1A4-3063266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26" name="count-dot-2">
            <a:extLst xmlns:a="http://schemas.openxmlformats.org/drawingml/2006/main">
              <a:ext uri="{FF2B5EF4-FFF2-40B4-BE49-F238E27FC236}">
                <a16:creationId xmlns:a16="http://schemas.microsoft.com/office/drawing/2014/main" id="{7E954652-70E2-4FEC-A620-CB0A9CE0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count-2">
            <a:extLst xmlns:a="http://schemas.openxmlformats.org/drawingml/2006/main">
              <a:ext uri="{FF2B5EF4-FFF2-40B4-BE49-F238E27FC236}">
                <a16:creationId xmlns:a16="http://schemas.microsoft.com/office/drawing/2014/main" id="{106791A0-6A75-419A-AE80-944FC2B4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152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3</a:t>
            </a:r>
          </a:p>
        </p:txBody>
      </p:sp>
      <p:sp>
        <p:nvSpPr>
          <p:cNvPr id="28" name="people-2">
            <a:extLst xmlns:a="http://schemas.openxmlformats.org/drawingml/2006/main">
              <a:ext uri="{FF2B5EF4-FFF2-40B4-BE49-F238E27FC236}">
                <a16:creationId xmlns:a16="http://schemas.microsoft.com/office/drawing/2014/main" id="{B01622AC-2AE1-47C8-8A79-73C10745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152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Understand</a:t>
            </a:r>
          </a:p>
        </p:txBody>
      </p:sp>
      <p:sp>
        <p:nvSpPr>
          <p:cNvPr id="29" name="row-rule-2">
            <a:extLst xmlns:a="http://schemas.openxmlformats.org/drawingml/2006/main">
              <a:ext uri="{FF2B5EF4-FFF2-40B4-BE49-F238E27FC236}">
                <a16:creationId xmlns:a16="http://schemas.microsoft.com/office/drawing/2014/main" id="{4E8FF3AB-B8CB-4975-8AB6-DCD53F2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0" name="tool-3">
            <a:extLst xmlns:a="http://schemas.openxmlformats.org/drawingml/2006/main">
              <a:ext uri="{FF2B5EF4-FFF2-40B4-BE49-F238E27FC236}">
                <a16:creationId xmlns:a16="http://schemas.microsoft.com/office/drawing/2014/main" id="{BC65CA02-B707-450A-A5E7-6B5779E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876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update · create · close</a:t>
            </a:r>
          </a:p>
        </p:txBody>
      </p:sp>
      <p:sp>
        <p:nvSpPr>
          <p:cNvPr id="31" name="kind-3">
            <a:extLst xmlns:a="http://schemas.openxmlformats.org/drawingml/2006/main">
              <a:ext uri="{FF2B5EF4-FFF2-40B4-BE49-F238E27FC236}">
                <a16:creationId xmlns:a16="http://schemas.microsoft.com/office/drawing/2014/main" id="{1EC84F41-F4ED-4A54-B6FA-9FF89D3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1720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Act, record discoveries, hand off</a:t>
            </a:r>
          </a:p>
        </p:txBody>
      </p:sp>
      <p:sp>
        <p:nvSpPr>
          <p:cNvPr id="32" name="track-3">
            <a:extLst xmlns:a="http://schemas.openxmlformats.org/drawingml/2006/main">
              <a:ext uri="{FF2B5EF4-FFF2-40B4-BE49-F238E27FC236}">
                <a16:creationId xmlns:a16="http://schemas.microsoft.com/office/drawing/2014/main" id="{73BCFEA3-3BAE-436F-A3FC-E69255CD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33" name="bar-3">
            <a:extLst xmlns:a="http://schemas.openxmlformats.org/drawingml/2006/main">
              <a:ext uri="{FF2B5EF4-FFF2-40B4-BE49-F238E27FC236}">
                <a16:creationId xmlns:a16="http://schemas.microsoft.com/office/drawing/2014/main" id="{3C56A538-B3AF-4E09-8239-8C17F211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34" name="count-dot-3">
            <a:extLst xmlns:a="http://schemas.openxmlformats.org/drawingml/2006/main">
              <a:ext uri="{FF2B5EF4-FFF2-40B4-BE49-F238E27FC236}">
                <a16:creationId xmlns:a16="http://schemas.microsoft.com/office/drawing/2014/main" id="{8352FBF2-11EE-4215-9D60-AD6C36BC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14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count-3">
            <a:extLst xmlns:a="http://schemas.openxmlformats.org/drawingml/2006/main">
              <a:ext uri="{FF2B5EF4-FFF2-40B4-BE49-F238E27FC236}">
                <a16:creationId xmlns:a16="http://schemas.microsoft.com/office/drawing/2014/main" id="{218C3602-AC28-45F8-97BD-436F70AE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972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4</a:t>
            </a:r>
          </a:p>
        </p:txBody>
      </p:sp>
      <p:sp>
        <p:nvSpPr>
          <p:cNvPr id="36" name="people-3">
            <a:extLst xmlns:a="http://schemas.openxmlformats.org/drawingml/2006/main">
              <a:ext uri="{FF2B5EF4-FFF2-40B4-BE49-F238E27FC236}">
                <a16:creationId xmlns:a16="http://schemas.microsoft.com/office/drawing/2014/main" id="{D4AF6103-CCB9-4D8D-B811-B9AF963E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972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Continue</a:t>
            </a:r>
          </a:p>
        </p:txBody>
      </p:sp>
      <p:sp>
        <p:nvSpPr>
          <p:cNvPr id="37" name="row-rule-3">
            <a:extLst xmlns:a="http://schemas.openxmlformats.org/drawingml/2006/main">
              <a:ext uri="{FF2B5EF4-FFF2-40B4-BE49-F238E27FC236}">
                <a16:creationId xmlns:a16="http://schemas.microsoft.com/office/drawing/2014/main" id="{3BFF27DA-093F-444B-BD8B-2D539F74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8" name="note">
            <a:extLst xmlns:a="http://schemas.openxmlformats.org/drawingml/2006/main">
              <a:ext uri="{FF2B5EF4-FFF2-40B4-BE49-F238E27FC236}">
                <a16:creationId xmlns:a16="http://schemas.microsoft.com/office/drawing/2014/main" id="{9261BF10-8624-48C5-BE76-D2758B48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9055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The task graph survives even when the conversation does not.</a:t>
            </a:r>
          </a:p>
        </p:txBody>
      </p:sp>
      <p:sp>
        <p:nvSpPr>
          <p:cNvPr id="39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9AE085A-0F0A-42C7-8FA9-4E895CE5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0" name="footer-2">
            <a:extLst xmlns:a="http://schemas.openxmlformats.org/drawingml/2006/main">
              <a:ext uri="{FF2B5EF4-FFF2-40B4-BE49-F238E27FC236}">
                <a16:creationId xmlns:a16="http://schemas.microsoft.com/office/drawing/2014/main" id="{7B3305BD-1A52-4FCA-A7A9-BEA5D41D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AI Engineering Fridays  ·  6</a:t>
            </a:r>
          </a:p>
        </p:txBody>
      </p:sp>
    </p:spTree>
    <p:extLst>
      <p:ext uri="{BB962C8B-B14F-4D97-AF65-F5344CB8AC3E}">
        <p14:creationId xmlns:p14="http://schemas.microsoft.com/office/powerpoint/2010/main" val="17613312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BEADS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Beads Map makes the hand-off visible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d42de92f94ddb"/>
          <a:stretch xmlns:a="http://schemas.openxmlformats.org/drawingml/2006/main"/>
        </p:blipFill>
        <p:spPr>
          <a:xfrm xmlns:a="http://schemas.openxmlformats.org/drawingml/2006/main">
            <a:off x="1905000" y="1381125"/>
            <a:ext cx="8382000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PROOF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49 completed beads in seven days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35d538abd4e43"/>
          <a:stretch xmlns:a="http://schemas.openxmlformats.org/drawingml/2006/main"/>
        </p:blipFill>
        <p:spPr>
          <a:xfrm xmlns:a="http://schemas.openxmlformats.org/drawingml/2006/main">
            <a:off x="1905000" y="1381125"/>
            <a:ext cx="8382000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">
            <a:extLst xmlns:a="http://schemas.openxmlformats.org/drawingml/2006/main">
              <a:ext uri="{FF2B5EF4-FFF2-40B4-BE49-F238E27FC236}">
                <a16:creationId xmlns:a16="http://schemas.microsoft.com/office/drawing/2014/main" id="{0DCF47BE-DFE5-4017-B1BE-FC92D56B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YOUR TURN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B46A96-9C71-4467-85D7-8F5BBFD1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2390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Try it—and let me know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D55878A-C749-4345-BCB1-91648F12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811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Start with one real task that will still matter tomorrow.</a:t>
            </a:r>
          </a:p>
        </p:txBody>
      </p:sp>
      <p:sp>
        <p:nvSpPr>
          <p:cNvPr id="4" name="count-header">
            <a:extLst xmlns:a="http://schemas.openxmlformats.org/drawingml/2006/main">
              <a:ext uri="{FF2B5EF4-FFF2-40B4-BE49-F238E27FC236}">
                <a16:creationId xmlns:a16="http://schemas.microsoft.com/office/drawing/2014/main" id="{FB1C5206-9B1A-4E9E-9AED-FA3800CD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1914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FIRST EXPERIMENT</a:t>
            </a:r>
          </a:p>
        </p:txBody>
      </p:sp>
      <p:sp>
        <p:nvSpPr>
          <p:cNvPr id="5" name="who-header">
            <a:extLst xmlns:a="http://schemas.openxmlformats.org/drawingml/2006/main">
              <a:ext uri="{FF2B5EF4-FFF2-40B4-BE49-F238E27FC236}">
                <a16:creationId xmlns:a16="http://schemas.microsoft.com/office/drawing/2014/main" id="{9C894F39-2EA2-406B-AD33-82F05836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19145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OUTCOME</a:t>
            </a:r>
          </a:p>
        </p:txBody>
      </p:sp>
      <p:sp>
        <p:nvSpPr>
          <p:cNvPr id="6" name="tool-0">
            <a:extLst xmlns:a="http://schemas.openxmlformats.org/drawingml/2006/main">
              <a:ext uri="{FF2B5EF4-FFF2-40B4-BE49-F238E27FC236}">
                <a16:creationId xmlns:a16="http://schemas.microsoft.com/office/drawing/2014/main" id="{2ED8A1F9-3653-4165-AE13-FC7191CB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419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Install</a:t>
            </a:r>
          </a:p>
        </p:txBody>
      </p:sp>
      <p:sp>
        <p:nvSpPr>
          <p:cNvPr id="7" name="kind-0">
            <a:extLst xmlns:a="http://schemas.openxmlformats.org/drawingml/2006/main">
              <a:ext uri="{FF2B5EF4-FFF2-40B4-BE49-F238E27FC236}">
                <a16:creationId xmlns:a16="http://schemas.microsoft.com/office/drawing/2014/main" id="{74FAFCA1-579A-4312-B6A5-CE5ADCE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7146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brew install beads</a:t>
            </a:r>
          </a:p>
        </p:txBody>
      </p:sp>
      <p:sp>
        <p:nvSpPr>
          <p:cNvPr id="8" name="track-0">
            <a:extLst xmlns:a="http://schemas.openxmlformats.org/drawingml/2006/main">
              <a:ext uri="{FF2B5EF4-FFF2-40B4-BE49-F238E27FC236}">
                <a16:creationId xmlns:a16="http://schemas.microsoft.com/office/drawing/2014/main" id="{6FFA0D4D-BBE2-4D62-BE26-51F574DD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9" name="bar-0">
            <a:extLst xmlns:a="http://schemas.openxmlformats.org/drawingml/2006/main">
              <a:ext uri="{FF2B5EF4-FFF2-40B4-BE49-F238E27FC236}">
                <a16:creationId xmlns:a16="http://schemas.microsoft.com/office/drawing/2014/main" id="{AE288DFF-C9F7-4099-B5FC-3C8368B0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0" name="count-dot-0">
            <a:extLst xmlns:a="http://schemas.openxmlformats.org/drawingml/2006/main">
              <a:ext uri="{FF2B5EF4-FFF2-40B4-BE49-F238E27FC236}">
                <a16:creationId xmlns:a16="http://schemas.microsoft.com/office/drawing/2014/main" id="{08C58B02-A3E4-42E7-92E9-40F7D421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count-0">
            <a:extLst xmlns:a="http://schemas.openxmlformats.org/drawingml/2006/main">
              <a:ext uri="{FF2B5EF4-FFF2-40B4-BE49-F238E27FC236}">
                <a16:creationId xmlns:a16="http://schemas.microsoft.com/office/drawing/2014/main" id="{2029673E-609F-40F5-8BF7-2CDD6AC3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51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1</a:t>
            </a:r>
          </a:p>
        </p:txBody>
      </p:sp>
      <p:sp>
        <p:nvSpPr>
          <p:cNvPr id="12" name="people-0">
            <a:extLst xmlns:a="http://schemas.openxmlformats.org/drawingml/2006/main">
              <a:ext uri="{FF2B5EF4-FFF2-40B4-BE49-F238E27FC236}">
                <a16:creationId xmlns:a16="http://schemas.microsoft.com/office/drawing/2014/main" id="{A05016CF-CBE1-434F-ADFB-7BB33998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514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Once</a:t>
            </a:r>
          </a:p>
        </p:txBody>
      </p:sp>
      <p:sp>
        <p:nvSpPr>
          <p:cNvPr id="13" name="row-rule-0">
            <a:extLst xmlns:a="http://schemas.openxmlformats.org/drawingml/2006/main">
              <a:ext uri="{FF2B5EF4-FFF2-40B4-BE49-F238E27FC236}">
                <a16:creationId xmlns:a16="http://schemas.microsoft.com/office/drawing/2014/main" id="{FB249F42-162A-478A-A446-4702AA9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14" name="tool-1">
            <a:extLst xmlns:a="http://schemas.openxmlformats.org/drawingml/2006/main">
              <a:ext uri="{FF2B5EF4-FFF2-40B4-BE49-F238E27FC236}">
                <a16:creationId xmlns:a16="http://schemas.microsoft.com/office/drawing/2014/main" id="{8B85E11A-B72F-4CAB-AC64-8B9B099C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38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Initialize</a:t>
            </a:r>
          </a:p>
        </p:txBody>
      </p:sp>
      <p:sp>
        <p:nvSpPr>
          <p:cNvPr id="15" name="kind-1">
            <a:extLst xmlns:a="http://schemas.openxmlformats.org/drawingml/2006/main">
              <a:ext uri="{FF2B5EF4-FFF2-40B4-BE49-F238E27FC236}">
                <a16:creationId xmlns:a16="http://schemas.microsoft.com/office/drawing/2014/main" id="{B5718566-62F6-48F7-97DB-7E8BAA0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533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bd init inside one repository</a:t>
            </a:r>
          </a:p>
        </p:txBody>
      </p:sp>
      <p:sp>
        <p:nvSpPr>
          <p:cNvPr id="16" name="track-1">
            <a:extLst xmlns:a="http://schemas.openxmlformats.org/drawingml/2006/main">
              <a:ext uri="{FF2B5EF4-FFF2-40B4-BE49-F238E27FC236}">
                <a16:creationId xmlns:a16="http://schemas.microsoft.com/office/drawing/2014/main" id="{696F6BE6-F61A-436D-9C87-FBC8A420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17" name="bar-1">
            <a:extLst xmlns:a="http://schemas.openxmlformats.org/drawingml/2006/main">
              <a:ext uri="{FF2B5EF4-FFF2-40B4-BE49-F238E27FC236}">
                <a16:creationId xmlns:a16="http://schemas.microsoft.com/office/drawing/2014/main" id="{9A875AD8-994E-44F6-BA8C-EF70865A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8" name="count-dot-1">
            <a:extLst xmlns:a="http://schemas.openxmlformats.org/drawingml/2006/main">
              <a:ext uri="{FF2B5EF4-FFF2-40B4-BE49-F238E27FC236}">
                <a16:creationId xmlns:a16="http://schemas.microsoft.com/office/drawing/2014/main" id="{044331BB-9ED9-4A0C-963A-E832A38B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count-1">
            <a:extLst xmlns:a="http://schemas.openxmlformats.org/drawingml/2006/main">
              <a:ext uri="{FF2B5EF4-FFF2-40B4-BE49-F238E27FC236}">
                <a16:creationId xmlns:a16="http://schemas.microsoft.com/office/drawing/2014/main" id="{EF00076C-A85F-408F-8917-ABD4FDC7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333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2</a:t>
            </a:r>
          </a:p>
        </p:txBody>
      </p:sp>
      <p:sp>
        <p:nvSpPr>
          <p:cNvPr id="20" name="people-1">
            <a:extLst xmlns:a="http://schemas.openxmlformats.org/drawingml/2006/main">
              <a:ext uri="{FF2B5EF4-FFF2-40B4-BE49-F238E27FC236}">
                <a16:creationId xmlns:a16="http://schemas.microsoft.com/office/drawing/2014/main" id="{1C0C1962-E4EB-42B5-A19F-2483BEA0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3333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Scope</a:t>
            </a:r>
          </a:p>
        </p:txBody>
      </p:sp>
      <p:sp>
        <p:nvSpPr>
          <p:cNvPr id="21" name="row-rule-1">
            <a:extLst xmlns:a="http://schemas.openxmlformats.org/drawingml/2006/main">
              <a:ext uri="{FF2B5EF4-FFF2-40B4-BE49-F238E27FC236}">
                <a16:creationId xmlns:a16="http://schemas.microsoft.com/office/drawing/2014/main" id="{ACAABAA6-126D-4CC2-8363-9819E981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22" name="tool-2">
            <a:extLst xmlns:a="http://schemas.openxmlformats.org/drawingml/2006/main">
              <a:ext uri="{FF2B5EF4-FFF2-40B4-BE49-F238E27FC236}">
                <a16:creationId xmlns:a16="http://schemas.microsoft.com/office/drawing/2014/main" id="{B8CE818F-8514-438A-BB73-A01C047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057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Resume</a:t>
            </a:r>
          </a:p>
        </p:txBody>
      </p:sp>
      <p:sp>
        <p:nvSpPr>
          <p:cNvPr id="23" name="kind-2">
            <a:extLst xmlns:a="http://schemas.openxmlformats.org/drawingml/2006/main">
              <a:ext uri="{FF2B5EF4-FFF2-40B4-BE49-F238E27FC236}">
                <a16:creationId xmlns:a16="http://schemas.microsoft.com/office/drawing/2014/main" id="{C1268AA5-062E-428F-8B88-389EB789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3529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bd prime in a fresh session</a:t>
            </a:r>
          </a:p>
        </p:txBody>
      </p:sp>
      <p:sp>
        <p:nvSpPr>
          <p:cNvPr id="24" name="track-2">
            <a:extLst xmlns:a="http://schemas.openxmlformats.org/drawingml/2006/main">
              <a:ext uri="{FF2B5EF4-FFF2-40B4-BE49-F238E27FC236}">
                <a16:creationId xmlns:a16="http://schemas.microsoft.com/office/drawing/2014/main" id="{CA26178F-0F96-467C-914F-FCC0CAD5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25" name="bar-2">
            <a:extLst xmlns:a="http://schemas.openxmlformats.org/drawingml/2006/main">
              <a:ext uri="{FF2B5EF4-FFF2-40B4-BE49-F238E27FC236}">
                <a16:creationId xmlns:a16="http://schemas.microsoft.com/office/drawing/2014/main" id="{E2B27E75-921D-44C5-B1A4-3063266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26" name="count-dot-2">
            <a:extLst xmlns:a="http://schemas.openxmlformats.org/drawingml/2006/main">
              <a:ext uri="{FF2B5EF4-FFF2-40B4-BE49-F238E27FC236}">
                <a16:creationId xmlns:a16="http://schemas.microsoft.com/office/drawing/2014/main" id="{7E954652-70E2-4FEC-A620-CB0A9CE0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count-2">
            <a:extLst xmlns:a="http://schemas.openxmlformats.org/drawingml/2006/main">
              <a:ext uri="{FF2B5EF4-FFF2-40B4-BE49-F238E27FC236}">
                <a16:creationId xmlns:a16="http://schemas.microsoft.com/office/drawing/2014/main" id="{106791A0-6A75-419A-AE80-944FC2B4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152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3</a:t>
            </a:r>
          </a:p>
        </p:txBody>
      </p:sp>
      <p:sp>
        <p:nvSpPr>
          <p:cNvPr id="28" name="people-2">
            <a:extLst xmlns:a="http://schemas.openxmlformats.org/drawingml/2006/main">
              <a:ext uri="{FF2B5EF4-FFF2-40B4-BE49-F238E27FC236}">
                <a16:creationId xmlns:a16="http://schemas.microsoft.com/office/drawing/2014/main" id="{B01622AC-2AE1-47C8-8A79-73C10745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152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Context</a:t>
            </a:r>
          </a:p>
        </p:txBody>
      </p:sp>
      <p:sp>
        <p:nvSpPr>
          <p:cNvPr id="29" name="row-rule-2">
            <a:extLst xmlns:a="http://schemas.openxmlformats.org/drawingml/2006/main">
              <a:ext uri="{FF2B5EF4-FFF2-40B4-BE49-F238E27FC236}">
                <a16:creationId xmlns:a16="http://schemas.microsoft.com/office/drawing/2014/main" id="{4E8FF3AB-B8CB-4975-8AB6-DCD53F2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0" name="tool-3">
            <a:extLst xmlns:a="http://schemas.openxmlformats.org/drawingml/2006/main">
              <a:ext uri="{FF2B5EF4-FFF2-40B4-BE49-F238E27FC236}">
                <a16:creationId xmlns:a16="http://schemas.microsoft.com/office/drawing/2014/main" id="{BC65CA02-B707-450A-A5E7-6B5779E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876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Tell me</a:t>
            </a:r>
          </a:p>
        </p:txBody>
      </p:sp>
      <p:sp>
        <p:nvSpPr>
          <p:cNvPr id="31" name="kind-3">
            <a:extLst xmlns:a="http://schemas.openxmlformats.org/drawingml/2006/main">
              <a:ext uri="{FF2B5EF4-FFF2-40B4-BE49-F238E27FC236}">
                <a16:creationId xmlns:a16="http://schemas.microsoft.com/office/drawing/2014/main" id="{1EC84F41-F4ED-4A54-B6FA-9FF89D3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1720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What worked? What got in the way?</a:t>
            </a:r>
          </a:p>
        </p:txBody>
      </p:sp>
      <p:sp>
        <p:nvSpPr>
          <p:cNvPr id="32" name="track-3">
            <a:extLst xmlns:a="http://schemas.openxmlformats.org/drawingml/2006/main">
              <a:ext uri="{FF2B5EF4-FFF2-40B4-BE49-F238E27FC236}">
                <a16:creationId xmlns:a16="http://schemas.microsoft.com/office/drawing/2014/main" id="{73BCFEA3-3BAE-436F-A3FC-E69255CD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33" name="bar-3">
            <a:extLst xmlns:a="http://schemas.openxmlformats.org/drawingml/2006/main">
              <a:ext uri="{FF2B5EF4-FFF2-40B4-BE49-F238E27FC236}">
                <a16:creationId xmlns:a16="http://schemas.microsoft.com/office/drawing/2014/main" id="{3C56A538-B3AF-4E09-8239-8C17F211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34" name="count-dot-3">
            <a:extLst xmlns:a="http://schemas.openxmlformats.org/drawingml/2006/main">
              <a:ext uri="{FF2B5EF4-FFF2-40B4-BE49-F238E27FC236}">
                <a16:creationId xmlns:a16="http://schemas.microsoft.com/office/drawing/2014/main" id="{8352FBF2-11EE-4215-9D60-AD6C36BC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14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count-3">
            <a:extLst xmlns:a="http://schemas.openxmlformats.org/drawingml/2006/main">
              <a:ext uri="{FF2B5EF4-FFF2-40B4-BE49-F238E27FC236}">
                <a16:creationId xmlns:a16="http://schemas.microsoft.com/office/drawing/2014/main" id="{218C3602-AC28-45F8-97BD-436F70AE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972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↗</a:t>
            </a:r>
          </a:p>
        </p:txBody>
      </p:sp>
      <p:sp>
        <p:nvSpPr>
          <p:cNvPr id="36" name="people-3">
            <a:extLst xmlns:a="http://schemas.openxmlformats.org/drawingml/2006/main">
              <a:ext uri="{FF2B5EF4-FFF2-40B4-BE49-F238E27FC236}">
                <a16:creationId xmlns:a16="http://schemas.microsoft.com/office/drawing/2014/main" id="{D4AF6103-CCB9-4D8D-B811-B9AF963E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972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Feedback</a:t>
            </a:r>
          </a:p>
        </p:txBody>
      </p:sp>
      <p:sp>
        <p:nvSpPr>
          <p:cNvPr id="37" name="row-rule-3">
            <a:extLst xmlns:a="http://schemas.openxmlformats.org/drawingml/2006/main">
              <a:ext uri="{FF2B5EF4-FFF2-40B4-BE49-F238E27FC236}">
                <a16:creationId xmlns:a16="http://schemas.microsoft.com/office/drawing/2014/main" id="{3BFF27DA-093F-444B-BD8B-2D539F74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8" name="note">
            <a:extLst xmlns:a="http://schemas.openxmlformats.org/drawingml/2006/main">
              <a:ext uri="{FF2B5EF4-FFF2-40B4-BE49-F238E27FC236}">
                <a16:creationId xmlns:a16="http://schemas.microsoft.com/office/drawing/2014/main" id="{9261BF10-8624-48C5-BE76-D2758B48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9055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Use beads where the work—not merely the chat—needs continuity.</a:t>
            </a:r>
          </a:p>
        </p:txBody>
      </p:sp>
      <p:sp>
        <p:nvSpPr>
          <p:cNvPr id="39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9AE085A-0F0A-42C7-8FA9-4E895CE5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0" name="footer-2">
            <a:extLst xmlns:a="http://schemas.openxmlformats.org/drawingml/2006/main">
              <a:ext uri="{FF2B5EF4-FFF2-40B4-BE49-F238E27FC236}">
                <a16:creationId xmlns:a16="http://schemas.microsoft.com/office/drawing/2014/main" id="{7B3305BD-1A52-4FCA-A7A9-BEA5D41D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AI Engineering Fridays  ·  9</a:t>
            </a:r>
          </a:p>
        </p:txBody>
      </p:sp>
    </p:spTree>
    <p:extLst>
      <p:ext uri="{BB962C8B-B14F-4D97-AF65-F5344CB8AC3E}">
        <p14:creationId xmlns:p14="http://schemas.microsoft.com/office/powerpoint/2010/main" val="17613312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2026-09-03T08:02:06.8430000Z</dcterms:created>
  <dcterms:modified xsi:type="dcterms:W3CDTF">2026-09-03T08:02:06.8430000Z</dcterms:modified>
</coreProperties>
</file>