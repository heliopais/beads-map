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4b4c47f26f4759" /><Relationship Type="http://schemas.openxmlformats.org/officeDocument/2006/relationships/extended-properties" Target="/docProps/app.xml" Id="Rfdf88ac1a7004925" /><Relationship Type="http://schemas.openxmlformats.org/officeDocument/2006/relationships/officeDocument" Target="/ppt/presentation.xml" Id="Rd9c2e894ce024b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e1b314757c46b7"/>
  </p:sldMasterIdLst>
  <p:notesMasterIdLst>
    <p:notesMasterId xmlns:r="http://schemas.openxmlformats.org/officeDocument/2006/relationships" r:id="Rce7e4cb5c6a64d26"/>
  </p:notesMasterIdLst>
  <p:sldIdLst>
    <p:sldId xmlns:r="http://schemas.openxmlformats.org/officeDocument/2006/relationships" id="256" r:id="R3050285d735947be"/>
    <p:sldId xmlns:r="http://schemas.openxmlformats.org/officeDocument/2006/relationships" id="257" r:id="R27ee9a1fcd0d444c"/>
    <p:sldId xmlns:r="http://schemas.openxmlformats.org/officeDocument/2006/relationships" id="258" r:id="R4767a3c0a1a741df"/>
    <p:sldId xmlns:r="http://schemas.openxmlformats.org/officeDocument/2006/relationships" id="259" r:id="Rf56342b4e1ec4cfd"/>
    <p:sldId xmlns:r="http://schemas.openxmlformats.org/officeDocument/2006/relationships" id="260" r:id="R5430f13c6e314c1c"/>
    <p:sldId xmlns:r="http://schemas.openxmlformats.org/officeDocument/2006/relationships" id="261" r:id="Rb63fa4dabbf44481"/>
    <p:sldId xmlns:r="http://schemas.openxmlformats.org/officeDocument/2006/relationships" id="262" r:id="Re4b75adb25134eac"/>
    <p:sldId xmlns:r="http://schemas.openxmlformats.org/officeDocument/2006/relationships" id="263" r:id="R9750a7d8ec7b4b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acf4fdf7a54408" /><Relationship Type="http://schemas.openxmlformats.org/officeDocument/2006/relationships/slideMaster" Target="/ppt/slideMasters/slideMaster1.xml" Id="R4de1b314757c46b7" /><Relationship Type="http://schemas.openxmlformats.org/officeDocument/2006/relationships/notesMaster" Target="/ppt/notesMasters/notesMaster1.xml" Id="Rce7e4cb5c6a64d26" /><Relationship Type="http://schemas.openxmlformats.org/officeDocument/2006/relationships/presProps" Target="/ppt/presProps.xml" Id="R40917b6b6f994f57" /><Relationship Type="http://schemas.openxmlformats.org/officeDocument/2006/relationships/tableStyles" Target="/ppt/tableStyles.xml" Id="R74b0277df81f4d0b" /><Relationship Type="http://schemas.openxmlformats.org/officeDocument/2006/relationships/slide" Target="/ppt/slides/slide1.xml" Id="R3050285d735947be" /><Relationship Type="http://schemas.openxmlformats.org/officeDocument/2006/relationships/slide" Target="/ppt/slides/slide2.xml" Id="R27ee9a1fcd0d444c" /><Relationship Type="http://schemas.openxmlformats.org/officeDocument/2006/relationships/slide" Target="/ppt/slides/slide3.xml" Id="R4767a3c0a1a741df" /><Relationship Type="http://schemas.openxmlformats.org/officeDocument/2006/relationships/slide" Target="/ppt/slides/slide4.xml" Id="Rf56342b4e1ec4cfd" /><Relationship Type="http://schemas.openxmlformats.org/officeDocument/2006/relationships/slide" Target="/ppt/slides/slide5.xml" Id="R5430f13c6e314c1c" /><Relationship Type="http://schemas.openxmlformats.org/officeDocument/2006/relationships/slide" Target="/ppt/slides/slide6.xml" Id="Rb63fa4dabbf44481" /><Relationship Type="http://schemas.openxmlformats.org/officeDocument/2006/relationships/slide" Target="/ppt/slides/slide7.xml" Id="Re4b75adb25134eac" /><Relationship Type="http://schemas.openxmlformats.org/officeDocument/2006/relationships/slide" Target="/ppt/slides/slide8.xml" Id="R9750a7d8ec7b4b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b443f4d7834e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ede451963f4e16" /><Relationship Type="http://schemas.openxmlformats.org/officeDocument/2006/relationships/notesMaster" Target="/ppt/notesMasters/notesMaster1.xml" Id="R73e155f8bbd941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227f5b9a84cf9" /><Relationship Type="http://schemas.openxmlformats.org/officeDocument/2006/relationships/notesMaster" Target="/ppt/notesMasters/notesMaster1.xml" Id="Rbd1ad5e384f640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46d951cec84b16" /><Relationship Type="http://schemas.openxmlformats.org/officeDocument/2006/relationships/notesMaster" Target="/ppt/notesMasters/notesMaster1.xml" Id="Rdffaeec2dff141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09adef30334df6" /><Relationship Type="http://schemas.openxmlformats.org/officeDocument/2006/relationships/notesMaster" Target="/ppt/notesMasters/notesMaster1.xml" Id="R7df182d2583246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60bdb5693b4d02" /><Relationship Type="http://schemas.openxmlformats.org/officeDocument/2006/relationships/notesMaster" Target="/ppt/notesMasters/notesMaster1.xml" Id="R6c4d6cd197bd49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c84c8bae96463c" /><Relationship Type="http://schemas.openxmlformats.org/officeDocument/2006/relationships/notesMaster" Target="/ppt/notesMasters/notesMaster1.xml" Id="R1402222360d844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be04f3366448a6" /><Relationship Type="http://schemas.openxmlformats.org/officeDocument/2006/relationships/notesMaster" Target="/ppt/notesMasters/notesMaster1.xml" Id="R0222c667634b45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c9a7d412ef4ca5" /><Relationship Type="http://schemas.openxmlformats.org/officeDocument/2006/relationships/notesMaster" Target="/ppt/notesMasters/notesMaster1.xml" Id="R67591b5c93a348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screenshot: this is a project task graph, and the visualizer itself was built using that graph. Do not explain the controls yet. Frame the question: what happens when an AI coding plan must survive beyond one session?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 captured from beads-map on 2026-09-02: presentation/assets/beads-map-overview.png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from the audience’s normal experience. In Plan Mode Claude reads and explores without editing source files, presents a plan, and begins editing after approval in the selected permission mode. Say plainly that this workflow is useful and is not the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https://code.claude.com/docs/en/permission-modes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the complexity emerge through questions: What is done? What is next? Where does the bug belong? What is blocked? How does a fresh session know why? Acknowledge that Markdown can encode all of this. The point is that we are progressively designing task-management conventions inside the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beads only now. It is a persistent, dependency-aware task graph designed for AI-supervised coding workflows. The agent can restore project context, find unblocked work, inspect one bounded unit, claim it, record discovered work with provenance, and leave a durable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https://github.com/gastownhall/beads/blob/main/docs/getting-started/ide-setup.md</a:t>
            </a:r>
          </a:p>
          <a:p xmlns:a="http://schemas.openxmlformats.org/drawingml/2006/main">
            <a:r>
              <a:t>- https://github.com/gastownhall/beads/blob/main/docs/multi-agent/coordination.md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the terminal. Run the prepared demo from presentation/demo-runbook.md. Keep this to roughly three minutes. If the live agent response stalls, use the deterministic CLI path and continue; the audience still sees the same persisted context and task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Local demo runbook: presentation/demo-runbook.md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presentation task selected with its children, state, description, acceptance criteria, design, and notes. The opening slide already established the repository-level view; here, zoom into one durable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 captured from beads-map on 2026-09-02: presentation/assets/beads-map-presentation-work.png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benchmark or a causal productivity claim. It is a traceable project history: 49 beads were closed between 25 and 31 August 2026, spanning product decisions, implementation, bugs, packaging, and release hardening. The visualizer shown here was built through the system it visualizes.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bd stats and closed-issue records inspected 2026-09-02</a:t>
            </a:r>
          </a:p>
          <a:p xmlns:a="http://schemas.openxmlformats.org/drawingml/2006/main">
            <a:r>
              <a:t>- Local screenshot captured from beads-map on 2026-09-02: presentation/assets/beads-map-release-hardening.png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without overselling. Ask people to try beads on one genuine multi-session task and tell you where it helps or adds friction. Leave the final slide visible for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b15ce126845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37d8d133554513" /><Relationship Type="http://schemas.openxmlformats.org/officeDocument/2006/relationships/slideLayout" Target="/ppt/slideLayouts/slideLayout1.xml" Id="Rf13aceef1f364e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3aceef1f364e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532e516e34746" /><Relationship Type="http://schemas.openxmlformats.org/officeDocument/2006/relationships/image" Target="/ppt/media/image.jpeg" Id="R32b9d10459fa4ca9" /><Relationship Type="http://schemas.openxmlformats.org/officeDocument/2006/relationships/notesSlide" Target="/ppt/notesSlides/notesSlide1.xml" Id="Ref14f9b8107644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56a2ef6774ded" /><Relationship Type="http://schemas.openxmlformats.org/officeDocument/2006/relationships/notesSlide" Target="/ppt/notesSlides/notesSlide2.xml" Id="Rcc638606b82a47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9dd6a985449bf" /><Relationship Type="http://schemas.openxmlformats.org/officeDocument/2006/relationships/notesSlide" Target="/ppt/notesSlides/notesSlide3.xml" Id="R54922aa693f74b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dde41b734457b" /><Relationship Type="http://schemas.openxmlformats.org/officeDocument/2006/relationships/notesSlide" Target="/ppt/notesSlides/notesSlide4.xml" Id="Ra848a4dc8ce747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99013ba3c41cb" /><Relationship Type="http://schemas.openxmlformats.org/officeDocument/2006/relationships/notesSlide" Target="/ppt/notesSlides/notesSlide5.xml" Id="R5ba1679b83fc42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dadc0a62b4898" /><Relationship Type="http://schemas.openxmlformats.org/officeDocument/2006/relationships/image" Target="/ppt/media/image2.jpeg" Id="R019f8be0fe304e37" /><Relationship Type="http://schemas.openxmlformats.org/officeDocument/2006/relationships/notesSlide" Target="/ppt/notesSlides/notesSlide6.xml" Id="R084b91f596cd40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2a6284ff04f9a" /><Relationship Type="http://schemas.openxmlformats.org/officeDocument/2006/relationships/image" Target="/ppt/media/image3.jpeg" Id="Raa94cae0bae94e20" /><Relationship Type="http://schemas.openxmlformats.org/officeDocument/2006/relationships/notesSlide" Target="/ppt/notesSlides/notesSlide7.xml" Id="Rd902596e88654f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796b8d8194654" /><Relationship Type="http://schemas.openxmlformats.org/officeDocument/2006/relationships/notesSlide" Target="/ppt/notesSlides/notesSlide8.xml" Id="R714284a43f4845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BEADS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When the plan outlives the session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9d10459fa4ca9"/>
          <a:stretch xmlns:a="http://schemas.openxmlformats.org/drawingml/2006/main"/>
        </p:blipFill>
        <p:spPr>
          <a:xfrm xmlns:a="http://schemas.openxmlformats.org/drawingml/2006/main">
            <a:off x="1845250" y="1385615"/>
            <a:ext cx="8501500" cy="47820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THE FAMILIAR 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familiar Claude Code loop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2</a:t>
            </a:r>
          </a:p>
        </p:txBody>
      </p:sp>
      <p:sp>
        <p:nvSpPr>
          <p:cNvPr id="7" name="classical-step-1">
            <a:extLst xmlns:a="http://schemas.openxmlformats.org/drawingml/2006/main">
              <a:ext uri="{FF2B5EF4-FFF2-40B4-BE49-F238E27FC236}">
                <a16:creationId xmlns:a16="http://schemas.microsoft.com/office/drawing/2014/main" id="{BC616160-4903-461B-818E-E879F67B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PLAN MODE</a:t>
            </a:r>
          </a:p>
          <a:p xmlns:a="http://schemas.openxmlformats.org/drawingml/2006/main">
            <a:pPr algn="ctr"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Read + propose</a:t>
            </a:r>
          </a:p>
        </p:txBody>
      </p:sp>
      <p:sp>
        <p:nvSpPr>
          <p:cNvPr id="8" name="classical-step-2">
            <a:extLst xmlns:a="http://schemas.openxmlformats.org/drawingml/2006/main">
              <a:ext uri="{FF2B5EF4-FFF2-40B4-BE49-F238E27FC236}">
                <a16:creationId xmlns:a16="http://schemas.microsoft.com/office/drawing/2014/main" id="{54881E1A-77E9-42DB-8CCC-AE35A0E4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REVIEW</a:t>
            </a:r>
          </a:p>
          <a:p xmlns:a="http://schemas.openxmlformats.org/drawingml/2006/main">
            <a:pPr algn="ctr"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Refine + approve</a:t>
            </a:r>
          </a:p>
        </p:txBody>
      </p:sp>
      <p:sp>
        <p:nvSpPr>
          <p:cNvPr id="9" name="classical-step-3">
            <a:extLst xmlns:a="http://schemas.openxmlformats.org/drawingml/2006/main">
              <a:ext uri="{FF2B5EF4-FFF2-40B4-BE49-F238E27FC236}">
                <a16:creationId xmlns:a16="http://schemas.microsoft.com/office/drawing/2014/main" id="{01229AD3-BCE5-4CB7-9B83-7D71D7CB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EXECUTE</a:t>
            </a:r>
          </a:p>
          <a:p xmlns:a="http://schemas.openxmlformats.org/drawingml/2006/main">
            <a:pPr algn="ctr"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Edit + run</a:t>
            </a:r>
          </a:p>
        </p:txBody>
      </p:sp>
      <p:sp>
        <p:nvSpPr>
          <p:cNvPr id="10" name="classical-step-4">
            <a:extLst xmlns:a="http://schemas.openxmlformats.org/drawingml/2006/main">
              <a:ext uri="{FF2B5EF4-FFF2-40B4-BE49-F238E27FC236}">
                <a16:creationId xmlns:a16="http://schemas.microsoft.com/office/drawing/2014/main" id="{D4B45699-C7D8-4BFB-B7D9-AA0C6817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VERIFY</a:t>
            </a:r>
          </a:p>
          <a:p xmlns:a="http://schemas.openxmlformats.org/drawingml/2006/main">
            <a:pPr algn="ctr"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Review the result</a:t>
            </a:r>
          </a:p>
        </p:txBody>
      </p:sp>
      <p:sp>
        <p:nvSpPr>
          <p:cNvPr id="11" name="classical-arrow-1">
            <a:extLst xmlns:a="http://schemas.openxmlformats.org/drawingml/2006/main">
              <a:ext uri="{FF2B5EF4-FFF2-40B4-BE49-F238E27FC236}">
                <a16:creationId xmlns:a16="http://schemas.microsoft.com/office/drawing/2014/main" id="{C439129A-4C6C-437B-B0FB-52DAA4E4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2" name="classical-arrow-2">
            <a:extLst xmlns:a="http://schemas.openxmlformats.org/drawingml/2006/main">
              <a:ext uri="{FF2B5EF4-FFF2-40B4-BE49-F238E27FC236}">
                <a16:creationId xmlns:a16="http://schemas.microsoft.com/office/drawing/2014/main" id="{8AA5D5E0-C0DA-48DB-826E-63108855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3" name="classical-arrow-3">
            <a:extLst xmlns:a="http://schemas.openxmlformats.org/drawingml/2006/main">
              <a:ext uri="{FF2B5EF4-FFF2-40B4-BE49-F238E27FC236}">
                <a16:creationId xmlns:a16="http://schemas.microsoft.com/office/drawing/2014/main" id="{3F3917BF-DFE2-4B86-8766-FA466D8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4" name="classical-caption">
            <a:extLst xmlns:a="http://schemas.openxmlformats.org/drawingml/2006/main">
              <a:ext uri="{FF2B5EF4-FFF2-40B4-BE49-F238E27FC236}">
                <a16:creationId xmlns:a16="http://schemas.microsoft.com/office/drawing/2014/main" id="{C5A1B456-9B08-4A25-96C1-80E963D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 strong workflow for bounded work inside one session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THE PRESSURE POINTS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Real work escapes the session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Markdown can carry this—but each pressure adds another convention.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WHAT HAPPENS?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PLAN NOW NEEDS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Several sessions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Work continues tomorrow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State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New work appears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Execution reveals a bug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Provenance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Dependencies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Task B waits for Task A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graph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hand-off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Another session takes over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Memory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IDs · status · ownership · dependencies · provenance · hand-off context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3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BEADS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Beads makes the work state explicit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4</a:t>
            </a:r>
          </a:p>
        </p:txBody>
      </p:sp>
      <p:sp>
        <p:nvSpPr>
          <p:cNvPr id="7" name="beads-step-1">
            <a:extLst xmlns:a="http://schemas.openxmlformats.org/drawingml/2006/main">
              <a:ext uri="{FF2B5EF4-FFF2-40B4-BE49-F238E27FC236}">
                <a16:creationId xmlns:a16="http://schemas.microsoft.com/office/drawing/2014/main" id="{1BC54ECD-8C3C-416D-9538-FD378ABD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prime</a:t>
            </a:r>
          </a:p>
          <a:p xmlns:a="http://schemas.openxmlformats.org/drawingml/2006/main">
            <a:pPr algn="ctr"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restore context</a:t>
            </a:r>
          </a:p>
        </p:txBody>
      </p:sp>
      <p:sp>
        <p:nvSpPr>
          <p:cNvPr id="8" name="beads-step-2">
            <a:extLst xmlns:a="http://schemas.openxmlformats.org/drawingml/2006/main">
              <a:ext uri="{FF2B5EF4-FFF2-40B4-BE49-F238E27FC236}">
                <a16:creationId xmlns:a16="http://schemas.microsoft.com/office/drawing/2014/main" id="{161EB8AB-7264-46DD-96A8-FA793341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ready</a:t>
            </a:r>
          </a:p>
          <a:p xmlns:a="http://schemas.openxmlformats.org/drawingml/2006/main">
            <a:pPr algn="ctr"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find work</a:t>
            </a:r>
          </a:p>
        </p:txBody>
      </p:sp>
      <p:sp>
        <p:nvSpPr>
          <p:cNvPr id="9" name="beads-step-3">
            <a:extLst xmlns:a="http://schemas.openxmlformats.org/drawingml/2006/main">
              <a:ext uri="{FF2B5EF4-FFF2-40B4-BE49-F238E27FC236}">
                <a16:creationId xmlns:a16="http://schemas.microsoft.com/office/drawing/2014/main" id="{61672731-4358-47B3-AE99-A61AB232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show</a:t>
            </a:r>
          </a:p>
          <a:p xmlns:a="http://schemas.openxmlformats.org/drawingml/2006/main">
            <a:pPr algn="ctr"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inspect</a:t>
            </a:r>
          </a:p>
        </p:txBody>
      </p:sp>
      <p:sp>
        <p:nvSpPr>
          <p:cNvPr id="10" name="beads-step-4">
            <a:extLst xmlns:a="http://schemas.openxmlformats.org/drawingml/2006/main">
              <a:ext uri="{FF2B5EF4-FFF2-40B4-BE49-F238E27FC236}">
                <a16:creationId xmlns:a16="http://schemas.microsoft.com/office/drawing/2014/main" id="{C5FF1062-3CE8-4C9E-9A72-91A4FCA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update</a:t>
            </a:r>
          </a:p>
          <a:p xmlns:a="http://schemas.openxmlformats.org/drawingml/2006/main">
            <a:pPr algn="ctr"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claim + record</a:t>
            </a:r>
          </a:p>
        </p:txBody>
      </p:sp>
      <p:sp>
        <p:nvSpPr>
          <p:cNvPr id="11" name="beads-step-5">
            <a:extLst xmlns:a="http://schemas.openxmlformats.org/drawingml/2006/main">
              <a:ext uri="{FF2B5EF4-FFF2-40B4-BE49-F238E27FC236}">
                <a16:creationId xmlns:a16="http://schemas.microsoft.com/office/drawing/2014/main" id="{5B4770C5-0D7B-463D-A1C1-956C3BAB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close</a:t>
            </a:r>
          </a:p>
          <a:p xmlns:a="http://schemas.openxmlformats.org/drawingml/2006/main">
            <a:pPr algn="ctr"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hand off</a:t>
            </a:r>
          </a:p>
        </p:txBody>
      </p:sp>
      <p:sp>
        <p:nvSpPr>
          <p:cNvPr id="12" name="beads-arrow-1">
            <a:extLst xmlns:a="http://schemas.openxmlformats.org/drawingml/2006/main">
              <a:ext uri="{FF2B5EF4-FFF2-40B4-BE49-F238E27FC236}">
                <a16:creationId xmlns:a16="http://schemas.microsoft.com/office/drawing/2014/main" id="{2FC229A4-0FF6-4195-9310-A57A5F69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3" name="beads-arrow-2">
            <a:extLst xmlns:a="http://schemas.openxmlformats.org/drawingml/2006/main">
              <a:ext uri="{FF2B5EF4-FFF2-40B4-BE49-F238E27FC236}">
                <a16:creationId xmlns:a16="http://schemas.microsoft.com/office/drawing/2014/main" id="{F17866EC-D9DF-400B-8C41-DCC0B30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4" name="beads-arrow-3">
            <a:extLst xmlns:a="http://schemas.openxmlformats.org/drawingml/2006/main">
              <a:ext uri="{FF2B5EF4-FFF2-40B4-BE49-F238E27FC236}">
                <a16:creationId xmlns:a16="http://schemas.microsoft.com/office/drawing/2014/main" id="{7B9FA2FD-CBA2-443D-8EF8-307A380E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5" name="beads-arrow-4">
            <a:extLst xmlns:a="http://schemas.openxmlformats.org/drawingml/2006/main">
              <a:ext uri="{FF2B5EF4-FFF2-40B4-BE49-F238E27FC236}">
                <a16:creationId xmlns:a16="http://schemas.microsoft.com/office/drawing/2014/main" id="{E384A66D-E410-4746-9090-9549036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6" name="beads-caption">
            <a:extLst xmlns:a="http://schemas.openxmlformats.org/drawingml/2006/main">
              <a:ext uri="{FF2B5EF4-FFF2-40B4-BE49-F238E27FC236}">
                <a16:creationId xmlns:a16="http://schemas.microsoft.com/office/drawing/2014/main" id="{60F3A728-640F-480E-BDF5-0EE1C31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Discovered work becomes a linked bead—not a lost note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LIVE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short beads loop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 fresh session can recover context and leave the next one a clean hand-off.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COMMAND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RESULT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prime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Load workflow + project memory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1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Orient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ready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Find work with no open blockers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2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Choose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show &lt;id&gt;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Inspect one bounded task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3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Understand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update · create · close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Act, record discoveries, hand off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4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Continue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The task graph survives even when the conversation does not.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5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BEADS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Beads Map makes the hand-off visible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f8be0fe304e37"/>
          <a:stretch xmlns:a="http://schemas.openxmlformats.org/drawingml/2006/main"/>
        </p:blipFill>
        <p:spPr>
          <a:xfrm xmlns:a="http://schemas.openxmlformats.org/drawingml/2006/main">
            <a:off x="1905000" y="1381125"/>
            <a:ext cx="838200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PROOF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49 completed beads in seven days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4cae0bae94e20"/>
          <a:stretch xmlns:a="http://schemas.openxmlformats.org/drawingml/2006/main"/>
        </p:blipFill>
        <p:spPr>
          <a:xfrm xmlns:a="http://schemas.openxmlformats.org/drawingml/2006/main">
            <a:off x="1905000" y="1381125"/>
            <a:ext cx="838200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YOUR TURN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Try it—and let me know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Start with one real task that will still matter tomorrow.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FIRST EXPERIMENT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OUTCOME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Install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brew install beads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1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Once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Initialize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bd init inside one repository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2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Scope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Resume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bd prime in a fresh session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3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Context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Tell me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What worked? What got in the way?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↗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Feedback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Use beads where the work—not merely the chat—needs continuity.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8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2026-09-02T10:55:05.8500000Z</dcterms:created>
  <dcterms:modified xsi:type="dcterms:W3CDTF">2026-09-02T10:55:05.8500000Z</dcterms:modified>
</coreProperties>
</file>