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2e22e3cac04a17" /><Relationship Type="http://schemas.openxmlformats.org/officeDocument/2006/relationships/extended-properties" Target="/docProps/app.xml" Id="Rddffda4019e94be0" /><Relationship Type="http://schemas.openxmlformats.org/officeDocument/2006/relationships/officeDocument" Target="/ppt/presentation.xml" Id="Rd973f081b4ee4872" /></Relationships>
</file>

<file path=ppt/presentation.xml><?xml version="1.0" encoding="utf-8"?>
<p:presentation xmlns:p="http://schemas.openxmlformats.org/presentationml/2006/main">
  <p:sldMasterIdLst>
    <p:sldMasterId xmlns:r="http://schemas.openxmlformats.org/officeDocument/2006/relationships" id="2147483648" r:id="Re7b91d9ccecd4837"/>
  </p:sldMasterIdLst>
  <p:notesMasterIdLst>
    <p:notesMasterId xmlns:r="http://schemas.openxmlformats.org/officeDocument/2006/relationships" r:id="Rfb0dd15aaab449ba"/>
  </p:notesMasterIdLst>
  <p:sldIdLst>
    <p:sldId xmlns:r="http://schemas.openxmlformats.org/officeDocument/2006/relationships" id="256" r:id="Rea8b0d31215e43ff"/>
    <p:sldId xmlns:r="http://schemas.openxmlformats.org/officeDocument/2006/relationships" id="257" r:id="R6528a9823b974346"/>
    <p:sldId xmlns:r="http://schemas.openxmlformats.org/officeDocument/2006/relationships" id="258" r:id="Rba87ac2d6ee34c46"/>
    <p:sldId xmlns:r="http://schemas.openxmlformats.org/officeDocument/2006/relationships" id="259" r:id="Rca2a057087fc4bd3"/>
    <p:sldId xmlns:r="http://schemas.openxmlformats.org/officeDocument/2006/relationships" id="260" r:id="Ra983129bbfd04338"/>
    <p:sldId xmlns:r="http://schemas.openxmlformats.org/officeDocument/2006/relationships" id="261" r:id="Rfd34ac7adb6e4144"/>
    <p:sldId xmlns:r="http://schemas.openxmlformats.org/officeDocument/2006/relationships" id="262" r:id="R9bc0e2ba07354ed6"/>
    <p:sldId xmlns:r="http://schemas.openxmlformats.org/officeDocument/2006/relationships" id="263" r:id="R9f91b3989c724752"/>
    <p:sldId xmlns:r="http://schemas.openxmlformats.org/officeDocument/2006/relationships" id="264" r:id="R6e661876a02a4961"/>
    <p:sldId xmlns:r="http://schemas.openxmlformats.org/officeDocument/2006/relationships" id="265" r:id="R8c439ca3a11149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197cad8cf84b60" /><Relationship Type="http://schemas.openxmlformats.org/officeDocument/2006/relationships/slideMaster" Target="/ppt/slideMasters/slideMaster1.xml" Id="Re7b91d9ccecd4837" /><Relationship Type="http://schemas.openxmlformats.org/officeDocument/2006/relationships/notesMaster" Target="/ppt/notesMasters/notesMaster1.xml" Id="Rfb0dd15aaab449ba" /><Relationship Type="http://schemas.openxmlformats.org/officeDocument/2006/relationships/presProps" Target="/ppt/presProps.xml" Id="R7cf9c6e9abca4ae8" /><Relationship Type="http://schemas.openxmlformats.org/officeDocument/2006/relationships/tableStyles" Target="/ppt/tableStyles.xml" Id="R6e779fcc341b4f07" /><Relationship Type="http://schemas.openxmlformats.org/officeDocument/2006/relationships/slide" Target="/ppt/slides/slide1.xml" Id="Rea8b0d31215e43ff" /><Relationship Type="http://schemas.openxmlformats.org/officeDocument/2006/relationships/slide" Target="/ppt/slides/slide2.xml" Id="R6528a9823b974346" /><Relationship Type="http://schemas.openxmlformats.org/officeDocument/2006/relationships/slide" Target="/ppt/slides/slide3.xml" Id="Rba87ac2d6ee34c46" /><Relationship Type="http://schemas.openxmlformats.org/officeDocument/2006/relationships/slide" Target="/ppt/slides/slide4.xml" Id="Rca2a057087fc4bd3" /><Relationship Type="http://schemas.openxmlformats.org/officeDocument/2006/relationships/slide" Target="/ppt/slides/slide5.xml" Id="Ra983129bbfd04338" /><Relationship Type="http://schemas.openxmlformats.org/officeDocument/2006/relationships/slide" Target="/ppt/slides/slide6.xml" Id="Rfd34ac7adb6e4144" /><Relationship Type="http://schemas.openxmlformats.org/officeDocument/2006/relationships/slide" Target="/ppt/slides/slide7.xml" Id="R9bc0e2ba07354ed6" /><Relationship Type="http://schemas.openxmlformats.org/officeDocument/2006/relationships/slide" Target="/ppt/slides/slide8.xml" Id="R9f91b3989c724752" /><Relationship Type="http://schemas.openxmlformats.org/officeDocument/2006/relationships/slide" Target="/ppt/slides/slide9.xml" Id="R6e661876a02a4961" /><Relationship Type="http://schemas.openxmlformats.org/officeDocument/2006/relationships/slide" Target="/ppt/slides/slide10.xml" Id="R8c439ca3a11149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04c150f7ef45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d8f167e52b4ecf" /><Relationship Type="http://schemas.openxmlformats.org/officeDocument/2006/relationships/notesMaster" Target="/ppt/notesMasters/notesMaster1.xml" Id="R320bdd3db5cd45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b5fbbaa8c84505" /><Relationship Type="http://schemas.openxmlformats.org/officeDocument/2006/relationships/notesMaster" Target="/ppt/notesMasters/notesMaster1.xml" Id="Rf0fa363e556c4b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e189dda6384b2f" /><Relationship Type="http://schemas.openxmlformats.org/officeDocument/2006/relationships/notesMaster" Target="/ppt/notesMasters/notesMaster1.xml" Id="R1fc5fc34d7b548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87c09bfc114a5b" /><Relationship Type="http://schemas.openxmlformats.org/officeDocument/2006/relationships/notesMaster" Target="/ppt/notesMasters/notesMaster1.xml" Id="R087d5bf392f54e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3dc7ecf2f54fae" /><Relationship Type="http://schemas.openxmlformats.org/officeDocument/2006/relationships/notesMaster" Target="/ppt/notesMasters/notesMaster1.xml" Id="Rf6c3b96544384f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cb41dd95204de1" /><Relationship Type="http://schemas.openxmlformats.org/officeDocument/2006/relationships/notesMaster" Target="/ppt/notesMasters/notesMaster1.xml" Id="Rbecd8d52e7d945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575891a9c44847" /><Relationship Type="http://schemas.openxmlformats.org/officeDocument/2006/relationships/notesMaster" Target="/ppt/notesMasters/notesMaster1.xml" Id="R301363448ed544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e4fcd538804d40" /><Relationship Type="http://schemas.openxmlformats.org/officeDocument/2006/relationships/notesMaster" Target="/ppt/notesMasters/notesMaster1.xml" Id="Rb5a45cd8f9a34c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410567eff2435e" /><Relationship Type="http://schemas.openxmlformats.org/officeDocument/2006/relationships/notesMaster" Target="/ppt/notesMasters/notesMaster1.xml" Id="Rda6b06cbbfbb4c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d8406e44594e16" /><Relationship Type="http://schemas.openxmlformats.org/officeDocument/2006/relationships/notesMaster" Target="/ppt/notesMasters/notesMaster1.xml" Id="Rfe57eca7bac945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audience’s normal experience: “You are probably all very familiar with this flow.” In Plan Mode Claude reads and explores without editing source files, presents a plan, and begins editing after approval in the selected permission mode. Say plainly that this is a useful workflow and is not the problem.</a:t>
            </a:r>
          </a:p>
          <a:p xmlns:a="http://schemas.openxmlformats.org/drawingml/2006/main">
            <a:r>
              <a:t/>
            </a:r>
          </a:p>
          <a:p xmlns:a="http://schemas.openxmlformats.org/drawingml/2006/main">
            <a:r>
              <a:t>Transition: “But what happens when the work is too large for one sitting, starts spawning new work, or needs to move across several sessions?”</a:t>
            </a:r>
          </a:p>
          <a:p xmlns:a="http://schemas.openxmlformats.org/drawingml/2006/main">
            <a:r>
              <a:t/>
            </a:r>
          </a:p>
          <a:p xmlns:a="http://schemas.openxmlformats.org/drawingml/2006/main">
            <a:r>
              <a:t>[Sources]</a:t>
            </a:r>
          </a:p>
          <a:p xmlns:a="http://schemas.openxmlformats.org/drawingml/2006/main">
            <a:r>
              <a:t>- https://code.claude.com/docs/en/permission-modes</a:t>
            </a:r>
          </a:p>
          <a:p xmlns:a="http://schemas.openxmlformats.org/drawingml/2006/main">
            <a:r>
              <a:t>- Visual template: Agentic AI workflows — adoption stages + workflow descriptions.pptx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show what “more complex” can become. Steve Yegge did not reject Markdown from the outset: he went all-in on Git-versioned, hierarchical Markdown plans for agent orchestration—and eventually found 605 plan files in varying stages of decay.</a:t>
            </a:r>
          </a:p>
          <a:p xmlns:a="http://schemas.openxmlformats.org/drawingml/2006/main">
            <a:r>
              <a:t/>
            </a:r>
          </a:p>
          <a:p xmlns:a="http://schemas.openxmlformats.org/drawingml/2006/main">
            <a:r>
              <a:t>Use the screenshot as evidence: the agent has created a follow-up issue, recorded what it depends on, and made the critical path explicit. This is the move from plans as documents to work as queryable state.</a:t>
            </a:r>
          </a:p>
          <a:p xmlns:a="http://schemas.openxmlformats.org/drawingml/2006/main">
            <a:r>
              <a:t/>
            </a:r>
          </a:p>
          <a:p xmlns:a="http://schemas.openxmlformats.org/drawingml/2006/main">
            <a:r>
              <a:t>Transition: “This pressure grows as we move from an assistant inside one session toward agents working across tasks and in parallel. You may remember this model from the sprint review.”</a:t>
            </a:r>
          </a:p>
          <a:p xmlns:a="http://schemas.openxmlformats.org/drawingml/2006/main">
            <a:r>
              <a:t/>
            </a:r>
          </a:p>
          <a:p xmlns:a="http://schemas.openxmlformats.org/drawingml/2006/main">
            <a:r>
              <a:t>Accuracy note: the launch essay describes Beads’ historical JSONL implementation. Current technical claims later in the deck use the modern Dolt-based documentation.</a:t>
            </a:r>
          </a:p>
          <a:p xmlns:a="http://schemas.openxmlformats.org/drawingml/2006/main">
            <a:r>
              <a:t/>
            </a:r>
          </a:p>
          <a:p xmlns:a="http://schemas.openxmlformats.org/drawingml/2006/main">
            <a:r>
              <a:t>[Sources]</a:t>
            </a:r>
          </a:p>
          <a:p xmlns:a="http://schemas.openxmlformats.org/drawingml/2006/main">
            <a:r>
              <a:t>- Steve Yegge, Introducing Beads: A coding agent memory system, 13 October 2025: https://steve-yegge.medium.com/introducing-beads-a-coding-agent-memory-system-637d7d92514a</a:t>
            </a:r>
          </a:p>
          <a:p xmlns:a="http://schemas.openxmlformats.org/drawingml/2006/main">
            <a:r>
              <a:t>- Original image from the essay: https://miro.medium.com/v2/resize:fit:1400/1*HbBoe7lEio9gX6v6-ZFbZQ.png</a:t>
            </a:r>
          </a:p>
          <a:p xmlns:a="http://schemas.openxmlformats.org/drawingml/2006/main">
            <a:r>
              <a:t>- Visual template: Agentic AI workflows — adoption stages + workflow descriptions.pptx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exact adoption-stages slide from the sprint review. Move quickly from left to right: interactive coding assistance, a more autonomous agent, task-bounded agents, then parallel orchestration. Treat it as a useful progression, not a maturity score everyone must climb.</a:t>
            </a:r>
          </a:p>
          <a:p xmlns:a="http://schemas.openxmlformats.org/drawingml/2006/main">
            <a:r>
              <a:t/>
            </a:r>
          </a:p>
          <a:p xmlns:a="http://schemas.openxmlformats.org/drawingml/2006/main">
            <a:r>
              <a:t>The point for today is narrower: the farther right we work, the more tasks outlive an individual conversation and the more coordination state matters. A native Markdown plan can be enough on the left; durable, queryable task state becomes increasingly valuable as work becomes longer-lived and more concurrent.</a:t>
            </a:r>
          </a:p>
          <a:p xmlns:a="http://schemas.openxmlformats.org/drawingml/2006/main">
            <a:r>
              <a:t/>
            </a:r>
          </a:p>
          <a:p xmlns:a="http://schemas.openxmlformats.org/drawingml/2006/main">
            <a:r>
              <a:t>Transition: “Even before full orchestration, ordinary engineering work already creates these pressure points.”</a:t>
            </a:r>
          </a:p>
          <a:p xmlns:a="http://schemas.openxmlformats.org/drawingml/2006/main">
            <a:r>
              <a:t/>
            </a:r>
          </a:p>
          <a:p xmlns:a="http://schemas.openxmlformats.org/drawingml/2006/main">
            <a:r>
              <a:t>[Sources]</a:t>
            </a:r>
          </a:p>
          <a:p xmlns:a="http://schemas.openxmlformats.org/drawingml/2006/main">
            <a:r>
              <a:t>- Reused source slide: /Users/paishe01/hNotes/20__Output/Agentic AI workflows — adoption stages.pptx, slide 1</a:t>
            </a:r>
          </a:p>
          <a:p xmlns:a="http://schemas.openxmlformats.org/drawingml/2006/main">
            <a:r>
              <a:t>- User-provided asset: yegge-agent-evolution.webp</a:t>
            </a:r>
          </a:p>
          <a:p xmlns:a="http://schemas.openxmlformats.org/drawingml/2006/main">
            <a:r>
              <a:t>- Stage model reference: https://justin.abrah.ms/blog/2026-01-08-yegge-s-developer-agent-evolution-model.html</a:t>
            </a:r>
          </a:p>
          <a:p xmlns:a="http://schemas.openxmlformats.org/drawingml/2006/main">
            <a:r>
              <a:t>- Brand treatment: https://brandhub.stepstone.com/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the complexity emerge through questions: What is done? What is next? Where does the bug belong? What is blocked? How does a fresh session know why? Acknowledge that Markdown can encode all of this. The point is that we are progressively designing task-management conventions inside the document.</a:t>
            </a:r>
          </a:p>
          <a:p xmlns:a="http://schemas.openxmlformats.org/drawingml/2006/main">
            <a:r>
              <a:t/>
            </a:r>
          </a:p>
          <a:p xmlns:a="http://schemas.openxmlformats.org/drawingml/2006/main">
            <a:r>
              <a:t>Connect back to the adoption slide: parallelism is only the most visible version of the problem; continuity, provenance, and dependency tracking begin to matter as soon as work crosses a session boundary.</a:t>
            </a:r>
          </a:p>
          <a:p xmlns:a="http://schemas.openxmlformats.org/drawingml/2006/main">
            <a:r>
              <a:t/>
            </a:r>
          </a:p>
          <a:p xmlns:a="http://schemas.openxmlformats.org/drawingml/2006/main">
            <a:r>
              <a:t>[Sources]</a:t>
            </a:r>
          </a:p>
          <a:p xmlns:a="http://schemas.openxmlformats.org/drawingml/2006/main">
            <a:r>
              <a:t>- Visual template: Agentic AI workflows — adoption stages + workflow descriptions.pptx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beads only now. It is a persistent, dependency-aware task graph designed for AI-supervised coding workflows. The agent can restore project context, find unblocked work, inspect one bounded unit, claim it, record discovered work with provenance, and leave a durable hand-off.</a:t>
            </a:r>
          </a:p>
          <a:p xmlns:a="http://schemas.openxmlformats.org/drawingml/2006/main">
            <a:r>
              <a:t/>
            </a:r>
          </a:p>
          <a:p xmlns:a="http://schemas.openxmlformats.org/drawingml/2006/main">
            <a:r>
              <a:t>[Sources]</a:t>
            </a:r>
          </a:p>
          <a:p xmlns:a="http://schemas.openxmlformats.org/drawingml/2006/main">
            <a:r>
              <a:t>- https://github.com/gastownhall/beads/blob/main/docs/index.md</a:t>
            </a:r>
          </a:p>
          <a:p xmlns:a="http://schemas.openxmlformats.org/drawingml/2006/main">
            <a:r>
              <a:t>- https://github.com/gastownhall/beads/blob/main/docs/getting-started/ide-setup.md</a:t>
            </a:r>
          </a:p>
          <a:p xmlns:a="http://schemas.openxmlformats.org/drawingml/2006/main">
            <a:r>
              <a:t>- https://github.com/gastownhall/beads/blob/main/docs/multi-agent/coordination.md</a:t>
            </a:r>
          </a:p>
          <a:p xmlns:a="http://schemas.openxmlformats.org/drawingml/2006/main">
            <a:r>
              <a:t>- Visual template: Agentic AI workflows — adoption stages + workflow descriptions.pptx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terminal. Run the prepared demo from presentation/demo-runbook.md. Keep this to roughly three minutes. If the live agent response stalls, use the deterministic CLI path and continue; the audience still sees the same persisted context and task graph.</a:t>
            </a:r>
          </a:p>
          <a:p xmlns:a="http://schemas.openxmlformats.org/drawingml/2006/main">
            <a:r>
              <a:t/>
            </a:r>
          </a:p>
          <a:p xmlns:a="http://schemas.openxmlformats.org/drawingml/2006/main">
            <a:r>
              <a:t>[Sources]</a:t>
            </a:r>
          </a:p>
          <a:p xmlns:a="http://schemas.openxmlformats.org/drawingml/2006/main">
            <a:r>
              <a:t>- https://github.com/gastownhall/beads/blob/main/docs/index.md</a:t>
            </a:r>
          </a:p>
          <a:p xmlns:a="http://schemas.openxmlformats.org/drawingml/2006/main">
            <a:r>
              <a:t>- Local demo runbook: presentation/demo-runbook.md</a:t>
            </a:r>
          </a:p>
          <a:p xmlns:a="http://schemas.openxmlformats.org/drawingml/2006/main">
            <a:r>
              <a:t>- Visual template: Agentic AI workflows — adoption stages + workflow descriptions.pptx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presentation task selected with its children, state, description, acceptance criteria, design, and notes. The opening slide already established the repository-level view; here, zoom into one durable hand-off.</a:t>
            </a:r>
          </a:p>
          <a:p xmlns:a="http://schemas.openxmlformats.org/drawingml/2006/main">
            <a:r>
              <a:t/>
            </a:r>
          </a:p>
          <a:p xmlns:a="http://schemas.openxmlformats.org/drawingml/2006/main">
            <a:r>
              <a:t>[Sources]</a:t>
            </a:r>
          </a:p>
          <a:p xmlns:a="http://schemas.openxmlformats.org/drawingml/2006/main">
            <a:r>
              <a:t>- Local screenshot captured from beads-map on 2026-09-02: presentation/assets/beads-map-presentation-work.png</a:t>
            </a:r>
          </a:p>
          <a:p xmlns:a="http://schemas.openxmlformats.org/drawingml/2006/main">
            <a:r>
              <a:t>- Visual template: Agentic AI workflows — adoption stages + workflow descriptions.pptx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 benchmark or a causal productivity claim. It is a traceable project history: 49 beads were closed between 25 and 31 August 2026, spanning product decisions, implementation, bugs, packaging, and release hardening. The visualizer shown here was built through the system it visualizes.</a:t>
            </a:r>
          </a:p>
          <a:p xmlns:a="http://schemas.openxmlformats.org/drawingml/2006/main">
            <a:r>
              <a:t/>
            </a:r>
          </a:p>
          <a:p xmlns:a="http://schemas.openxmlformats.org/drawingml/2006/main">
            <a:r>
              <a:t>Transition: “That naturally raises a team question: can several people and agents share this graph, or is Beads mainly a solo workflow?”</a:t>
            </a:r>
          </a:p>
          <a:p xmlns:a="http://schemas.openxmlformats.org/drawingml/2006/main">
            <a:r>
              <a:t/>
            </a:r>
          </a:p>
          <a:p xmlns:a="http://schemas.openxmlformats.org/drawingml/2006/main">
            <a:r>
              <a:t>[Sources]</a:t>
            </a:r>
          </a:p>
          <a:p xmlns:a="http://schemas.openxmlformats.org/drawingml/2006/main">
            <a:r>
              <a:t>- Local bd stats and closed-issue records inspected 2026-09-02</a:t>
            </a:r>
          </a:p>
          <a:p xmlns:a="http://schemas.openxmlformats.org/drawingml/2006/main">
            <a:r>
              <a:t>- Local screenshot captured from beads-map on 2026-09-02: presentation/assets/beads-map-release-hardening.png</a:t>
            </a:r>
          </a:p>
          <a:p xmlns:a="http://schemas.openxmlformats.org/drawingml/2006/main">
            <a:r>
              <a:t>- Visual template: Agentic AI workflows — adoption stages + workflow descriptions.pptx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answer: yes—with a collaboration model closer to Git than Jira. Each collaborator or agent works against a local Dolt database. Beads history is shared through bd dolt pull and bd dolt push under refs/dolt/data on the remote, separate from normal code branches.</a:t>
            </a:r>
          </a:p>
          <a:p xmlns:a="http://schemas.openxmlformats.org/drawingml/2006/main">
            <a:r>
              <a:t/>
            </a:r>
          </a:p>
          <a:p xmlns:a="http://schemas.openxmlformats.org/drawingml/2006/main">
            <a:r>
              <a:t>The collaboration support is substantive: hash-based IDs reduce creation collisions, Dolt merges changes at cell level, and Beads documents assignments, comments, atomic claims, hand-offs, fan-out/fan-in, and merge slots.</a:t>
            </a:r>
          </a:p>
          <a:p xmlns:a="http://schemas.openxmlformats.org/drawingml/2006/main">
            <a:r>
              <a:t/>
            </a:r>
          </a:p>
          <a:p xmlns:a="http://schemas.openxmlformats.org/drawingml/2006/main">
            <a:r>
              <a:t>Keep the qualification explicit. This is distributed, eventually synchronized state—not automatic live sync. A fresh clone needs bd bootstrap; a colleague sees pushed work after pulling. Atomic claim is strongest when agents use the same current database or ready queue; disconnected clones can both act on stale state until they synchronize. If several processes write to the same database on one machine, use Dolt server mode rather than the default single-writer embedded mode.</a:t>
            </a:r>
          </a:p>
          <a:p xmlns:a="http://schemas.openxmlformats.org/drawingml/2006/main">
            <a:r>
              <a:t/>
            </a:r>
          </a:p>
          <a:p xmlns:a="http://schemas.openxmlformats.org/drawingml/2006/main">
            <a:r>
              <a:t>For an enterprise-hosted Git service, test support for the refs/dolt/data transport before promising frictionless adoption. The official docs describe Git-protocol remotes but do not publish a provider compatibility matrix.</a:t>
            </a:r>
          </a:p>
          <a:p xmlns:a="http://schemas.openxmlformats.org/drawingml/2006/main">
            <a:r>
              <a:t/>
            </a:r>
          </a:p>
          <a:p xmlns:a="http://schemas.openxmlformats.org/drawingml/2006/main">
            <a:r>
              <a:t>[Sources]</a:t>
            </a:r>
          </a:p>
          <a:p xmlns:a="http://schemas.openxmlformats.org/drawingml/2006/main">
            <a:r>
              <a:t>- https://github.com/gastownhall/beads/blob/main/docs/core-concepts/sync-concepts.md</a:t>
            </a:r>
          </a:p>
          <a:p xmlns:a="http://schemas.openxmlformats.org/drawingml/2006/main">
            <a:r>
              <a:t>- https://github.com/gastownhall/beads/blob/main/docs/reference/faq.md</a:t>
            </a:r>
          </a:p>
          <a:p xmlns:a="http://schemas.openxmlformats.org/drawingml/2006/main">
            <a:r>
              <a:t>- https://github.com/gastownhall/beads/blob/main/docs/multi-agent/coordination.md</a:t>
            </a:r>
          </a:p>
          <a:p xmlns:a="http://schemas.openxmlformats.org/drawingml/2006/main">
            <a:r>
              <a:t>- https://github.com/gastownhall/beads/blob/main/docs/architecture/dolt.md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after the collaboration qualification, without overselling. Ask people to try beads on one genuine multi-session task—solo or in a small team—and tell you where the pull, claim, and push discipline helps or adds friction. Leave the final slide visible for questions.</a:t>
            </a:r>
          </a:p>
          <a:p xmlns:a="http://schemas.openxmlformats.org/drawingml/2006/main">
            <a:r>
              <a:t/>
            </a:r>
          </a:p>
          <a:p xmlns:a="http://schemas.openxmlformats.org/drawingml/2006/main">
            <a:r>
              <a:t>[Sources]</a:t>
            </a:r>
          </a:p>
          <a:p xmlns:a="http://schemas.openxmlformats.org/drawingml/2006/main">
            <a:r>
              <a:t>- https://github.com/gastownhall/beads/blob/main/docs/index.md</a:t>
            </a:r>
          </a:p>
          <a:p xmlns:a="http://schemas.openxmlformats.org/drawingml/2006/main">
            <a:r>
              <a:t>- Visual template: Agentic AI workflows — adoption stages + workflow descriptions.pptx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456b0757e44e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818b594e0f4288" /><Relationship Type="http://schemas.openxmlformats.org/officeDocument/2006/relationships/slideLayout" Target="/ppt/slideLayouts/slideLayout1.xml" Id="R44636f010d7745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636f010d7745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30ddf27985405e" /><Relationship Type="http://schemas.openxmlformats.org/officeDocument/2006/relationships/notesSlide" Target="/ppt/notesSlides/notesSlide1.xml" Id="Rce6f4977fd1243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5419bad61e4328" /><Relationship Type="http://schemas.openxmlformats.org/officeDocument/2006/relationships/image" Target="/ppt/media/image.png" Id="Rb35b0bb3c820450c" /><Relationship Type="http://schemas.openxmlformats.org/officeDocument/2006/relationships/notesSlide" Target="/ppt/notesSlides/notesSlide2.xml" Id="Rf2e0d885412a42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28859152b847b5" /><Relationship Type="http://schemas.openxmlformats.org/officeDocument/2006/relationships/image" Target="/ppt/media/image.bin" Id="Rf6557db830124621" /><Relationship Type="http://schemas.openxmlformats.org/officeDocument/2006/relationships/notesSlide" Target="/ppt/notesSlides/notesSlide3.xml" Id="R8d2ee958470443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5e7e6fa8424e0d" /><Relationship Type="http://schemas.openxmlformats.org/officeDocument/2006/relationships/notesSlide" Target="/ppt/notesSlides/notesSlide4.xml" Id="Rf8dc2788237f4b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947351512740cb" /><Relationship Type="http://schemas.openxmlformats.org/officeDocument/2006/relationships/notesSlide" Target="/ppt/notesSlides/notesSlide5.xml" Id="Rbe2ddd3d78174c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68a3bb04dc4a2f" /><Relationship Type="http://schemas.openxmlformats.org/officeDocument/2006/relationships/notesSlide" Target="/ppt/notesSlides/notesSlide6.xml" Id="R76f26db07c3946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753680725b4cdd" /><Relationship Type="http://schemas.openxmlformats.org/officeDocument/2006/relationships/image" Target="/ppt/media/image.jpeg" Id="Rb2e2e6c5e31d40a5" /><Relationship Type="http://schemas.openxmlformats.org/officeDocument/2006/relationships/notesSlide" Target="/ppt/notesSlides/notesSlide7.xml" Id="Rfbf06209e91e45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4b105054304770" /><Relationship Type="http://schemas.openxmlformats.org/officeDocument/2006/relationships/image" Target="/ppt/media/image2.jpeg" Id="Ra27d5f2dbe0e4c61" /><Relationship Type="http://schemas.openxmlformats.org/officeDocument/2006/relationships/notesSlide" Target="/ppt/notesSlides/notesSlide8.xml" Id="R2e34dcbb45244a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cb8b398979496b" /><Relationship Type="http://schemas.openxmlformats.org/officeDocument/2006/relationships/notesSlide" Target="/ppt/notesSlides/notesSlide9.xml" Id="R158794b5b0d24a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d419e796b5438d" /><Relationship Type="http://schemas.openxmlformats.org/officeDocument/2006/relationships/notesSlide" Target="/ppt/notesSlides/notesSlide10.xml" Id="Rc1c8dc94844242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C614666D-9A0B-461B-A956-372CA6B5697A}"/>
              </a:ext>
            </a:extLst>
          </p:cNvPr>
          <p:cNvSpPr>
            <a:spLocks xmlns:a="http://schemas.openxmlformats.org/drawingml/2006/main" noGrp="1"/>
          </p:cNvSpPr>
          <p:nvPr/>
        </p:nvSpPr>
        <p:spPr>
          <a:xfrm xmlns:a="http://schemas.openxmlformats.org/drawingml/2006/main">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008194"/>
                </a:solidFill>
                <a:latin typeface="Relative Pro"/>
                <a:ea typeface="Relative Pro"/>
                <a:cs typeface="Relative Pro"/>
              </a:defRPr>
            </a:pPr>
            <a:r>
              <a:rPr sz="975" b="1">
                <a:solidFill>
                  <a:srgbClr val="008194"/>
                </a:solidFill>
                <a:latin typeface="Relative Pro"/>
                <a:ea typeface="Relative Pro"/>
                <a:cs typeface="Relative Pro"/>
              </a:rPr>
              <a:t>AI ENGINEERING FRIDAYS  ·  THE FAMILIAR FLOW</a:t>
            </a:r>
          </a:p>
        </p:txBody>
      </p:sp>
      <p:sp>
        <p:nvSpPr>
          <p:cNvPr id="2" name="title">
            <a:extLst xmlns:a="http://schemas.openxmlformats.org/drawingml/2006/main">
              <a:ext uri="{FF2B5EF4-FFF2-40B4-BE49-F238E27FC236}">
                <a16:creationId xmlns:a16="http://schemas.microsoft.com/office/drawing/2014/main" id="{D9835513-A501-4F1A-8DB4-1E0417F9AFC9}"/>
              </a:ext>
            </a:extLst>
          </p:cNvPr>
          <p:cNvSpPr>
            <a:spLocks xmlns:a="http://schemas.openxmlformats.org/drawingml/2006/main" noGrp="1"/>
          </p:cNvSpPr>
          <p:nvPr/>
        </p:nvSpPr>
        <p:spPr>
          <a:xfrm xmlns:a="http://schemas.openxmlformats.org/drawingml/2006/main">
            <a:off x="685800" y="7239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925" b="1">
                <a:solidFill>
                  <a:srgbClr val="0C2577"/>
                </a:solidFill>
                <a:latin typeface="Relative Pro"/>
                <a:ea typeface="Relative Pro"/>
                <a:cs typeface="Relative Pro"/>
              </a:defRPr>
            </a:pPr>
            <a:r>
              <a:rPr sz="2925" b="1">
                <a:solidFill>
                  <a:srgbClr val="0C2577"/>
                </a:solidFill>
                <a:latin typeface="Relative Pro"/>
                <a:ea typeface="Relative Pro"/>
                <a:cs typeface="Relative Pro"/>
              </a:rPr>
              <a:t>The familiar Claude Code loop</a:t>
            </a:r>
          </a:p>
        </p:txBody>
      </p:sp>
      <p:sp>
        <p:nvSpPr>
          <p:cNvPr id="3" name="footer-rule-1">
            <a:extLst xmlns:a="http://schemas.openxmlformats.org/drawingml/2006/main">
              <a:ext uri="{FF2B5EF4-FFF2-40B4-BE49-F238E27FC236}">
                <a16:creationId xmlns:a16="http://schemas.microsoft.com/office/drawing/2014/main" id="{48FA0D70-8E1C-47BE-A673-6120D3FD77FD}"/>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 name="footer-1">
            <a:extLst xmlns:a="http://schemas.openxmlformats.org/drawingml/2006/main">
              <a:ext uri="{FF2B5EF4-FFF2-40B4-BE49-F238E27FC236}">
                <a16:creationId xmlns:a16="http://schemas.microsoft.com/office/drawing/2014/main" id="{5E2E2545-543A-4CB7-8BD0-295D3189727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0">
                <a:solidFill>
                  <a:srgbClr val="566370"/>
                </a:solidFill>
                <a:latin typeface="Relative Pro"/>
                <a:ea typeface="Relative Pro"/>
                <a:cs typeface="Relative Pro"/>
              </a:defRPr>
            </a:pPr>
            <a:r>
              <a:rPr sz="975" b="0">
                <a:solidFill>
                  <a:srgbClr val="566370"/>
                </a:solidFill>
                <a:latin typeface="Relative Pro"/>
                <a:ea typeface="Relative Pro"/>
                <a:cs typeface="Relative Pro"/>
              </a:rPr>
              <a:t>AI Engineering Fridays  ·  1</a:t>
            </a:r>
          </a:p>
        </p:txBody>
      </p:sp>
      <p:sp>
        <p:nvSpPr>
          <p:cNvPr id="7" name="classical-step-1">
            <a:extLst xmlns:a="http://schemas.openxmlformats.org/drawingml/2006/main">
              <a:ext uri="{FF2B5EF4-FFF2-40B4-BE49-F238E27FC236}">
                <a16:creationId xmlns:a16="http://schemas.microsoft.com/office/drawing/2014/main" id="{BC616160-4903-461B-818E-E879F67BA402}"/>
              </a:ext>
            </a:extLst>
          </p:cNvPr>
          <p:cNvSpPr>
            <a:spLocks xmlns:a="http://schemas.openxmlformats.org/drawingml/2006/main" noGrp="1"/>
          </p:cNvSpPr>
          <p:nvPr/>
        </p:nvSpPr>
        <p:spPr>
          <a:xfrm xmlns:a="http://schemas.openxmlformats.org/drawingml/2006/main">
            <a:off x="1809750" y="2647950"/>
            <a:ext cx="1619250" cy="1123950"/>
          </a:xfrm>
          <a:prstGeom xmlns:a="http://schemas.openxmlformats.org/drawingml/2006/main" prst="roundRect">
            <a:avLst>
              <a:gd name="adj" fmla="val 6780"/>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0C2577"/>
                </a:solidFill>
                <a:latin typeface="Relative Pro"/>
                <a:ea typeface="Relative Pro"/>
                <a:cs typeface="Relative Pro"/>
              </a:defRPr>
            </a:pPr>
            <a:r>
              <a:rPr sz="1575" b="1">
                <a:solidFill>
                  <a:srgbClr val="0C2577"/>
                </a:solidFill>
                <a:latin typeface="Relative Pro"/>
                <a:ea typeface="Relative Pro"/>
                <a:cs typeface="Relative Pro"/>
              </a:rPr>
              <a:t>PLAN MODE</a:t>
            </a:r>
          </a:p>
          <a:p xmlns:a="http://schemas.openxmlformats.org/drawingml/2006/main">
            <a:pPr algn="ctr">
              <a:buNone/>
              <a:defRPr sz="1575" b="1">
                <a:solidFill>
                  <a:srgbClr val="0C2577"/>
                </a:solidFill>
                <a:latin typeface="Relative Pro"/>
                <a:ea typeface="Relative Pro"/>
                <a:cs typeface="Relative Pro"/>
              </a:defRPr>
            </a:pPr>
            <a:r>
              <a:rPr sz="1575" b="1">
                <a:solidFill>
                  <a:srgbClr val="0C2577"/>
                </a:solidFill>
                <a:latin typeface="Relative Pro"/>
                <a:ea typeface="Relative Pro"/>
                <a:cs typeface="Relative Pro"/>
              </a:rPr>
              <a:t>Read + propose</a:t>
            </a:r>
          </a:p>
        </p:txBody>
      </p:sp>
      <p:sp>
        <p:nvSpPr>
          <p:cNvPr id="8" name="classical-step-2">
            <a:extLst xmlns:a="http://schemas.openxmlformats.org/drawingml/2006/main">
              <a:ext uri="{FF2B5EF4-FFF2-40B4-BE49-F238E27FC236}">
                <a16:creationId xmlns:a16="http://schemas.microsoft.com/office/drawing/2014/main" id="{54881E1A-77E9-42DB-8CCC-AE35A0E4A28F}"/>
              </a:ext>
            </a:extLst>
          </p:cNvPr>
          <p:cNvSpPr>
            <a:spLocks xmlns:a="http://schemas.openxmlformats.org/drawingml/2006/main" noGrp="1"/>
          </p:cNvSpPr>
          <p:nvPr/>
        </p:nvSpPr>
        <p:spPr>
          <a:xfrm xmlns:a="http://schemas.openxmlformats.org/drawingml/2006/main">
            <a:off x="4000500" y="2647950"/>
            <a:ext cx="1619250" cy="1123950"/>
          </a:xfrm>
          <a:prstGeom xmlns:a="http://schemas.openxmlformats.org/drawingml/2006/main" prst="roundRect">
            <a:avLst>
              <a:gd name="adj" fmla="val 6780"/>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0C2577"/>
                </a:solidFill>
                <a:latin typeface="Relative Pro"/>
                <a:ea typeface="Relative Pro"/>
                <a:cs typeface="Relative Pro"/>
              </a:defRPr>
            </a:pPr>
            <a:r>
              <a:rPr sz="1575" b="1">
                <a:solidFill>
                  <a:srgbClr val="0C2577"/>
                </a:solidFill>
                <a:latin typeface="Relative Pro"/>
                <a:ea typeface="Relative Pro"/>
                <a:cs typeface="Relative Pro"/>
              </a:rPr>
              <a:t>REVIEW</a:t>
            </a:r>
          </a:p>
          <a:p xmlns:a="http://schemas.openxmlformats.org/drawingml/2006/main">
            <a:pPr algn="ctr">
              <a:buNone/>
              <a:defRPr sz="1575" b="1">
                <a:solidFill>
                  <a:srgbClr val="0C2577"/>
                </a:solidFill>
                <a:latin typeface="Relative Pro"/>
                <a:ea typeface="Relative Pro"/>
                <a:cs typeface="Relative Pro"/>
              </a:defRPr>
            </a:pPr>
            <a:r>
              <a:rPr sz="1575" b="1">
                <a:solidFill>
                  <a:srgbClr val="0C2577"/>
                </a:solidFill>
                <a:latin typeface="Relative Pro"/>
                <a:ea typeface="Relative Pro"/>
                <a:cs typeface="Relative Pro"/>
              </a:rPr>
              <a:t>Refine + approve</a:t>
            </a:r>
          </a:p>
        </p:txBody>
      </p:sp>
      <p:sp>
        <p:nvSpPr>
          <p:cNvPr id="9" name="classical-step-3">
            <a:extLst xmlns:a="http://schemas.openxmlformats.org/drawingml/2006/main">
              <a:ext uri="{FF2B5EF4-FFF2-40B4-BE49-F238E27FC236}">
                <a16:creationId xmlns:a16="http://schemas.microsoft.com/office/drawing/2014/main" id="{01229AD3-BCE5-4CB7-9B83-7D71D7CBDFE0}"/>
              </a:ext>
            </a:extLst>
          </p:cNvPr>
          <p:cNvSpPr>
            <a:spLocks xmlns:a="http://schemas.openxmlformats.org/drawingml/2006/main" noGrp="1"/>
          </p:cNvSpPr>
          <p:nvPr/>
        </p:nvSpPr>
        <p:spPr>
          <a:xfrm xmlns:a="http://schemas.openxmlformats.org/drawingml/2006/main">
            <a:off x="6191250" y="2647950"/>
            <a:ext cx="1619250" cy="1123950"/>
          </a:xfrm>
          <a:prstGeom xmlns:a="http://schemas.openxmlformats.org/drawingml/2006/main" prst="roundRect">
            <a:avLst>
              <a:gd name="adj" fmla="val 6780"/>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0C2577"/>
                </a:solidFill>
                <a:latin typeface="Relative Pro"/>
                <a:ea typeface="Relative Pro"/>
                <a:cs typeface="Relative Pro"/>
              </a:defRPr>
            </a:pPr>
            <a:r>
              <a:rPr sz="1575" b="1">
                <a:solidFill>
                  <a:srgbClr val="0C2577"/>
                </a:solidFill>
                <a:latin typeface="Relative Pro"/>
                <a:ea typeface="Relative Pro"/>
                <a:cs typeface="Relative Pro"/>
              </a:rPr>
              <a:t>EXECUTE</a:t>
            </a:r>
          </a:p>
          <a:p xmlns:a="http://schemas.openxmlformats.org/drawingml/2006/main">
            <a:pPr algn="ctr">
              <a:buNone/>
              <a:defRPr sz="1575" b="1">
                <a:solidFill>
                  <a:srgbClr val="0C2577"/>
                </a:solidFill>
                <a:latin typeface="Relative Pro"/>
                <a:ea typeface="Relative Pro"/>
                <a:cs typeface="Relative Pro"/>
              </a:defRPr>
            </a:pPr>
            <a:r>
              <a:rPr sz="1575" b="1">
                <a:solidFill>
                  <a:srgbClr val="0C2577"/>
                </a:solidFill>
                <a:latin typeface="Relative Pro"/>
                <a:ea typeface="Relative Pro"/>
                <a:cs typeface="Relative Pro"/>
              </a:rPr>
              <a:t>Edit + run</a:t>
            </a:r>
          </a:p>
        </p:txBody>
      </p:sp>
      <p:sp>
        <p:nvSpPr>
          <p:cNvPr id="10" name="classical-step-4">
            <a:extLst xmlns:a="http://schemas.openxmlformats.org/drawingml/2006/main">
              <a:ext uri="{FF2B5EF4-FFF2-40B4-BE49-F238E27FC236}">
                <a16:creationId xmlns:a16="http://schemas.microsoft.com/office/drawing/2014/main" id="{D4B45699-C7D8-4BFB-B7D9-AA0C681710BA}"/>
              </a:ext>
            </a:extLst>
          </p:cNvPr>
          <p:cNvSpPr>
            <a:spLocks xmlns:a="http://schemas.openxmlformats.org/drawingml/2006/main" noGrp="1"/>
          </p:cNvSpPr>
          <p:nvPr/>
        </p:nvSpPr>
        <p:spPr>
          <a:xfrm xmlns:a="http://schemas.openxmlformats.org/drawingml/2006/main">
            <a:off x="8382000" y="2647950"/>
            <a:ext cx="1619250" cy="1123950"/>
          </a:xfrm>
          <a:prstGeom xmlns:a="http://schemas.openxmlformats.org/drawingml/2006/main" prst="roundRect">
            <a:avLst>
              <a:gd name="adj" fmla="val 6780"/>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0C2577"/>
                </a:solidFill>
                <a:latin typeface="Relative Pro"/>
                <a:ea typeface="Relative Pro"/>
                <a:cs typeface="Relative Pro"/>
              </a:defRPr>
            </a:pPr>
            <a:r>
              <a:rPr sz="1575" b="1">
                <a:solidFill>
                  <a:srgbClr val="0C2577"/>
                </a:solidFill>
                <a:latin typeface="Relative Pro"/>
                <a:ea typeface="Relative Pro"/>
                <a:cs typeface="Relative Pro"/>
              </a:rPr>
              <a:t>VERIFY</a:t>
            </a:r>
          </a:p>
          <a:p xmlns:a="http://schemas.openxmlformats.org/drawingml/2006/main">
            <a:pPr algn="ctr">
              <a:buNone/>
              <a:defRPr sz="1575" b="1">
                <a:solidFill>
                  <a:srgbClr val="0C2577"/>
                </a:solidFill>
                <a:latin typeface="Relative Pro"/>
                <a:ea typeface="Relative Pro"/>
                <a:cs typeface="Relative Pro"/>
              </a:defRPr>
            </a:pPr>
            <a:r>
              <a:rPr sz="1575" b="1">
                <a:solidFill>
                  <a:srgbClr val="0C2577"/>
                </a:solidFill>
                <a:latin typeface="Relative Pro"/>
                <a:ea typeface="Relative Pro"/>
                <a:cs typeface="Relative Pro"/>
              </a:rPr>
              <a:t>Review the result</a:t>
            </a:r>
          </a:p>
        </p:txBody>
      </p:sp>
      <p:sp>
        <p:nvSpPr>
          <p:cNvPr id="11" name="classical-arrow-1">
            <a:extLst xmlns:a="http://schemas.openxmlformats.org/drawingml/2006/main">
              <a:ext uri="{FF2B5EF4-FFF2-40B4-BE49-F238E27FC236}">
                <a16:creationId xmlns:a16="http://schemas.microsoft.com/office/drawing/2014/main" id="{C439129A-4C6C-437B-B0FB-52DAA4E4655A}"/>
              </a:ext>
            </a:extLst>
          </p:cNvPr>
          <p:cNvSpPr>
            <a:spLocks xmlns:a="http://schemas.openxmlformats.org/drawingml/2006/main" noGrp="1"/>
          </p:cNvSpPr>
          <p:nvPr/>
        </p:nvSpPr>
        <p:spPr>
          <a:xfrm xmlns:a="http://schemas.openxmlformats.org/drawingml/2006/main">
            <a:off x="3524250" y="29908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2" name="classical-arrow-2">
            <a:extLst xmlns:a="http://schemas.openxmlformats.org/drawingml/2006/main">
              <a:ext uri="{FF2B5EF4-FFF2-40B4-BE49-F238E27FC236}">
                <a16:creationId xmlns:a16="http://schemas.microsoft.com/office/drawing/2014/main" id="{8AA5D5E0-C0DA-48DB-826E-63108855E624}"/>
              </a:ext>
            </a:extLst>
          </p:cNvPr>
          <p:cNvSpPr>
            <a:spLocks xmlns:a="http://schemas.openxmlformats.org/drawingml/2006/main" noGrp="1"/>
          </p:cNvSpPr>
          <p:nvPr/>
        </p:nvSpPr>
        <p:spPr>
          <a:xfrm xmlns:a="http://schemas.openxmlformats.org/drawingml/2006/main">
            <a:off x="5715000" y="29908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3" name="classical-arrow-3">
            <a:extLst xmlns:a="http://schemas.openxmlformats.org/drawingml/2006/main">
              <a:ext uri="{FF2B5EF4-FFF2-40B4-BE49-F238E27FC236}">
                <a16:creationId xmlns:a16="http://schemas.microsoft.com/office/drawing/2014/main" id="{3F3917BF-DFE2-4B86-8766-FA466D84D45A}"/>
              </a:ext>
            </a:extLst>
          </p:cNvPr>
          <p:cNvSpPr>
            <a:spLocks xmlns:a="http://schemas.openxmlformats.org/drawingml/2006/main" noGrp="1"/>
          </p:cNvSpPr>
          <p:nvPr/>
        </p:nvSpPr>
        <p:spPr>
          <a:xfrm xmlns:a="http://schemas.openxmlformats.org/drawingml/2006/main">
            <a:off x="7905750" y="29908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4" name="classical-caption">
            <a:extLst xmlns:a="http://schemas.openxmlformats.org/drawingml/2006/main">
              <a:ext uri="{FF2B5EF4-FFF2-40B4-BE49-F238E27FC236}">
                <a16:creationId xmlns:a16="http://schemas.microsoft.com/office/drawing/2014/main" id="{C5A1B456-9B08-4A25-96C1-80E963DF5598}"/>
              </a:ext>
            </a:extLst>
          </p:cNvPr>
          <p:cNvSpPr>
            <a:spLocks xmlns:a="http://schemas.openxmlformats.org/drawingml/2006/main" noGrp="1"/>
          </p:cNvSpPr>
          <p:nvPr/>
        </p:nvSpPr>
        <p:spPr>
          <a:xfrm xmlns:a="http://schemas.openxmlformats.org/drawingml/2006/main">
            <a:off x="2190750" y="40957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a:solidFill>
                  <a:srgbClr val="2B697F"/>
                </a:solidFill>
                <a:latin typeface="Relative Pro"/>
                <a:ea typeface="Relative Pro"/>
                <a:cs typeface="Relative Pro"/>
              </a:defRPr>
            </a:pPr>
            <a:r>
              <a:rPr sz="1350">
                <a:solidFill>
                  <a:srgbClr val="2B697F"/>
                </a:solidFill>
                <a:latin typeface="Relative Pro"/>
                <a:ea typeface="Relative Pro"/>
                <a:cs typeface="Relative Pro"/>
              </a:rPr>
              <a:t>A strong workflow for bounded work inside one session</a:t>
            </a:r>
          </a:p>
        </p:txBody>
      </p:sp>
    </p:spTree>
    <p:extLst>
      <p:ext uri="{BB962C8B-B14F-4D97-AF65-F5344CB8AC3E}">
        <p14:creationId xmlns:p14="http://schemas.microsoft.com/office/powerpoint/2010/main" val="18085711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C614666D-9A0B-461B-A956-372CA6B5697A}"/>
              </a:ext>
            </a:extLst>
          </p:cNvPr>
          <p:cNvSpPr>
            <a:spLocks xmlns:a="http://schemas.openxmlformats.org/drawingml/2006/main" noGrp="1"/>
          </p:cNvSpPr>
          <p:nvPr/>
        </p:nvSpPr>
        <p:spPr>
          <a:xfrm xmlns:a="http://schemas.openxmlformats.org/drawingml/2006/main">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008194"/>
                </a:solidFill>
                <a:latin typeface="Relative Pro"/>
                <a:ea typeface="Relative Pro"/>
                <a:cs typeface="Relative Pro"/>
              </a:defRPr>
            </a:pPr>
            <a:r>
              <a:rPr sz="975" b="1">
                <a:solidFill>
                  <a:srgbClr val="008194"/>
                </a:solidFill>
                <a:latin typeface="Relative Pro"/>
                <a:ea typeface="Relative Pro"/>
                <a:cs typeface="Relative Pro"/>
              </a:rPr>
              <a:t>STEVE YEGGE  ·  INTRODUCING BEADS  ·  2025</a:t>
            </a:r>
          </a:p>
        </p:txBody>
      </p:sp>
      <p:sp>
        <p:nvSpPr>
          <p:cNvPr id="2" name="title">
            <a:extLst xmlns:a="http://schemas.openxmlformats.org/drawingml/2006/main">
              <a:ext uri="{FF2B5EF4-FFF2-40B4-BE49-F238E27FC236}">
                <a16:creationId xmlns:a16="http://schemas.microsoft.com/office/drawing/2014/main" id="{D9835513-A501-4F1A-8DB4-1E0417F9AFC9}"/>
              </a:ext>
            </a:extLst>
          </p:cNvPr>
          <p:cNvSpPr>
            <a:spLocks xmlns:a="http://schemas.openxmlformats.org/drawingml/2006/main" noGrp="1"/>
          </p:cNvSpPr>
          <p:nvPr/>
        </p:nvSpPr>
        <p:spPr>
          <a:xfrm xmlns:a="http://schemas.openxmlformats.org/drawingml/2006/main">
            <a:off x="685800" y="7239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925" b="1">
                <a:solidFill>
                  <a:srgbClr val="0C2577"/>
                </a:solidFill>
                <a:latin typeface="Relative Pro"/>
                <a:ea typeface="Relative Pro"/>
                <a:cs typeface="Relative Pro"/>
              </a:defRPr>
            </a:pPr>
            <a:r>
              <a:rPr sz="2925" b="1">
                <a:solidFill>
                  <a:srgbClr val="0C2577"/>
                </a:solidFill>
                <a:latin typeface="Relative Pro"/>
                <a:ea typeface="Relative Pro"/>
                <a:cs typeface="Relative Pro"/>
              </a:rPr>
              <a:t>605 markdown plan files</a:t>
            </a:r>
          </a:p>
        </p:txBody>
      </p:sp>
      <p:sp>
        <p:nvSpPr>
          <p:cNvPr id="3" name="footer-rule-1">
            <a:extLst xmlns:a="http://schemas.openxmlformats.org/drawingml/2006/main">
              <a:ext uri="{FF2B5EF4-FFF2-40B4-BE49-F238E27FC236}">
                <a16:creationId xmlns:a16="http://schemas.microsoft.com/office/drawing/2014/main" id="{48FA0D70-8E1C-47BE-A673-6120D3FD77FD}"/>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 name="footer-1">
            <a:extLst xmlns:a="http://schemas.openxmlformats.org/drawingml/2006/main">
              <a:ext uri="{FF2B5EF4-FFF2-40B4-BE49-F238E27FC236}">
                <a16:creationId xmlns:a16="http://schemas.microsoft.com/office/drawing/2014/main" id="{5E2E2545-543A-4CB7-8BD0-295D3189727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0">
                <a:solidFill>
                  <a:srgbClr val="566370"/>
                </a:solidFill>
                <a:latin typeface="Relative Pro"/>
                <a:ea typeface="Relative Pro"/>
                <a:cs typeface="Relative Pro"/>
              </a:defRPr>
            </a:pPr>
            <a:r>
              <a:rPr sz="975" b="0">
                <a:solidFill>
                  <a:srgbClr val="566370"/>
                </a:solidFill>
                <a:latin typeface="Relative Pro"/>
                <a:ea typeface="Relative Pro"/>
                <a:cs typeface="Relative Pro"/>
              </a:rPr>
              <a:t>AI Engineering Fridays  ·  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35b0bb3c820450c"/>
          <a:srcRect xmlns:a="http://schemas.openxmlformats.org/drawingml/2006/main" l="0" t="29980" r="0" b="29980"/>
          <a:stretch xmlns:a="http://schemas.openxmlformats.org/drawingml/2006/main">
            <a:fillRect l="0" t="0" r="0" b="0"/>
          </a:stretch>
        </p:blipFill>
        <p:spPr>
          <a:xfrm xmlns:a="http://schemas.openxmlformats.org/drawingml/2006/main">
            <a:off x="685800" y="1695450"/>
            <a:ext cx="10820400" cy="4400550"/>
          </a:xfrm>
          <a:prstGeom xmlns:a="http://schemas.openxmlformats.org/drawingml/2006/main" prst="rect">
            <a:avLst/>
          </a:prstGeom>
        </p:spPr>
      </p:pic>
      <p:sp>
        <p:nvSpPr>
          <p:cNvPr id="8" name="source-attribution">
            <a:extLst xmlns:a="http://schemas.openxmlformats.org/drawingml/2006/main">
              <a:ext uri="{FF2B5EF4-FFF2-40B4-BE49-F238E27FC236}">
                <a16:creationId xmlns:a16="http://schemas.microsoft.com/office/drawing/2014/main" id="{51B9064E-E6F5-41AA-9C69-7492D03EA2B7}"/>
              </a:ext>
            </a:extLst>
          </p:cNvPr>
          <p:cNvSpPr>
            <a:spLocks xmlns:a="http://schemas.openxmlformats.org/drawingml/2006/main" noGrp="1"/>
          </p:cNvSpPr>
          <p:nvPr/>
        </p:nvSpPr>
        <p:spPr>
          <a:xfrm xmlns:a="http://schemas.openxmlformats.org/drawingml/2006/main">
            <a:off x="685800" y="12954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a:solidFill>
                  <a:srgbClr val="2B697F"/>
                </a:solidFill>
                <a:latin typeface="Relative Pro"/>
                <a:ea typeface="Relative Pro"/>
                <a:cs typeface="Relative Pro"/>
              </a:defRPr>
            </a:pPr>
            <a:r>
              <a:rPr sz="1500">
                <a:solidFill>
                  <a:srgbClr val="2B697F"/>
                </a:solidFill>
                <a:latin typeface="Relative Pro"/>
                <a:ea typeface="Relative Pro"/>
                <a:cs typeface="Relative Pro"/>
              </a:rPr>
              <a:t>“in varying stages of decay” — Steve Yegge</a:t>
            </a:r>
          </a:p>
        </p:txBody>
      </p:sp>
    </p:spTree>
    <p:extLst>
      <p:ext uri="{BB962C8B-B14F-4D97-AF65-F5344CB8AC3E}">
        <p14:creationId xmlns:p14="http://schemas.microsoft.com/office/powerpoint/2010/main" val="18085711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C614666D-9A0B-461B-A956-372CA6B5697A}"/>
              </a:ext>
            </a:extLst>
          </p:cNvPr>
          <p:cNvSpPr>
            <a:spLocks xmlns:a="http://schemas.openxmlformats.org/drawingml/2006/main" noGrp="1"/>
          </p:cNvSpPr>
          <p:nvPr/>
        </p:nvSpPr>
        <p:spPr>
          <a:xfrm xmlns:a="http://schemas.openxmlformats.org/drawingml/2006/main">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008194"/>
                </a:solidFill>
                <a:latin typeface="Relative Pro"/>
                <a:ea typeface="Relative Pro"/>
                <a:cs typeface="Relative Pro"/>
              </a:defRPr>
            </a:pPr>
            <a:r>
              <a:rPr sz="975" b="1">
                <a:solidFill>
                  <a:srgbClr val="008194"/>
                </a:solidFill>
                <a:latin typeface="Relative Pro"/>
                <a:ea typeface="Relative Pro"/>
                <a:cs typeface="Relative Pro"/>
              </a:rPr>
              <a:t>AI CODING WORKFLOW SNAPSHOT  ·  ADOPTION MODEL</a:t>
            </a:r>
          </a:p>
        </p:txBody>
      </p:sp>
      <p:sp>
        <p:nvSpPr>
          <p:cNvPr id="2" name="title">
            <a:extLst xmlns:a="http://schemas.openxmlformats.org/drawingml/2006/main">
              <a:ext uri="{FF2B5EF4-FFF2-40B4-BE49-F238E27FC236}">
                <a16:creationId xmlns:a16="http://schemas.microsoft.com/office/drawing/2014/main" id="{D9835513-A501-4F1A-8DB4-1E0417F9AFC9}"/>
              </a:ext>
            </a:extLst>
          </p:cNvPr>
          <p:cNvSpPr>
            <a:spLocks xmlns:a="http://schemas.openxmlformats.org/drawingml/2006/main" noGrp="1"/>
          </p:cNvSpPr>
          <p:nvPr/>
        </p:nvSpPr>
        <p:spPr>
          <a:xfrm xmlns:a="http://schemas.openxmlformats.org/drawingml/2006/main">
            <a:off x="685800" y="7239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925" b="1">
                <a:solidFill>
                  <a:srgbClr val="0C2577"/>
                </a:solidFill>
                <a:latin typeface="Relative Pro"/>
                <a:ea typeface="Relative Pro"/>
                <a:cs typeface="Relative Pro"/>
              </a:defRPr>
            </a:pPr>
            <a:r>
              <a:rPr sz="2925" b="1">
                <a:solidFill>
                  <a:srgbClr val="0C2577"/>
                </a:solidFill>
                <a:latin typeface="Relative Pro"/>
                <a:ea typeface="Relative Pro"/>
                <a:cs typeface="Relative Pro"/>
              </a:rPr>
              <a:t>The Stages of AI Adoption</a:t>
            </a:r>
          </a:p>
        </p:txBody>
      </p:sp>
      <p:sp>
        <p:nvSpPr>
          <p:cNvPr id="3" name="footer-rule-1">
            <a:extLst xmlns:a="http://schemas.openxmlformats.org/drawingml/2006/main">
              <a:ext uri="{FF2B5EF4-FFF2-40B4-BE49-F238E27FC236}">
                <a16:creationId xmlns:a16="http://schemas.microsoft.com/office/drawing/2014/main" id="{48FA0D70-8E1C-47BE-A673-6120D3FD77FD}"/>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 name="footer-1">
            <a:extLst xmlns:a="http://schemas.openxmlformats.org/drawingml/2006/main">
              <a:ext uri="{FF2B5EF4-FFF2-40B4-BE49-F238E27FC236}">
                <a16:creationId xmlns:a16="http://schemas.microsoft.com/office/drawing/2014/main" id="{5E2E2545-543A-4CB7-8BD0-295D3189727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0">
                <a:solidFill>
                  <a:srgbClr val="566370"/>
                </a:solidFill>
                <a:latin typeface="Relative Pro"/>
                <a:ea typeface="Relative Pro"/>
                <a:cs typeface="Relative Pro"/>
              </a:defRPr>
            </a:pPr>
            <a:r>
              <a:rPr sz="975" b="0">
                <a:solidFill>
                  <a:srgbClr val="566370"/>
                </a:solidFill>
                <a:latin typeface="Relative Pro"/>
                <a:ea typeface="Relative Pro"/>
                <a:cs typeface="Relative Pro"/>
              </a:rPr>
              <a:t>AI Engineering Fridays  ·  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6557db830124621"/>
          <a:stretch xmlns:a="http://schemas.openxmlformats.org/drawingml/2006/main"/>
        </p:blipFill>
        <p:spPr>
          <a:xfrm xmlns:a="http://schemas.openxmlformats.org/drawingml/2006/main">
            <a:off x="1714500" y="1385615"/>
            <a:ext cx="8763000" cy="4782094"/>
          </a:xfrm>
          <a:prstGeom xmlns:a="http://schemas.openxmlformats.org/drawingml/2006/main" prst="rect">
            <a:avLst/>
          </a:prstGeom>
        </p:spPr>
      </p:pic>
    </p:spTree>
    <p:extLst>
      <p:ext uri="{BB962C8B-B14F-4D97-AF65-F5344CB8AC3E}">
        <p14:creationId xmlns:p14="http://schemas.microsoft.com/office/powerpoint/2010/main" val="3025731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eyebrow">
            <a:extLst xmlns:a="http://schemas.openxmlformats.org/drawingml/2006/main">
              <a:ext uri="{FF2B5EF4-FFF2-40B4-BE49-F238E27FC236}">
                <a16:creationId xmlns:a16="http://schemas.microsoft.com/office/drawing/2014/main" id="{0DCF47BE-DFE5-4017-B1BE-FC92D56BC148}"/>
              </a:ext>
            </a:extLst>
          </p:cNvPr>
          <p:cNvSpPr>
            <a:spLocks xmlns:a="http://schemas.openxmlformats.org/drawingml/2006/main" noGrp="1"/>
          </p:cNvSpPr>
          <p:nvPr/>
        </p:nvSpPr>
        <p:spPr>
          <a:xfrm xmlns:a="http://schemas.openxmlformats.org/drawingml/2006/main" rot="0">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1">
                <a:solidFill>
                  <a:srgbClr val="008194"/>
                </a:solidFill>
                <a:latin typeface="Relative Pro"/>
                <a:ea typeface="Relative Pro"/>
                <a:cs typeface="Relative Pro"/>
              </a:defRPr>
            </a:pPr>
            <a:r>
              <a:rPr sz="1050" b="1">
                <a:solidFill>
                  <a:srgbClr val="008194"/>
                </a:solidFill>
                <a:latin typeface="Relative Pro"/>
                <a:ea typeface="Relative Pro"/>
                <a:cs typeface="Relative Pro"/>
              </a:rPr>
              <a:t>AI ENGINEERING FRIDAYS  ·  THE PRESSURE POINTS</a:t>
            </a:r>
          </a:p>
        </p:txBody>
      </p:sp>
      <p:sp>
        <p:nvSpPr>
          <p:cNvPr id="2" name="title">
            <a:extLst xmlns:a="http://schemas.openxmlformats.org/drawingml/2006/main">
              <a:ext uri="{FF2B5EF4-FFF2-40B4-BE49-F238E27FC236}">
                <a16:creationId xmlns:a16="http://schemas.microsoft.com/office/drawing/2014/main" id="{50B46A96-9C71-4467-85D7-8F5BBFD15F20}"/>
              </a:ext>
            </a:extLst>
          </p:cNvPr>
          <p:cNvSpPr>
            <a:spLocks xmlns:a="http://schemas.openxmlformats.org/drawingml/2006/main" noGrp="1"/>
          </p:cNvSpPr>
          <p:nvPr/>
        </p:nvSpPr>
        <p:spPr>
          <a:xfrm xmlns:a="http://schemas.openxmlformats.org/drawingml/2006/main" rot="0">
            <a:off x="685800" y="723900"/>
            <a:ext cx="933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51"/>
          </a:bodyPr>
          <a:lstStyle xmlns:a="http://schemas.openxmlformats.org/drawingml/2006/main"/>
          <a:p xmlns:a="http://schemas.openxmlformats.org/drawingml/2006/main">
            <a:pPr algn="l">
              <a:buNone/>
              <a:defRPr sz="3450" b="1">
                <a:solidFill>
                  <a:srgbClr val="0C2577"/>
                </a:solidFill>
                <a:latin typeface="Relative Pro"/>
                <a:ea typeface="Relative Pro"/>
                <a:cs typeface="Relative Pro"/>
              </a:defRPr>
            </a:pPr>
            <a:r>
              <a:rPr sz="3450" b="1">
                <a:solidFill>
                  <a:srgbClr val="0C2577"/>
                </a:solidFill>
                <a:latin typeface="Relative Pro"/>
                <a:ea typeface="Relative Pro"/>
                <a:cs typeface="Relative Pro"/>
              </a:rPr>
              <a:t>Real work escapes the session</a:t>
            </a:r>
          </a:p>
        </p:txBody>
      </p:sp>
      <p:sp>
        <p:nvSpPr>
          <p:cNvPr id="3" name="subtitle">
            <a:extLst xmlns:a="http://schemas.openxmlformats.org/drawingml/2006/main">
              <a:ext uri="{FF2B5EF4-FFF2-40B4-BE49-F238E27FC236}">
                <a16:creationId xmlns:a16="http://schemas.microsoft.com/office/drawing/2014/main" id="{7D55878A-C749-4345-BCB1-91648F12936B}"/>
              </a:ext>
            </a:extLst>
          </p:cNvPr>
          <p:cNvSpPr>
            <a:spLocks xmlns:a="http://schemas.openxmlformats.org/drawingml/2006/main" noGrp="1"/>
          </p:cNvSpPr>
          <p:nvPr/>
        </p:nvSpPr>
        <p:spPr>
          <a:xfrm xmlns:a="http://schemas.openxmlformats.org/drawingml/2006/main" rot="0">
            <a:off x="685800" y="138112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lgn="l">
              <a:buNone/>
              <a:defRPr sz="1500" b="0">
                <a:solidFill>
                  <a:srgbClr val="2B697F"/>
                </a:solidFill>
                <a:latin typeface="Relative Pro"/>
                <a:ea typeface="Relative Pro"/>
                <a:cs typeface="Relative Pro"/>
              </a:defRPr>
            </a:pPr>
            <a:r>
              <a:rPr sz="1500" b="0">
                <a:solidFill>
                  <a:srgbClr val="2B697F"/>
                </a:solidFill>
                <a:latin typeface="Relative Pro"/>
                <a:ea typeface="Relative Pro"/>
                <a:cs typeface="Relative Pro"/>
              </a:rPr>
              <a:t>Markdown can carry this—but each pressure adds another convention.</a:t>
            </a:r>
          </a:p>
        </p:txBody>
      </p:sp>
      <p:sp>
        <p:nvSpPr>
          <p:cNvPr id="4" name="count-header">
            <a:extLst xmlns:a="http://schemas.openxmlformats.org/drawingml/2006/main">
              <a:ext uri="{FF2B5EF4-FFF2-40B4-BE49-F238E27FC236}">
                <a16:creationId xmlns:a16="http://schemas.microsoft.com/office/drawing/2014/main" id="{FB1C5206-9B1A-4E9E-9AED-FA3800CDC485}"/>
              </a:ext>
            </a:extLst>
          </p:cNvPr>
          <p:cNvSpPr>
            <a:spLocks xmlns:a="http://schemas.openxmlformats.org/drawingml/2006/main" noGrp="1"/>
          </p:cNvSpPr>
          <p:nvPr/>
        </p:nvSpPr>
        <p:spPr>
          <a:xfrm xmlns:a="http://schemas.openxmlformats.org/drawingml/2006/main" rot="0">
            <a:off x="4143375" y="19145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ctr">
              <a:buNone/>
              <a:defRPr sz="1050" b="1">
                <a:solidFill>
                  <a:srgbClr val="0C2577"/>
                </a:solidFill>
                <a:latin typeface="Relative Pro"/>
                <a:ea typeface="Relative Pro"/>
                <a:cs typeface="Relative Pro"/>
              </a:defRPr>
            </a:pPr>
            <a:r>
              <a:rPr sz="1050" b="1">
                <a:solidFill>
                  <a:srgbClr val="0C2577"/>
                </a:solidFill>
                <a:latin typeface="Relative Pro"/>
                <a:ea typeface="Relative Pro"/>
                <a:cs typeface="Relative Pro"/>
              </a:rPr>
              <a:t>WHAT HAPPENS?</a:t>
            </a:r>
          </a:p>
        </p:txBody>
      </p:sp>
      <p:sp>
        <p:nvSpPr>
          <p:cNvPr id="5" name="who-header">
            <a:extLst xmlns:a="http://schemas.openxmlformats.org/drawingml/2006/main">
              <a:ext uri="{FF2B5EF4-FFF2-40B4-BE49-F238E27FC236}">
                <a16:creationId xmlns:a16="http://schemas.microsoft.com/office/drawing/2014/main" id="{9C894F39-2EA2-406B-AD33-82F05836C8B7}"/>
              </a:ext>
            </a:extLst>
          </p:cNvPr>
          <p:cNvSpPr>
            <a:spLocks xmlns:a="http://schemas.openxmlformats.org/drawingml/2006/main" noGrp="1"/>
          </p:cNvSpPr>
          <p:nvPr/>
        </p:nvSpPr>
        <p:spPr>
          <a:xfrm xmlns:a="http://schemas.openxmlformats.org/drawingml/2006/main" rot="0">
            <a:off x="8953500" y="19145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1">
                <a:solidFill>
                  <a:srgbClr val="0C2577"/>
                </a:solidFill>
                <a:latin typeface="Relative Pro"/>
                <a:ea typeface="Relative Pro"/>
                <a:cs typeface="Relative Pro"/>
              </a:defRPr>
            </a:pPr>
            <a:r>
              <a:rPr sz="1050" b="1">
                <a:solidFill>
                  <a:srgbClr val="0C2577"/>
                </a:solidFill>
                <a:latin typeface="Relative Pro"/>
                <a:ea typeface="Relative Pro"/>
                <a:cs typeface="Relative Pro"/>
              </a:rPr>
              <a:t>THE PLAN NOW NEEDS</a:t>
            </a:r>
          </a:p>
        </p:txBody>
      </p:sp>
      <p:sp>
        <p:nvSpPr>
          <p:cNvPr id="6" name="tool-0">
            <a:extLst xmlns:a="http://schemas.openxmlformats.org/drawingml/2006/main">
              <a:ext uri="{FF2B5EF4-FFF2-40B4-BE49-F238E27FC236}">
                <a16:creationId xmlns:a16="http://schemas.microsoft.com/office/drawing/2014/main" id="{2ED8A1F9-3653-4165-AE13-FC7191CBFA62}"/>
              </a:ext>
            </a:extLst>
          </p:cNvPr>
          <p:cNvSpPr>
            <a:spLocks xmlns:a="http://schemas.openxmlformats.org/drawingml/2006/main" noGrp="1"/>
          </p:cNvSpPr>
          <p:nvPr/>
        </p:nvSpPr>
        <p:spPr>
          <a:xfrm xmlns:a="http://schemas.openxmlformats.org/drawingml/2006/main" rot="0">
            <a:off x="876300" y="24193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Several sessions</a:t>
            </a:r>
          </a:p>
        </p:txBody>
      </p:sp>
      <p:sp>
        <p:nvSpPr>
          <p:cNvPr id="7" name="kind-0">
            <a:extLst xmlns:a="http://schemas.openxmlformats.org/drawingml/2006/main">
              <a:ext uri="{FF2B5EF4-FFF2-40B4-BE49-F238E27FC236}">
                <a16:creationId xmlns:a16="http://schemas.microsoft.com/office/drawing/2014/main" id="{74FAFCA1-579A-4312-B6A5-CE5ADCE4F676}"/>
              </a:ext>
            </a:extLst>
          </p:cNvPr>
          <p:cNvSpPr>
            <a:spLocks xmlns:a="http://schemas.openxmlformats.org/drawingml/2006/main" noGrp="1"/>
          </p:cNvSpPr>
          <p:nvPr/>
        </p:nvSpPr>
        <p:spPr>
          <a:xfrm xmlns:a="http://schemas.openxmlformats.org/drawingml/2006/main" rot="0">
            <a:off x="876300" y="27146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Work continues tomorrow</a:t>
            </a:r>
          </a:p>
        </p:txBody>
      </p:sp>
      <p:sp>
        <p:nvSpPr>
          <p:cNvPr id="8" name="track-0">
            <a:extLst xmlns:a="http://schemas.openxmlformats.org/drawingml/2006/main">
              <a:ext uri="{FF2B5EF4-FFF2-40B4-BE49-F238E27FC236}">
                <a16:creationId xmlns:a16="http://schemas.microsoft.com/office/drawing/2014/main" id="{6FFA0D4D-BBE2-4D62-BE26-51F574DD0346}"/>
              </a:ext>
            </a:extLst>
          </p:cNvPr>
          <p:cNvSpPr>
            <a:spLocks xmlns:a="http://schemas.openxmlformats.org/drawingml/2006/main" noGrp="1"/>
          </p:cNvSpPr>
          <p:nvPr/>
        </p:nvSpPr>
        <p:spPr>
          <a:xfrm xmlns:a="http://schemas.openxmlformats.org/drawingml/2006/main">
            <a:off x="4095750" y="256222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9" name="bar-0">
            <a:extLst xmlns:a="http://schemas.openxmlformats.org/drawingml/2006/main">
              <a:ext uri="{FF2B5EF4-FFF2-40B4-BE49-F238E27FC236}">
                <a16:creationId xmlns:a16="http://schemas.microsoft.com/office/drawing/2014/main" id="{AE288DFF-C9F7-4099-B5FC-3C8368B04412}"/>
              </a:ext>
            </a:extLst>
          </p:cNvPr>
          <p:cNvSpPr>
            <a:spLocks xmlns:a="http://schemas.openxmlformats.org/drawingml/2006/main" noGrp="1"/>
          </p:cNvSpPr>
          <p:nvPr/>
        </p:nvSpPr>
        <p:spPr>
          <a:xfrm xmlns:a="http://schemas.openxmlformats.org/drawingml/2006/main">
            <a:off x="4095750" y="2562225"/>
            <a:ext cx="314325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10" name="count-dot-0">
            <a:extLst xmlns:a="http://schemas.openxmlformats.org/drawingml/2006/main">
              <a:ext uri="{FF2B5EF4-FFF2-40B4-BE49-F238E27FC236}">
                <a16:creationId xmlns:a16="http://schemas.microsoft.com/office/drawing/2014/main" id="{08C58B02-A3E4-42E7-92E9-40F7D421021C}"/>
              </a:ext>
            </a:extLst>
          </p:cNvPr>
          <p:cNvSpPr>
            <a:spLocks xmlns:a="http://schemas.openxmlformats.org/drawingml/2006/main" noGrp="1"/>
          </p:cNvSpPr>
          <p:nvPr/>
        </p:nvSpPr>
        <p:spPr>
          <a:xfrm xmlns:a="http://schemas.openxmlformats.org/drawingml/2006/main">
            <a:off x="7067550" y="245745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11" name="count-0">
            <a:extLst xmlns:a="http://schemas.openxmlformats.org/drawingml/2006/main">
              <a:ext uri="{FF2B5EF4-FFF2-40B4-BE49-F238E27FC236}">
                <a16:creationId xmlns:a16="http://schemas.microsoft.com/office/drawing/2014/main" id="{2029673E-609F-40F5-8BF7-2CDD6AC38194}"/>
              </a:ext>
            </a:extLst>
          </p:cNvPr>
          <p:cNvSpPr>
            <a:spLocks xmlns:a="http://schemas.openxmlformats.org/drawingml/2006/main" noGrp="1"/>
          </p:cNvSpPr>
          <p:nvPr/>
        </p:nvSpPr>
        <p:spPr>
          <a:xfrm xmlns:a="http://schemas.openxmlformats.org/drawingml/2006/main" rot="0">
            <a:off x="70675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a:t>
            </a:r>
          </a:p>
        </p:txBody>
      </p:sp>
      <p:sp>
        <p:nvSpPr>
          <p:cNvPr id="12" name="people-0">
            <a:extLst xmlns:a="http://schemas.openxmlformats.org/drawingml/2006/main">
              <a:ext uri="{FF2B5EF4-FFF2-40B4-BE49-F238E27FC236}">
                <a16:creationId xmlns:a16="http://schemas.microsoft.com/office/drawing/2014/main" id="{A05016CF-CBE1-434F-ADFB-7BB33998292A}"/>
              </a:ext>
            </a:extLst>
          </p:cNvPr>
          <p:cNvSpPr>
            <a:spLocks xmlns:a="http://schemas.openxmlformats.org/drawingml/2006/main" noGrp="1"/>
          </p:cNvSpPr>
          <p:nvPr/>
        </p:nvSpPr>
        <p:spPr>
          <a:xfrm xmlns:a="http://schemas.openxmlformats.org/drawingml/2006/main" rot="0">
            <a:off x="8096250" y="25146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State</a:t>
            </a:r>
          </a:p>
        </p:txBody>
      </p:sp>
      <p:sp>
        <p:nvSpPr>
          <p:cNvPr id="13" name="row-rule-0">
            <a:extLst xmlns:a="http://schemas.openxmlformats.org/drawingml/2006/main">
              <a:ext uri="{FF2B5EF4-FFF2-40B4-BE49-F238E27FC236}">
                <a16:creationId xmlns:a16="http://schemas.microsoft.com/office/drawing/2014/main" id="{FB249F42-162A-478A-A446-4702AA9BA5BD}"/>
              </a:ext>
            </a:extLst>
          </p:cNvPr>
          <p:cNvSpPr>
            <a:spLocks xmlns:a="http://schemas.openxmlformats.org/drawingml/2006/main" noGrp="1"/>
          </p:cNvSpPr>
          <p:nvPr/>
        </p:nvSpPr>
        <p:spPr>
          <a:xfrm xmlns:a="http://schemas.openxmlformats.org/drawingml/2006/main">
            <a:off x="685800" y="313372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14" name="tool-1">
            <a:extLst xmlns:a="http://schemas.openxmlformats.org/drawingml/2006/main">
              <a:ext uri="{FF2B5EF4-FFF2-40B4-BE49-F238E27FC236}">
                <a16:creationId xmlns:a16="http://schemas.microsoft.com/office/drawing/2014/main" id="{8B85E11A-B72F-4CAB-AC64-8B9B099C5AB1}"/>
              </a:ext>
            </a:extLst>
          </p:cNvPr>
          <p:cNvSpPr>
            <a:spLocks xmlns:a="http://schemas.openxmlformats.org/drawingml/2006/main" noGrp="1"/>
          </p:cNvSpPr>
          <p:nvPr/>
        </p:nvSpPr>
        <p:spPr>
          <a:xfrm xmlns:a="http://schemas.openxmlformats.org/drawingml/2006/main" rot="0">
            <a:off x="876300" y="3238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New work appears</a:t>
            </a:r>
          </a:p>
        </p:txBody>
      </p:sp>
      <p:sp>
        <p:nvSpPr>
          <p:cNvPr id="15" name="kind-1">
            <a:extLst xmlns:a="http://schemas.openxmlformats.org/drawingml/2006/main">
              <a:ext uri="{FF2B5EF4-FFF2-40B4-BE49-F238E27FC236}">
                <a16:creationId xmlns:a16="http://schemas.microsoft.com/office/drawing/2014/main" id="{B5718566-62F6-48F7-97DB-7E8BAA0C73EE}"/>
              </a:ext>
            </a:extLst>
          </p:cNvPr>
          <p:cNvSpPr>
            <a:spLocks xmlns:a="http://schemas.openxmlformats.org/drawingml/2006/main" noGrp="1"/>
          </p:cNvSpPr>
          <p:nvPr/>
        </p:nvSpPr>
        <p:spPr>
          <a:xfrm xmlns:a="http://schemas.openxmlformats.org/drawingml/2006/main" rot="0">
            <a:off x="876300" y="35337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Execution reveals a bug</a:t>
            </a:r>
          </a:p>
        </p:txBody>
      </p:sp>
      <p:sp>
        <p:nvSpPr>
          <p:cNvPr id="16" name="track-1">
            <a:extLst xmlns:a="http://schemas.openxmlformats.org/drawingml/2006/main">
              <a:ext uri="{FF2B5EF4-FFF2-40B4-BE49-F238E27FC236}">
                <a16:creationId xmlns:a16="http://schemas.microsoft.com/office/drawing/2014/main" id="{696F6BE6-F61A-436D-9C87-FBC8A4202135}"/>
              </a:ext>
            </a:extLst>
          </p:cNvPr>
          <p:cNvSpPr>
            <a:spLocks xmlns:a="http://schemas.openxmlformats.org/drawingml/2006/main" noGrp="1"/>
          </p:cNvSpPr>
          <p:nvPr/>
        </p:nvSpPr>
        <p:spPr>
          <a:xfrm xmlns:a="http://schemas.openxmlformats.org/drawingml/2006/main">
            <a:off x="4095750" y="338137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17" name="bar-1">
            <a:extLst xmlns:a="http://schemas.openxmlformats.org/drawingml/2006/main">
              <a:ext uri="{FF2B5EF4-FFF2-40B4-BE49-F238E27FC236}">
                <a16:creationId xmlns:a16="http://schemas.microsoft.com/office/drawing/2014/main" id="{9A875AD8-994E-44F6-BA8C-EF70865A5123}"/>
              </a:ext>
            </a:extLst>
          </p:cNvPr>
          <p:cNvSpPr>
            <a:spLocks xmlns:a="http://schemas.openxmlformats.org/drawingml/2006/main" noGrp="1"/>
          </p:cNvSpPr>
          <p:nvPr/>
        </p:nvSpPr>
        <p:spPr>
          <a:xfrm xmlns:a="http://schemas.openxmlformats.org/drawingml/2006/main">
            <a:off x="4095750" y="338137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18" name="count-dot-1">
            <a:extLst xmlns:a="http://schemas.openxmlformats.org/drawingml/2006/main">
              <a:ext uri="{FF2B5EF4-FFF2-40B4-BE49-F238E27FC236}">
                <a16:creationId xmlns:a16="http://schemas.microsoft.com/office/drawing/2014/main" id="{044331BB-9ED9-4A0C-963A-E832A38B0B12}"/>
              </a:ext>
            </a:extLst>
          </p:cNvPr>
          <p:cNvSpPr>
            <a:spLocks xmlns:a="http://schemas.openxmlformats.org/drawingml/2006/main" noGrp="1"/>
          </p:cNvSpPr>
          <p:nvPr/>
        </p:nvSpPr>
        <p:spPr>
          <a:xfrm xmlns:a="http://schemas.openxmlformats.org/drawingml/2006/main">
            <a:off x="6019800" y="327660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19" name="count-1">
            <a:extLst xmlns:a="http://schemas.openxmlformats.org/drawingml/2006/main">
              <a:ext uri="{FF2B5EF4-FFF2-40B4-BE49-F238E27FC236}">
                <a16:creationId xmlns:a16="http://schemas.microsoft.com/office/drawing/2014/main" id="{EF00076C-A85F-408F-8917-ABD4FDC7B447}"/>
              </a:ext>
            </a:extLst>
          </p:cNvPr>
          <p:cNvSpPr>
            <a:spLocks xmlns:a="http://schemas.openxmlformats.org/drawingml/2006/main" noGrp="1"/>
          </p:cNvSpPr>
          <p:nvPr/>
        </p:nvSpPr>
        <p:spPr>
          <a:xfrm xmlns:a="http://schemas.openxmlformats.org/drawingml/2006/main" rot="0">
            <a:off x="6019800" y="33337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a:t>
            </a:r>
          </a:p>
        </p:txBody>
      </p:sp>
      <p:sp>
        <p:nvSpPr>
          <p:cNvPr id="20" name="people-1">
            <a:extLst xmlns:a="http://schemas.openxmlformats.org/drawingml/2006/main">
              <a:ext uri="{FF2B5EF4-FFF2-40B4-BE49-F238E27FC236}">
                <a16:creationId xmlns:a16="http://schemas.microsoft.com/office/drawing/2014/main" id="{1C0C1962-E4EB-42B5-A19F-2483BEA01582}"/>
              </a:ext>
            </a:extLst>
          </p:cNvPr>
          <p:cNvSpPr>
            <a:spLocks xmlns:a="http://schemas.openxmlformats.org/drawingml/2006/main" noGrp="1"/>
          </p:cNvSpPr>
          <p:nvPr/>
        </p:nvSpPr>
        <p:spPr>
          <a:xfrm xmlns:a="http://schemas.openxmlformats.org/drawingml/2006/main" rot="0">
            <a:off x="8096250" y="33337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Provenance</a:t>
            </a:r>
          </a:p>
        </p:txBody>
      </p:sp>
      <p:sp>
        <p:nvSpPr>
          <p:cNvPr id="21" name="row-rule-1">
            <a:extLst xmlns:a="http://schemas.openxmlformats.org/drawingml/2006/main">
              <a:ext uri="{FF2B5EF4-FFF2-40B4-BE49-F238E27FC236}">
                <a16:creationId xmlns:a16="http://schemas.microsoft.com/office/drawing/2014/main" id="{ACAABAA6-126D-4CC2-8363-9819E981488C}"/>
              </a:ext>
            </a:extLst>
          </p:cNvPr>
          <p:cNvSpPr>
            <a:spLocks xmlns:a="http://schemas.openxmlformats.org/drawingml/2006/main" noGrp="1"/>
          </p:cNvSpPr>
          <p:nvPr/>
        </p:nvSpPr>
        <p:spPr>
          <a:xfrm xmlns:a="http://schemas.openxmlformats.org/drawingml/2006/main">
            <a:off x="685800" y="395287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22" name="tool-2">
            <a:extLst xmlns:a="http://schemas.openxmlformats.org/drawingml/2006/main">
              <a:ext uri="{FF2B5EF4-FFF2-40B4-BE49-F238E27FC236}">
                <a16:creationId xmlns:a16="http://schemas.microsoft.com/office/drawing/2014/main" id="{B8CE818F-8514-438A-BB73-A01C0471DC67}"/>
              </a:ext>
            </a:extLst>
          </p:cNvPr>
          <p:cNvSpPr>
            <a:spLocks xmlns:a="http://schemas.openxmlformats.org/drawingml/2006/main" noGrp="1"/>
          </p:cNvSpPr>
          <p:nvPr/>
        </p:nvSpPr>
        <p:spPr>
          <a:xfrm xmlns:a="http://schemas.openxmlformats.org/drawingml/2006/main" rot="0">
            <a:off x="876300" y="4057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Dependencies</a:t>
            </a:r>
          </a:p>
        </p:txBody>
      </p:sp>
      <p:sp>
        <p:nvSpPr>
          <p:cNvPr id="23" name="kind-2">
            <a:extLst xmlns:a="http://schemas.openxmlformats.org/drawingml/2006/main">
              <a:ext uri="{FF2B5EF4-FFF2-40B4-BE49-F238E27FC236}">
                <a16:creationId xmlns:a16="http://schemas.microsoft.com/office/drawing/2014/main" id="{C1268AA5-062E-428F-8B88-389EB789C9C9}"/>
              </a:ext>
            </a:extLst>
          </p:cNvPr>
          <p:cNvSpPr>
            <a:spLocks xmlns:a="http://schemas.openxmlformats.org/drawingml/2006/main" noGrp="1"/>
          </p:cNvSpPr>
          <p:nvPr/>
        </p:nvSpPr>
        <p:spPr>
          <a:xfrm xmlns:a="http://schemas.openxmlformats.org/drawingml/2006/main" rot="0">
            <a:off x="876300" y="43529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Task B waits for Task A</a:t>
            </a:r>
          </a:p>
        </p:txBody>
      </p:sp>
      <p:sp>
        <p:nvSpPr>
          <p:cNvPr id="24" name="track-2">
            <a:extLst xmlns:a="http://schemas.openxmlformats.org/drawingml/2006/main">
              <a:ext uri="{FF2B5EF4-FFF2-40B4-BE49-F238E27FC236}">
                <a16:creationId xmlns:a16="http://schemas.microsoft.com/office/drawing/2014/main" id="{CA26178F-0F96-467C-914F-FCC0CAD58222}"/>
              </a:ext>
            </a:extLst>
          </p:cNvPr>
          <p:cNvSpPr>
            <a:spLocks xmlns:a="http://schemas.openxmlformats.org/drawingml/2006/main" noGrp="1"/>
          </p:cNvSpPr>
          <p:nvPr/>
        </p:nvSpPr>
        <p:spPr>
          <a:xfrm xmlns:a="http://schemas.openxmlformats.org/drawingml/2006/main">
            <a:off x="4095750" y="420052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25" name="bar-2">
            <a:extLst xmlns:a="http://schemas.openxmlformats.org/drawingml/2006/main">
              <a:ext uri="{FF2B5EF4-FFF2-40B4-BE49-F238E27FC236}">
                <a16:creationId xmlns:a16="http://schemas.microsoft.com/office/drawing/2014/main" id="{E2B27E75-921D-44C5-B1A4-30632662978E}"/>
              </a:ext>
            </a:extLst>
          </p:cNvPr>
          <p:cNvSpPr>
            <a:spLocks xmlns:a="http://schemas.openxmlformats.org/drawingml/2006/main" noGrp="1"/>
          </p:cNvSpPr>
          <p:nvPr/>
        </p:nvSpPr>
        <p:spPr>
          <a:xfrm xmlns:a="http://schemas.openxmlformats.org/drawingml/2006/main">
            <a:off x="4095750" y="420052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26" name="count-dot-2">
            <a:extLst xmlns:a="http://schemas.openxmlformats.org/drawingml/2006/main">
              <a:ext uri="{FF2B5EF4-FFF2-40B4-BE49-F238E27FC236}">
                <a16:creationId xmlns:a16="http://schemas.microsoft.com/office/drawing/2014/main" id="{7E954652-70E2-4FEC-A620-CB0A9CE012E5}"/>
              </a:ext>
            </a:extLst>
          </p:cNvPr>
          <p:cNvSpPr>
            <a:spLocks xmlns:a="http://schemas.openxmlformats.org/drawingml/2006/main" noGrp="1"/>
          </p:cNvSpPr>
          <p:nvPr/>
        </p:nvSpPr>
        <p:spPr>
          <a:xfrm xmlns:a="http://schemas.openxmlformats.org/drawingml/2006/main">
            <a:off x="6019800" y="409575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27" name="count-2">
            <a:extLst xmlns:a="http://schemas.openxmlformats.org/drawingml/2006/main">
              <a:ext uri="{FF2B5EF4-FFF2-40B4-BE49-F238E27FC236}">
                <a16:creationId xmlns:a16="http://schemas.microsoft.com/office/drawing/2014/main" id="{106791A0-6A75-419A-AE80-944FC2B4BEB9}"/>
              </a:ext>
            </a:extLst>
          </p:cNvPr>
          <p:cNvSpPr>
            <a:spLocks xmlns:a="http://schemas.openxmlformats.org/drawingml/2006/main" noGrp="1"/>
          </p:cNvSpPr>
          <p:nvPr/>
        </p:nvSpPr>
        <p:spPr>
          <a:xfrm xmlns:a="http://schemas.openxmlformats.org/drawingml/2006/main" rot="0">
            <a:off x="6019800" y="41529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a:t>
            </a:r>
          </a:p>
        </p:txBody>
      </p:sp>
      <p:sp>
        <p:nvSpPr>
          <p:cNvPr id="28" name="people-2">
            <a:extLst xmlns:a="http://schemas.openxmlformats.org/drawingml/2006/main">
              <a:ext uri="{FF2B5EF4-FFF2-40B4-BE49-F238E27FC236}">
                <a16:creationId xmlns:a16="http://schemas.microsoft.com/office/drawing/2014/main" id="{B01622AC-2AE1-47C8-8A79-73C107455F18}"/>
              </a:ext>
            </a:extLst>
          </p:cNvPr>
          <p:cNvSpPr>
            <a:spLocks xmlns:a="http://schemas.openxmlformats.org/drawingml/2006/main" noGrp="1"/>
          </p:cNvSpPr>
          <p:nvPr/>
        </p:nvSpPr>
        <p:spPr>
          <a:xfrm xmlns:a="http://schemas.openxmlformats.org/drawingml/2006/main" rot="0">
            <a:off x="8096250" y="41529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A graph</a:t>
            </a:r>
          </a:p>
        </p:txBody>
      </p:sp>
      <p:sp>
        <p:nvSpPr>
          <p:cNvPr id="29" name="row-rule-2">
            <a:extLst xmlns:a="http://schemas.openxmlformats.org/drawingml/2006/main">
              <a:ext uri="{FF2B5EF4-FFF2-40B4-BE49-F238E27FC236}">
                <a16:creationId xmlns:a16="http://schemas.microsoft.com/office/drawing/2014/main" id="{4E8FF3AB-B8CB-4975-8AB6-DCD53F25AEB0}"/>
              </a:ext>
            </a:extLst>
          </p:cNvPr>
          <p:cNvSpPr>
            <a:spLocks xmlns:a="http://schemas.openxmlformats.org/drawingml/2006/main" noGrp="1"/>
          </p:cNvSpPr>
          <p:nvPr/>
        </p:nvSpPr>
        <p:spPr>
          <a:xfrm xmlns:a="http://schemas.openxmlformats.org/drawingml/2006/main">
            <a:off x="685800" y="477202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30" name="tool-3">
            <a:extLst xmlns:a="http://schemas.openxmlformats.org/drawingml/2006/main">
              <a:ext uri="{FF2B5EF4-FFF2-40B4-BE49-F238E27FC236}">
                <a16:creationId xmlns:a16="http://schemas.microsoft.com/office/drawing/2014/main" id="{BC65CA02-B707-450A-A5E7-6B5779EC1F2D}"/>
              </a:ext>
            </a:extLst>
          </p:cNvPr>
          <p:cNvSpPr>
            <a:spLocks xmlns:a="http://schemas.openxmlformats.org/drawingml/2006/main" noGrp="1"/>
          </p:cNvSpPr>
          <p:nvPr/>
        </p:nvSpPr>
        <p:spPr>
          <a:xfrm xmlns:a="http://schemas.openxmlformats.org/drawingml/2006/main" rot="0">
            <a:off x="876300" y="4876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A hand-off</a:t>
            </a:r>
          </a:p>
        </p:txBody>
      </p:sp>
      <p:sp>
        <p:nvSpPr>
          <p:cNvPr id="31" name="kind-3">
            <a:extLst xmlns:a="http://schemas.openxmlformats.org/drawingml/2006/main">
              <a:ext uri="{FF2B5EF4-FFF2-40B4-BE49-F238E27FC236}">
                <a16:creationId xmlns:a16="http://schemas.microsoft.com/office/drawing/2014/main" id="{1EC84F41-F4ED-4A54-B6FA-9FF89D3A0175}"/>
              </a:ext>
            </a:extLst>
          </p:cNvPr>
          <p:cNvSpPr>
            <a:spLocks xmlns:a="http://schemas.openxmlformats.org/drawingml/2006/main" noGrp="1"/>
          </p:cNvSpPr>
          <p:nvPr/>
        </p:nvSpPr>
        <p:spPr>
          <a:xfrm xmlns:a="http://schemas.openxmlformats.org/drawingml/2006/main" rot="0">
            <a:off x="876300" y="51720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Another session takes over</a:t>
            </a:r>
          </a:p>
        </p:txBody>
      </p:sp>
      <p:sp>
        <p:nvSpPr>
          <p:cNvPr id="32" name="track-3">
            <a:extLst xmlns:a="http://schemas.openxmlformats.org/drawingml/2006/main">
              <a:ext uri="{FF2B5EF4-FFF2-40B4-BE49-F238E27FC236}">
                <a16:creationId xmlns:a16="http://schemas.microsoft.com/office/drawing/2014/main" id="{73BCFEA3-3BAE-436F-A3FC-E69255CD521B}"/>
              </a:ext>
            </a:extLst>
          </p:cNvPr>
          <p:cNvSpPr>
            <a:spLocks xmlns:a="http://schemas.openxmlformats.org/drawingml/2006/main" noGrp="1"/>
          </p:cNvSpPr>
          <p:nvPr/>
        </p:nvSpPr>
        <p:spPr>
          <a:xfrm xmlns:a="http://schemas.openxmlformats.org/drawingml/2006/main">
            <a:off x="4095750" y="501967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33" name="bar-3">
            <a:extLst xmlns:a="http://schemas.openxmlformats.org/drawingml/2006/main">
              <a:ext uri="{FF2B5EF4-FFF2-40B4-BE49-F238E27FC236}">
                <a16:creationId xmlns:a16="http://schemas.microsoft.com/office/drawing/2014/main" id="{3C56A538-B3AF-4E09-8239-8C17F2115D4E}"/>
              </a:ext>
            </a:extLst>
          </p:cNvPr>
          <p:cNvSpPr>
            <a:spLocks xmlns:a="http://schemas.openxmlformats.org/drawingml/2006/main" noGrp="1"/>
          </p:cNvSpPr>
          <p:nvPr/>
        </p:nvSpPr>
        <p:spPr>
          <a:xfrm xmlns:a="http://schemas.openxmlformats.org/drawingml/2006/main">
            <a:off x="4095750" y="501967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34" name="count-dot-3">
            <a:extLst xmlns:a="http://schemas.openxmlformats.org/drawingml/2006/main">
              <a:ext uri="{FF2B5EF4-FFF2-40B4-BE49-F238E27FC236}">
                <a16:creationId xmlns:a16="http://schemas.microsoft.com/office/drawing/2014/main" id="{8352FBF2-11EE-4215-9D60-AD6C36BC639C}"/>
              </a:ext>
            </a:extLst>
          </p:cNvPr>
          <p:cNvSpPr>
            <a:spLocks xmlns:a="http://schemas.openxmlformats.org/drawingml/2006/main" noGrp="1"/>
          </p:cNvSpPr>
          <p:nvPr/>
        </p:nvSpPr>
        <p:spPr>
          <a:xfrm xmlns:a="http://schemas.openxmlformats.org/drawingml/2006/main">
            <a:off x="6019800" y="491490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35" name="count-3">
            <a:extLst xmlns:a="http://schemas.openxmlformats.org/drawingml/2006/main">
              <a:ext uri="{FF2B5EF4-FFF2-40B4-BE49-F238E27FC236}">
                <a16:creationId xmlns:a16="http://schemas.microsoft.com/office/drawing/2014/main" id="{218C3602-AC28-45F8-97BD-436F70AE3C59}"/>
              </a:ext>
            </a:extLst>
          </p:cNvPr>
          <p:cNvSpPr>
            <a:spLocks xmlns:a="http://schemas.openxmlformats.org/drawingml/2006/main" noGrp="1"/>
          </p:cNvSpPr>
          <p:nvPr/>
        </p:nvSpPr>
        <p:spPr>
          <a:xfrm xmlns:a="http://schemas.openxmlformats.org/drawingml/2006/main" rot="0">
            <a:off x="6019800" y="49720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a:t>
            </a:r>
          </a:p>
        </p:txBody>
      </p:sp>
      <p:sp>
        <p:nvSpPr>
          <p:cNvPr id="36" name="people-3">
            <a:extLst xmlns:a="http://schemas.openxmlformats.org/drawingml/2006/main">
              <a:ext uri="{FF2B5EF4-FFF2-40B4-BE49-F238E27FC236}">
                <a16:creationId xmlns:a16="http://schemas.microsoft.com/office/drawing/2014/main" id="{D4AF6103-CCB9-4D8D-B811-B9AF963EE31D}"/>
              </a:ext>
            </a:extLst>
          </p:cNvPr>
          <p:cNvSpPr>
            <a:spLocks xmlns:a="http://schemas.openxmlformats.org/drawingml/2006/main" noGrp="1"/>
          </p:cNvSpPr>
          <p:nvPr/>
        </p:nvSpPr>
        <p:spPr>
          <a:xfrm xmlns:a="http://schemas.openxmlformats.org/drawingml/2006/main" rot="0">
            <a:off x="8096250" y="49720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Memory</a:t>
            </a:r>
          </a:p>
        </p:txBody>
      </p:sp>
      <p:sp>
        <p:nvSpPr>
          <p:cNvPr id="37" name="row-rule-3">
            <a:extLst xmlns:a="http://schemas.openxmlformats.org/drawingml/2006/main">
              <a:ext uri="{FF2B5EF4-FFF2-40B4-BE49-F238E27FC236}">
                <a16:creationId xmlns:a16="http://schemas.microsoft.com/office/drawing/2014/main" id="{3BFF27DA-093F-444B-BD8B-2D539F74D933}"/>
              </a:ext>
            </a:extLst>
          </p:cNvPr>
          <p:cNvSpPr>
            <a:spLocks xmlns:a="http://schemas.openxmlformats.org/drawingml/2006/main" noGrp="1"/>
          </p:cNvSpPr>
          <p:nvPr/>
        </p:nvSpPr>
        <p:spPr>
          <a:xfrm xmlns:a="http://schemas.openxmlformats.org/drawingml/2006/main">
            <a:off x="685800" y="559117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38" name="note">
            <a:extLst xmlns:a="http://schemas.openxmlformats.org/drawingml/2006/main">
              <a:ext uri="{FF2B5EF4-FFF2-40B4-BE49-F238E27FC236}">
                <a16:creationId xmlns:a16="http://schemas.microsoft.com/office/drawing/2014/main" id="{9261BF10-8624-48C5-BE76-D2758B48C192}"/>
              </a:ext>
            </a:extLst>
          </p:cNvPr>
          <p:cNvSpPr>
            <a:spLocks xmlns:a="http://schemas.openxmlformats.org/drawingml/2006/main" noGrp="1"/>
          </p:cNvSpPr>
          <p:nvPr/>
        </p:nvSpPr>
        <p:spPr>
          <a:xfrm xmlns:a="http://schemas.openxmlformats.org/drawingml/2006/main" rot="0">
            <a:off x="876300" y="59055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buNone/>
              <a:defRPr sz="1350" b="0">
                <a:solidFill>
                  <a:srgbClr val="2B697F"/>
                </a:solidFill>
                <a:latin typeface="Relative Pro"/>
                <a:ea typeface="Relative Pro"/>
                <a:cs typeface="Relative Pro"/>
              </a:defRPr>
            </a:pPr>
            <a:r>
              <a:rPr sz="1350" b="0">
                <a:solidFill>
                  <a:srgbClr val="2B697F"/>
                </a:solidFill>
                <a:latin typeface="Relative Pro"/>
                <a:ea typeface="Relative Pro"/>
                <a:cs typeface="Relative Pro"/>
              </a:rPr>
              <a:t>IDs · status · ownership · dependencies · provenance · hand-off context</a:t>
            </a:r>
          </a:p>
        </p:txBody>
      </p:sp>
      <p:sp>
        <p:nvSpPr>
          <p:cNvPr id="39" name="footer-rule-2">
            <a:extLst xmlns:a="http://schemas.openxmlformats.org/drawingml/2006/main">
              <a:ext uri="{FF2B5EF4-FFF2-40B4-BE49-F238E27FC236}">
                <a16:creationId xmlns:a16="http://schemas.microsoft.com/office/drawing/2014/main" id="{19AE085A-0F0A-42C7-8FA9-4E895CE5BA8A}"/>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0" name="footer-2">
            <a:extLst xmlns:a="http://schemas.openxmlformats.org/drawingml/2006/main">
              <a:ext uri="{FF2B5EF4-FFF2-40B4-BE49-F238E27FC236}">
                <a16:creationId xmlns:a16="http://schemas.microsoft.com/office/drawing/2014/main" id="{7B3305BD-1A52-4FCA-A7A9-BEA5D41D256B}"/>
              </a:ext>
            </a:extLst>
          </p:cNvPr>
          <p:cNvSpPr>
            <a:spLocks xmlns:a="http://schemas.openxmlformats.org/drawingml/2006/main" noGrp="1"/>
          </p:cNvSpPr>
          <p:nvPr/>
        </p:nvSpPr>
        <p:spPr>
          <a:xfrm xmlns:a="http://schemas.openxmlformats.org/drawingml/2006/main" rot="0">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0">
                <a:solidFill>
                  <a:srgbClr val="2B697F"/>
                </a:solidFill>
                <a:latin typeface="Relative Pro"/>
                <a:ea typeface="Relative Pro"/>
                <a:cs typeface="Relative Pro"/>
              </a:defRPr>
            </a:pPr>
            <a:r>
              <a:rPr sz="1050" b="0">
                <a:solidFill>
                  <a:srgbClr val="2B697F"/>
                </a:solidFill>
                <a:latin typeface="Relative Pro"/>
                <a:ea typeface="Relative Pro"/>
                <a:cs typeface="Relative Pro"/>
              </a:rPr>
              <a:t>AI Engineering Fridays  ·  4</a:t>
            </a:r>
          </a:p>
        </p:txBody>
      </p:sp>
    </p:spTree>
    <p:extLst>
      <p:ext uri="{BB962C8B-B14F-4D97-AF65-F5344CB8AC3E}">
        <p14:creationId xmlns:p14="http://schemas.microsoft.com/office/powerpoint/2010/main" val="17613312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C614666D-9A0B-461B-A956-372CA6B5697A}"/>
              </a:ext>
            </a:extLst>
          </p:cNvPr>
          <p:cNvSpPr>
            <a:spLocks xmlns:a="http://schemas.openxmlformats.org/drawingml/2006/main" noGrp="1"/>
          </p:cNvSpPr>
          <p:nvPr/>
        </p:nvSpPr>
        <p:spPr>
          <a:xfrm xmlns:a="http://schemas.openxmlformats.org/drawingml/2006/main">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008194"/>
                </a:solidFill>
                <a:latin typeface="Relative Pro"/>
                <a:ea typeface="Relative Pro"/>
                <a:cs typeface="Relative Pro"/>
              </a:defRPr>
            </a:pPr>
            <a:r>
              <a:rPr sz="975" b="1">
                <a:solidFill>
                  <a:srgbClr val="008194"/>
                </a:solidFill>
                <a:latin typeface="Relative Pro"/>
                <a:ea typeface="Relative Pro"/>
                <a:cs typeface="Relative Pro"/>
              </a:rPr>
              <a:t>AI ENGINEERING FRIDAYS  ·  BEADS</a:t>
            </a:r>
          </a:p>
        </p:txBody>
      </p:sp>
      <p:sp>
        <p:nvSpPr>
          <p:cNvPr id="2" name="title">
            <a:extLst xmlns:a="http://schemas.openxmlformats.org/drawingml/2006/main">
              <a:ext uri="{FF2B5EF4-FFF2-40B4-BE49-F238E27FC236}">
                <a16:creationId xmlns:a16="http://schemas.microsoft.com/office/drawing/2014/main" id="{D9835513-A501-4F1A-8DB4-1E0417F9AFC9}"/>
              </a:ext>
            </a:extLst>
          </p:cNvPr>
          <p:cNvSpPr>
            <a:spLocks xmlns:a="http://schemas.openxmlformats.org/drawingml/2006/main" noGrp="1"/>
          </p:cNvSpPr>
          <p:nvPr/>
        </p:nvSpPr>
        <p:spPr>
          <a:xfrm xmlns:a="http://schemas.openxmlformats.org/drawingml/2006/main">
            <a:off x="685800" y="7239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925" b="1">
                <a:solidFill>
                  <a:srgbClr val="0C2577"/>
                </a:solidFill>
                <a:latin typeface="Relative Pro"/>
                <a:ea typeface="Relative Pro"/>
                <a:cs typeface="Relative Pro"/>
              </a:defRPr>
            </a:pPr>
            <a:r>
              <a:rPr sz="2925" b="1">
                <a:solidFill>
                  <a:srgbClr val="0C2577"/>
                </a:solidFill>
                <a:latin typeface="Relative Pro"/>
                <a:ea typeface="Relative Pro"/>
                <a:cs typeface="Relative Pro"/>
              </a:rPr>
              <a:t>Beads makes the work state explicit</a:t>
            </a:r>
          </a:p>
        </p:txBody>
      </p:sp>
      <p:sp>
        <p:nvSpPr>
          <p:cNvPr id="3" name="footer-rule-1">
            <a:extLst xmlns:a="http://schemas.openxmlformats.org/drawingml/2006/main">
              <a:ext uri="{FF2B5EF4-FFF2-40B4-BE49-F238E27FC236}">
                <a16:creationId xmlns:a16="http://schemas.microsoft.com/office/drawing/2014/main" id="{48FA0D70-8E1C-47BE-A673-6120D3FD77FD}"/>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 name="footer-1">
            <a:extLst xmlns:a="http://schemas.openxmlformats.org/drawingml/2006/main">
              <a:ext uri="{FF2B5EF4-FFF2-40B4-BE49-F238E27FC236}">
                <a16:creationId xmlns:a16="http://schemas.microsoft.com/office/drawing/2014/main" id="{5E2E2545-543A-4CB7-8BD0-295D3189727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0">
                <a:solidFill>
                  <a:srgbClr val="566370"/>
                </a:solidFill>
                <a:latin typeface="Relative Pro"/>
                <a:ea typeface="Relative Pro"/>
                <a:cs typeface="Relative Pro"/>
              </a:defRPr>
            </a:pPr>
            <a:r>
              <a:rPr sz="975" b="0">
                <a:solidFill>
                  <a:srgbClr val="566370"/>
                </a:solidFill>
                <a:latin typeface="Relative Pro"/>
                <a:ea typeface="Relative Pro"/>
                <a:cs typeface="Relative Pro"/>
              </a:rPr>
              <a:t>AI Engineering Fridays  ·  5</a:t>
            </a:r>
          </a:p>
        </p:txBody>
      </p:sp>
      <p:sp>
        <p:nvSpPr>
          <p:cNvPr id="7" name="beads-step-1">
            <a:extLst xmlns:a="http://schemas.openxmlformats.org/drawingml/2006/main">
              <a:ext uri="{FF2B5EF4-FFF2-40B4-BE49-F238E27FC236}">
                <a16:creationId xmlns:a16="http://schemas.microsoft.com/office/drawing/2014/main" id="{1BC54ECD-8C3C-416D-9538-FD378ABD56B8}"/>
              </a:ext>
            </a:extLst>
          </p:cNvPr>
          <p:cNvSpPr>
            <a:spLocks xmlns:a="http://schemas.openxmlformats.org/drawingml/2006/main" noGrp="1"/>
          </p:cNvSpPr>
          <p:nvPr/>
        </p:nvSpPr>
        <p:spPr>
          <a:xfrm xmlns:a="http://schemas.openxmlformats.org/drawingml/2006/main">
            <a:off x="175260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bd prime</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restore context</a:t>
            </a:r>
          </a:p>
        </p:txBody>
      </p:sp>
      <p:sp>
        <p:nvSpPr>
          <p:cNvPr id="8" name="beads-step-2">
            <a:extLst xmlns:a="http://schemas.openxmlformats.org/drawingml/2006/main">
              <a:ext uri="{FF2B5EF4-FFF2-40B4-BE49-F238E27FC236}">
                <a16:creationId xmlns:a16="http://schemas.microsoft.com/office/drawing/2014/main" id="{161EB8AB-7264-46DD-96A8-FA7933411EDB}"/>
              </a:ext>
            </a:extLst>
          </p:cNvPr>
          <p:cNvSpPr>
            <a:spLocks xmlns:a="http://schemas.openxmlformats.org/drawingml/2006/main" noGrp="1"/>
          </p:cNvSpPr>
          <p:nvPr/>
        </p:nvSpPr>
        <p:spPr>
          <a:xfrm xmlns:a="http://schemas.openxmlformats.org/drawingml/2006/main">
            <a:off x="348615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bd ready</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find work</a:t>
            </a:r>
          </a:p>
        </p:txBody>
      </p:sp>
      <p:sp>
        <p:nvSpPr>
          <p:cNvPr id="9" name="beads-step-3">
            <a:extLst xmlns:a="http://schemas.openxmlformats.org/drawingml/2006/main">
              <a:ext uri="{FF2B5EF4-FFF2-40B4-BE49-F238E27FC236}">
                <a16:creationId xmlns:a16="http://schemas.microsoft.com/office/drawing/2014/main" id="{61672731-4358-47B3-AE99-A61AB232C013}"/>
              </a:ext>
            </a:extLst>
          </p:cNvPr>
          <p:cNvSpPr>
            <a:spLocks xmlns:a="http://schemas.openxmlformats.org/drawingml/2006/main" noGrp="1"/>
          </p:cNvSpPr>
          <p:nvPr/>
        </p:nvSpPr>
        <p:spPr>
          <a:xfrm xmlns:a="http://schemas.openxmlformats.org/drawingml/2006/main">
            <a:off x="521970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bd show</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inspect</a:t>
            </a:r>
          </a:p>
        </p:txBody>
      </p:sp>
      <p:sp>
        <p:nvSpPr>
          <p:cNvPr id="10" name="beads-step-4">
            <a:extLst xmlns:a="http://schemas.openxmlformats.org/drawingml/2006/main">
              <a:ext uri="{FF2B5EF4-FFF2-40B4-BE49-F238E27FC236}">
                <a16:creationId xmlns:a16="http://schemas.microsoft.com/office/drawing/2014/main" id="{C5FF1062-3CE8-4C9E-9A72-91A4FCA1D14C}"/>
              </a:ext>
            </a:extLst>
          </p:cNvPr>
          <p:cNvSpPr>
            <a:spLocks xmlns:a="http://schemas.openxmlformats.org/drawingml/2006/main" noGrp="1"/>
          </p:cNvSpPr>
          <p:nvPr/>
        </p:nvSpPr>
        <p:spPr>
          <a:xfrm xmlns:a="http://schemas.openxmlformats.org/drawingml/2006/main">
            <a:off x="695325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bd update</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claim + record</a:t>
            </a:r>
          </a:p>
        </p:txBody>
      </p:sp>
      <p:sp>
        <p:nvSpPr>
          <p:cNvPr id="11" name="beads-step-5">
            <a:extLst xmlns:a="http://schemas.openxmlformats.org/drawingml/2006/main">
              <a:ext uri="{FF2B5EF4-FFF2-40B4-BE49-F238E27FC236}">
                <a16:creationId xmlns:a16="http://schemas.microsoft.com/office/drawing/2014/main" id="{5B4770C5-0D7B-463D-A1C1-956C3BAB5794}"/>
              </a:ext>
            </a:extLst>
          </p:cNvPr>
          <p:cNvSpPr>
            <a:spLocks xmlns:a="http://schemas.openxmlformats.org/drawingml/2006/main" noGrp="1"/>
          </p:cNvSpPr>
          <p:nvPr/>
        </p:nvSpPr>
        <p:spPr>
          <a:xfrm xmlns:a="http://schemas.openxmlformats.org/drawingml/2006/main">
            <a:off x="868680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bd close</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hand off</a:t>
            </a:r>
          </a:p>
        </p:txBody>
      </p:sp>
      <p:sp>
        <p:nvSpPr>
          <p:cNvPr id="12" name="beads-arrow-1">
            <a:extLst xmlns:a="http://schemas.openxmlformats.org/drawingml/2006/main">
              <a:ext uri="{FF2B5EF4-FFF2-40B4-BE49-F238E27FC236}">
                <a16:creationId xmlns:a16="http://schemas.microsoft.com/office/drawing/2014/main" id="{2FC229A4-0FF6-4195-9310-A57A5F698866}"/>
              </a:ext>
            </a:extLst>
          </p:cNvPr>
          <p:cNvSpPr>
            <a:spLocks xmlns:a="http://schemas.openxmlformats.org/drawingml/2006/main" noGrp="1"/>
          </p:cNvSpPr>
          <p:nvPr/>
        </p:nvSpPr>
        <p:spPr>
          <a:xfrm xmlns:a="http://schemas.openxmlformats.org/drawingml/2006/main">
            <a:off x="3181350" y="26765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3" name="beads-arrow-2">
            <a:extLst xmlns:a="http://schemas.openxmlformats.org/drawingml/2006/main">
              <a:ext uri="{FF2B5EF4-FFF2-40B4-BE49-F238E27FC236}">
                <a16:creationId xmlns:a16="http://schemas.microsoft.com/office/drawing/2014/main" id="{F17866EC-D9DF-400B-8C41-DCC0B30CAF1D}"/>
              </a:ext>
            </a:extLst>
          </p:cNvPr>
          <p:cNvSpPr>
            <a:spLocks xmlns:a="http://schemas.openxmlformats.org/drawingml/2006/main" noGrp="1"/>
          </p:cNvSpPr>
          <p:nvPr/>
        </p:nvSpPr>
        <p:spPr>
          <a:xfrm xmlns:a="http://schemas.openxmlformats.org/drawingml/2006/main">
            <a:off x="4914900" y="26765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4" name="beads-arrow-3">
            <a:extLst xmlns:a="http://schemas.openxmlformats.org/drawingml/2006/main">
              <a:ext uri="{FF2B5EF4-FFF2-40B4-BE49-F238E27FC236}">
                <a16:creationId xmlns:a16="http://schemas.microsoft.com/office/drawing/2014/main" id="{7B9FA2FD-CBA2-443D-8EF8-307A380E8BB0}"/>
              </a:ext>
            </a:extLst>
          </p:cNvPr>
          <p:cNvSpPr>
            <a:spLocks xmlns:a="http://schemas.openxmlformats.org/drawingml/2006/main" noGrp="1"/>
          </p:cNvSpPr>
          <p:nvPr/>
        </p:nvSpPr>
        <p:spPr>
          <a:xfrm xmlns:a="http://schemas.openxmlformats.org/drawingml/2006/main">
            <a:off x="6648450" y="26765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5" name="beads-arrow-4">
            <a:extLst xmlns:a="http://schemas.openxmlformats.org/drawingml/2006/main">
              <a:ext uri="{FF2B5EF4-FFF2-40B4-BE49-F238E27FC236}">
                <a16:creationId xmlns:a16="http://schemas.microsoft.com/office/drawing/2014/main" id="{E384A66D-E410-4746-9090-95490367415F}"/>
              </a:ext>
            </a:extLst>
          </p:cNvPr>
          <p:cNvSpPr>
            <a:spLocks xmlns:a="http://schemas.openxmlformats.org/drawingml/2006/main" noGrp="1"/>
          </p:cNvSpPr>
          <p:nvPr/>
        </p:nvSpPr>
        <p:spPr>
          <a:xfrm xmlns:a="http://schemas.openxmlformats.org/drawingml/2006/main">
            <a:off x="8382000" y="26765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6" name="beads-caption">
            <a:extLst xmlns:a="http://schemas.openxmlformats.org/drawingml/2006/main">
              <a:ext uri="{FF2B5EF4-FFF2-40B4-BE49-F238E27FC236}">
                <a16:creationId xmlns:a16="http://schemas.microsoft.com/office/drawing/2014/main" id="{60F3A728-640F-480E-BDF5-0EE1C31CB27B}"/>
              </a:ext>
            </a:extLst>
          </p:cNvPr>
          <p:cNvSpPr>
            <a:spLocks xmlns:a="http://schemas.openxmlformats.org/drawingml/2006/main" noGrp="1"/>
          </p:cNvSpPr>
          <p:nvPr/>
        </p:nvSpPr>
        <p:spPr>
          <a:xfrm xmlns:a="http://schemas.openxmlformats.org/drawingml/2006/main">
            <a:off x="2095500" y="386715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a:solidFill>
                  <a:srgbClr val="2B697F"/>
                </a:solidFill>
                <a:latin typeface="Relative Pro"/>
                <a:ea typeface="Relative Pro"/>
                <a:cs typeface="Relative Pro"/>
              </a:defRPr>
            </a:pPr>
            <a:r>
              <a:rPr sz="1350">
                <a:solidFill>
                  <a:srgbClr val="2B697F"/>
                </a:solidFill>
                <a:latin typeface="Relative Pro"/>
                <a:ea typeface="Relative Pro"/>
                <a:cs typeface="Relative Pro"/>
              </a:rPr>
              <a:t>Discovered work becomes a linked bead—not a lost note</a:t>
            </a:r>
          </a:p>
        </p:txBody>
      </p:sp>
    </p:spTree>
    <p:extLst>
      <p:ext uri="{BB962C8B-B14F-4D97-AF65-F5344CB8AC3E}">
        <p14:creationId xmlns:p14="http://schemas.microsoft.com/office/powerpoint/2010/main" val="18085711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eyebrow">
            <a:extLst xmlns:a="http://schemas.openxmlformats.org/drawingml/2006/main">
              <a:ext uri="{FF2B5EF4-FFF2-40B4-BE49-F238E27FC236}">
                <a16:creationId xmlns:a16="http://schemas.microsoft.com/office/drawing/2014/main" id="{0DCF47BE-DFE5-4017-B1BE-FC92D56BC148}"/>
              </a:ext>
            </a:extLst>
          </p:cNvPr>
          <p:cNvSpPr>
            <a:spLocks xmlns:a="http://schemas.openxmlformats.org/drawingml/2006/main" noGrp="1"/>
          </p:cNvSpPr>
          <p:nvPr/>
        </p:nvSpPr>
        <p:spPr>
          <a:xfrm xmlns:a="http://schemas.openxmlformats.org/drawingml/2006/main" rot="0">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1">
                <a:solidFill>
                  <a:srgbClr val="008194"/>
                </a:solidFill>
                <a:latin typeface="Relative Pro"/>
                <a:ea typeface="Relative Pro"/>
                <a:cs typeface="Relative Pro"/>
              </a:defRPr>
            </a:pPr>
            <a:r>
              <a:rPr sz="1050" b="1">
                <a:solidFill>
                  <a:srgbClr val="008194"/>
                </a:solidFill>
                <a:latin typeface="Relative Pro"/>
                <a:ea typeface="Relative Pro"/>
                <a:cs typeface="Relative Pro"/>
              </a:rPr>
              <a:t>AI ENGINEERING FRIDAYS  ·  LIVE DEMO</a:t>
            </a:r>
          </a:p>
        </p:txBody>
      </p:sp>
      <p:sp>
        <p:nvSpPr>
          <p:cNvPr id="2" name="title">
            <a:extLst xmlns:a="http://schemas.openxmlformats.org/drawingml/2006/main">
              <a:ext uri="{FF2B5EF4-FFF2-40B4-BE49-F238E27FC236}">
                <a16:creationId xmlns:a16="http://schemas.microsoft.com/office/drawing/2014/main" id="{50B46A96-9C71-4467-85D7-8F5BBFD15F20}"/>
              </a:ext>
            </a:extLst>
          </p:cNvPr>
          <p:cNvSpPr>
            <a:spLocks xmlns:a="http://schemas.openxmlformats.org/drawingml/2006/main" noGrp="1"/>
          </p:cNvSpPr>
          <p:nvPr/>
        </p:nvSpPr>
        <p:spPr>
          <a:xfrm xmlns:a="http://schemas.openxmlformats.org/drawingml/2006/main" rot="0">
            <a:off x="685800" y="723900"/>
            <a:ext cx="609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51"/>
          </a:bodyPr>
          <a:lstStyle xmlns:a="http://schemas.openxmlformats.org/drawingml/2006/main"/>
          <a:p xmlns:a="http://schemas.openxmlformats.org/drawingml/2006/main">
            <a:pPr algn="l">
              <a:buNone/>
              <a:defRPr sz="3450" b="1">
                <a:solidFill>
                  <a:srgbClr val="0C2577"/>
                </a:solidFill>
                <a:latin typeface="Relative Pro"/>
                <a:ea typeface="Relative Pro"/>
                <a:cs typeface="Relative Pro"/>
              </a:defRPr>
            </a:pPr>
            <a:r>
              <a:rPr sz="3450" b="1">
                <a:solidFill>
                  <a:srgbClr val="0C2577"/>
                </a:solidFill>
                <a:latin typeface="Relative Pro"/>
                <a:ea typeface="Relative Pro"/>
                <a:cs typeface="Relative Pro"/>
              </a:rPr>
              <a:t>A short beads loop</a:t>
            </a:r>
          </a:p>
        </p:txBody>
      </p:sp>
      <p:sp>
        <p:nvSpPr>
          <p:cNvPr id="3" name="subtitle">
            <a:extLst xmlns:a="http://schemas.openxmlformats.org/drawingml/2006/main">
              <a:ext uri="{FF2B5EF4-FFF2-40B4-BE49-F238E27FC236}">
                <a16:creationId xmlns:a16="http://schemas.microsoft.com/office/drawing/2014/main" id="{7D55878A-C749-4345-BCB1-91648F12936B}"/>
              </a:ext>
            </a:extLst>
          </p:cNvPr>
          <p:cNvSpPr>
            <a:spLocks xmlns:a="http://schemas.openxmlformats.org/drawingml/2006/main" noGrp="1"/>
          </p:cNvSpPr>
          <p:nvPr/>
        </p:nvSpPr>
        <p:spPr>
          <a:xfrm xmlns:a="http://schemas.openxmlformats.org/drawingml/2006/main" rot="0">
            <a:off x="685800" y="138112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lgn="l">
              <a:buNone/>
              <a:defRPr sz="1500" b="0">
                <a:solidFill>
                  <a:srgbClr val="2B697F"/>
                </a:solidFill>
                <a:latin typeface="Relative Pro"/>
                <a:ea typeface="Relative Pro"/>
                <a:cs typeface="Relative Pro"/>
              </a:defRPr>
            </a:pPr>
            <a:r>
              <a:rPr sz="1500" b="0">
                <a:solidFill>
                  <a:srgbClr val="2B697F"/>
                </a:solidFill>
                <a:latin typeface="Relative Pro"/>
                <a:ea typeface="Relative Pro"/>
                <a:cs typeface="Relative Pro"/>
              </a:rPr>
              <a:t>A fresh session can recover context and leave the next one a clean hand-off.</a:t>
            </a:r>
          </a:p>
        </p:txBody>
      </p:sp>
      <p:sp>
        <p:nvSpPr>
          <p:cNvPr id="4" name="count-header">
            <a:extLst xmlns:a="http://schemas.openxmlformats.org/drawingml/2006/main">
              <a:ext uri="{FF2B5EF4-FFF2-40B4-BE49-F238E27FC236}">
                <a16:creationId xmlns:a16="http://schemas.microsoft.com/office/drawing/2014/main" id="{FB1C5206-9B1A-4E9E-9AED-FA3800CDC485}"/>
              </a:ext>
            </a:extLst>
          </p:cNvPr>
          <p:cNvSpPr>
            <a:spLocks xmlns:a="http://schemas.openxmlformats.org/drawingml/2006/main" noGrp="1"/>
          </p:cNvSpPr>
          <p:nvPr/>
        </p:nvSpPr>
        <p:spPr>
          <a:xfrm xmlns:a="http://schemas.openxmlformats.org/drawingml/2006/main" rot="0">
            <a:off x="4143375" y="19145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ctr">
              <a:buNone/>
              <a:defRPr sz="1050" b="1">
                <a:solidFill>
                  <a:srgbClr val="0C2577"/>
                </a:solidFill>
                <a:latin typeface="Relative Pro"/>
                <a:ea typeface="Relative Pro"/>
                <a:cs typeface="Relative Pro"/>
              </a:defRPr>
            </a:pPr>
            <a:r>
              <a:rPr sz="1050" b="1">
                <a:solidFill>
                  <a:srgbClr val="0C2577"/>
                </a:solidFill>
                <a:latin typeface="Relative Pro"/>
                <a:ea typeface="Relative Pro"/>
                <a:cs typeface="Relative Pro"/>
              </a:rPr>
              <a:t>COMMAND</a:t>
            </a:r>
          </a:p>
        </p:txBody>
      </p:sp>
      <p:sp>
        <p:nvSpPr>
          <p:cNvPr id="5" name="who-header">
            <a:extLst xmlns:a="http://schemas.openxmlformats.org/drawingml/2006/main">
              <a:ext uri="{FF2B5EF4-FFF2-40B4-BE49-F238E27FC236}">
                <a16:creationId xmlns:a16="http://schemas.microsoft.com/office/drawing/2014/main" id="{9C894F39-2EA2-406B-AD33-82F05836C8B7}"/>
              </a:ext>
            </a:extLst>
          </p:cNvPr>
          <p:cNvSpPr>
            <a:spLocks xmlns:a="http://schemas.openxmlformats.org/drawingml/2006/main" noGrp="1"/>
          </p:cNvSpPr>
          <p:nvPr/>
        </p:nvSpPr>
        <p:spPr>
          <a:xfrm xmlns:a="http://schemas.openxmlformats.org/drawingml/2006/main" rot="0">
            <a:off x="8953500" y="19145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1">
                <a:solidFill>
                  <a:srgbClr val="0C2577"/>
                </a:solidFill>
                <a:latin typeface="Relative Pro"/>
                <a:ea typeface="Relative Pro"/>
                <a:cs typeface="Relative Pro"/>
              </a:defRPr>
            </a:pPr>
            <a:r>
              <a:rPr sz="1050" b="1">
                <a:solidFill>
                  <a:srgbClr val="0C2577"/>
                </a:solidFill>
                <a:latin typeface="Relative Pro"/>
                <a:ea typeface="Relative Pro"/>
                <a:cs typeface="Relative Pro"/>
              </a:rPr>
              <a:t>RESULT</a:t>
            </a:r>
          </a:p>
        </p:txBody>
      </p:sp>
      <p:sp>
        <p:nvSpPr>
          <p:cNvPr id="6" name="tool-0">
            <a:extLst xmlns:a="http://schemas.openxmlformats.org/drawingml/2006/main">
              <a:ext uri="{FF2B5EF4-FFF2-40B4-BE49-F238E27FC236}">
                <a16:creationId xmlns:a16="http://schemas.microsoft.com/office/drawing/2014/main" id="{2ED8A1F9-3653-4165-AE13-FC7191CBFA62}"/>
              </a:ext>
            </a:extLst>
          </p:cNvPr>
          <p:cNvSpPr>
            <a:spLocks xmlns:a="http://schemas.openxmlformats.org/drawingml/2006/main" noGrp="1"/>
          </p:cNvSpPr>
          <p:nvPr/>
        </p:nvSpPr>
        <p:spPr>
          <a:xfrm xmlns:a="http://schemas.openxmlformats.org/drawingml/2006/main" rot="0">
            <a:off x="876300" y="24193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bd prime</a:t>
            </a:r>
          </a:p>
        </p:txBody>
      </p:sp>
      <p:sp>
        <p:nvSpPr>
          <p:cNvPr id="7" name="kind-0">
            <a:extLst xmlns:a="http://schemas.openxmlformats.org/drawingml/2006/main">
              <a:ext uri="{FF2B5EF4-FFF2-40B4-BE49-F238E27FC236}">
                <a16:creationId xmlns:a16="http://schemas.microsoft.com/office/drawing/2014/main" id="{74FAFCA1-579A-4312-B6A5-CE5ADCE4F676}"/>
              </a:ext>
            </a:extLst>
          </p:cNvPr>
          <p:cNvSpPr>
            <a:spLocks xmlns:a="http://schemas.openxmlformats.org/drawingml/2006/main" noGrp="1"/>
          </p:cNvSpPr>
          <p:nvPr/>
        </p:nvSpPr>
        <p:spPr>
          <a:xfrm xmlns:a="http://schemas.openxmlformats.org/drawingml/2006/main" rot="0">
            <a:off x="876300" y="27146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Load workflow + project memory</a:t>
            </a:r>
          </a:p>
        </p:txBody>
      </p:sp>
      <p:sp>
        <p:nvSpPr>
          <p:cNvPr id="8" name="track-0">
            <a:extLst xmlns:a="http://schemas.openxmlformats.org/drawingml/2006/main">
              <a:ext uri="{FF2B5EF4-FFF2-40B4-BE49-F238E27FC236}">
                <a16:creationId xmlns:a16="http://schemas.microsoft.com/office/drawing/2014/main" id="{6FFA0D4D-BBE2-4D62-BE26-51F574DD0346}"/>
              </a:ext>
            </a:extLst>
          </p:cNvPr>
          <p:cNvSpPr>
            <a:spLocks xmlns:a="http://schemas.openxmlformats.org/drawingml/2006/main" noGrp="1"/>
          </p:cNvSpPr>
          <p:nvPr/>
        </p:nvSpPr>
        <p:spPr>
          <a:xfrm xmlns:a="http://schemas.openxmlformats.org/drawingml/2006/main">
            <a:off x="4095750" y="256222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9" name="bar-0">
            <a:extLst xmlns:a="http://schemas.openxmlformats.org/drawingml/2006/main">
              <a:ext uri="{FF2B5EF4-FFF2-40B4-BE49-F238E27FC236}">
                <a16:creationId xmlns:a16="http://schemas.microsoft.com/office/drawing/2014/main" id="{AE288DFF-C9F7-4099-B5FC-3C8368B04412}"/>
              </a:ext>
            </a:extLst>
          </p:cNvPr>
          <p:cNvSpPr>
            <a:spLocks xmlns:a="http://schemas.openxmlformats.org/drawingml/2006/main" noGrp="1"/>
          </p:cNvSpPr>
          <p:nvPr/>
        </p:nvSpPr>
        <p:spPr>
          <a:xfrm xmlns:a="http://schemas.openxmlformats.org/drawingml/2006/main">
            <a:off x="4095750" y="2562225"/>
            <a:ext cx="314325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10" name="count-dot-0">
            <a:extLst xmlns:a="http://schemas.openxmlformats.org/drawingml/2006/main">
              <a:ext uri="{FF2B5EF4-FFF2-40B4-BE49-F238E27FC236}">
                <a16:creationId xmlns:a16="http://schemas.microsoft.com/office/drawing/2014/main" id="{08C58B02-A3E4-42E7-92E9-40F7D421021C}"/>
              </a:ext>
            </a:extLst>
          </p:cNvPr>
          <p:cNvSpPr>
            <a:spLocks xmlns:a="http://schemas.openxmlformats.org/drawingml/2006/main" noGrp="1"/>
          </p:cNvSpPr>
          <p:nvPr/>
        </p:nvSpPr>
        <p:spPr>
          <a:xfrm xmlns:a="http://schemas.openxmlformats.org/drawingml/2006/main">
            <a:off x="7067550" y="245745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11" name="count-0">
            <a:extLst xmlns:a="http://schemas.openxmlformats.org/drawingml/2006/main">
              <a:ext uri="{FF2B5EF4-FFF2-40B4-BE49-F238E27FC236}">
                <a16:creationId xmlns:a16="http://schemas.microsoft.com/office/drawing/2014/main" id="{2029673E-609F-40F5-8BF7-2CDD6AC38194}"/>
              </a:ext>
            </a:extLst>
          </p:cNvPr>
          <p:cNvSpPr>
            <a:spLocks xmlns:a="http://schemas.openxmlformats.org/drawingml/2006/main" noGrp="1"/>
          </p:cNvSpPr>
          <p:nvPr/>
        </p:nvSpPr>
        <p:spPr>
          <a:xfrm xmlns:a="http://schemas.openxmlformats.org/drawingml/2006/main" rot="0">
            <a:off x="70675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1</a:t>
            </a:r>
          </a:p>
        </p:txBody>
      </p:sp>
      <p:sp>
        <p:nvSpPr>
          <p:cNvPr id="12" name="people-0">
            <a:extLst xmlns:a="http://schemas.openxmlformats.org/drawingml/2006/main">
              <a:ext uri="{FF2B5EF4-FFF2-40B4-BE49-F238E27FC236}">
                <a16:creationId xmlns:a16="http://schemas.microsoft.com/office/drawing/2014/main" id="{A05016CF-CBE1-434F-ADFB-7BB33998292A}"/>
              </a:ext>
            </a:extLst>
          </p:cNvPr>
          <p:cNvSpPr>
            <a:spLocks xmlns:a="http://schemas.openxmlformats.org/drawingml/2006/main" noGrp="1"/>
          </p:cNvSpPr>
          <p:nvPr/>
        </p:nvSpPr>
        <p:spPr>
          <a:xfrm xmlns:a="http://schemas.openxmlformats.org/drawingml/2006/main" rot="0">
            <a:off x="8096250" y="25146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Orient</a:t>
            </a:r>
          </a:p>
        </p:txBody>
      </p:sp>
      <p:sp>
        <p:nvSpPr>
          <p:cNvPr id="13" name="row-rule-0">
            <a:extLst xmlns:a="http://schemas.openxmlformats.org/drawingml/2006/main">
              <a:ext uri="{FF2B5EF4-FFF2-40B4-BE49-F238E27FC236}">
                <a16:creationId xmlns:a16="http://schemas.microsoft.com/office/drawing/2014/main" id="{FB249F42-162A-478A-A446-4702AA9BA5BD}"/>
              </a:ext>
            </a:extLst>
          </p:cNvPr>
          <p:cNvSpPr>
            <a:spLocks xmlns:a="http://schemas.openxmlformats.org/drawingml/2006/main" noGrp="1"/>
          </p:cNvSpPr>
          <p:nvPr/>
        </p:nvSpPr>
        <p:spPr>
          <a:xfrm xmlns:a="http://schemas.openxmlformats.org/drawingml/2006/main">
            <a:off x="685800" y="313372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14" name="tool-1">
            <a:extLst xmlns:a="http://schemas.openxmlformats.org/drawingml/2006/main">
              <a:ext uri="{FF2B5EF4-FFF2-40B4-BE49-F238E27FC236}">
                <a16:creationId xmlns:a16="http://schemas.microsoft.com/office/drawing/2014/main" id="{8B85E11A-B72F-4CAB-AC64-8B9B099C5AB1}"/>
              </a:ext>
            </a:extLst>
          </p:cNvPr>
          <p:cNvSpPr>
            <a:spLocks xmlns:a="http://schemas.openxmlformats.org/drawingml/2006/main" noGrp="1"/>
          </p:cNvSpPr>
          <p:nvPr/>
        </p:nvSpPr>
        <p:spPr>
          <a:xfrm xmlns:a="http://schemas.openxmlformats.org/drawingml/2006/main" rot="0">
            <a:off x="876300" y="3238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bd ready</a:t>
            </a:r>
          </a:p>
        </p:txBody>
      </p:sp>
      <p:sp>
        <p:nvSpPr>
          <p:cNvPr id="15" name="kind-1">
            <a:extLst xmlns:a="http://schemas.openxmlformats.org/drawingml/2006/main">
              <a:ext uri="{FF2B5EF4-FFF2-40B4-BE49-F238E27FC236}">
                <a16:creationId xmlns:a16="http://schemas.microsoft.com/office/drawing/2014/main" id="{B5718566-62F6-48F7-97DB-7E8BAA0C73EE}"/>
              </a:ext>
            </a:extLst>
          </p:cNvPr>
          <p:cNvSpPr>
            <a:spLocks xmlns:a="http://schemas.openxmlformats.org/drawingml/2006/main" noGrp="1"/>
          </p:cNvSpPr>
          <p:nvPr/>
        </p:nvSpPr>
        <p:spPr>
          <a:xfrm xmlns:a="http://schemas.openxmlformats.org/drawingml/2006/main" rot="0">
            <a:off x="876300" y="35337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Find work with no open blockers</a:t>
            </a:r>
          </a:p>
        </p:txBody>
      </p:sp>
      <p:sp>
        <p:nvSpPr>
          <p:cNvPr id="16" name="track-1">
            <a:extLst xmlns:a="http://schemas.openxmlformats.org/drawingml/2006/main">
              <a:ext uri="{FF2B5EF4-FFF2-40B4-BE49-F238E27FC236}">
                <a16:creationId xmlns:a16="http://schemas.microsoft.com/office/drawing/2014/main" id="{696F6BE6-F61A-436D-9C87-FBC8A4202135}"/>
              </a:ext>
            </a:extLst>
          </p:cNvPr>
          <p:cNvSpPr>
            <a:spLocks xmlns:a="http://schemas.openxmlformats.org/drawingml/2006/main" noGrp="1"/>
          </p:cNvSpPr>
          <p:nvPr/>
        </p:nvSpPr>
        <p:spPr>
          <a:xfrm xmlns:a="http://schemas.openxmlformats.org/drawingml/2006/main">
            <a:off x="4095750" y="338137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17" name="bar-1">
            <a:extLst xmlns:a="http://schemas.openxmlformats.org/drawingml/2006/main">
              <a:ext uri="{FF2B5EF4-FFF2-40B4-BE49-F238E27FC236}">
                <a16:creationId xmlns:a16="http://schemas.microsoft.com/office/drawing/2014/main" id="{9A875AD8-994E-44F6-BA8C-EF70865A5123}"/>
              </a:ext>
            </a:extLst>
          </p:cNvPr>
          <p:cNvSpPr>
            <a:spLocks xmlns:a="http://schemas.openxmlformats.org/drawingml/2006/main" noGrp="1"/>
          </p:cNvSpPr>
          <p:nvPr/>
        </p:nvSpPr>
        <p:spPr>
          <a:xfrm xmlns:a="http://schemas.openxmlformats.org/drawingml/2006/main">
            <a:off x="4095750" y="338137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18" name="count-dot-1">
            <a:extLst xmlns:a="http://schemas.openxmlformats.org/drawingml/2006/main">
              <a:ext uri="{FF2B5EF4-FFF2-40B4-BE49-F238E27FC236}">
                <a16:creationId xmlns:a16="http://schemas.microsoft.com/office/drawing/2014/main" id="{044331BB-9ED9-4A0C-963A-E832A38B0B12}"/>
              </a:ext>
            </a:extLst>
          </p:cNvPr>
          <p:cNvSpPr>
            <a:spLocks xmlns:a="http://schemas.openxmlformats.org/drawingml/2006/main" noGrp="1"/>
          </p:cNvSpPr>
          <p:nvPr/>
        </p:nvSpPr>
        <p:spPr>
          <a:xfrm xmlns:a="http://schemas.openxmlformats.org/drawingml/2006/main">
            <a:off x="6019800" y="327660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19" name="count-1">
            <a:extLst xmlns:a="http://schemas.openxmlformats.org/drawingml/2006/main">
              <a:ext uri="{FF2B5EF4-FFF2-40B4-BE49-F238E27FC236}">
                <a16:creationId xmlns:a16="http://schemas.microsoft.com/office/drawing/2014/main" id="{EF00076C-A85F-408F-8917-ABD4FDC7B447}"/>
              </a:ext>
            </a:extLst>
          </p:cNvPr>
          <p:cNvSpPr>
            <a:spLocks xmlns:a="http://schemas.openxmlformats.org/drawingml/2006/main" noGrp="1"/>
          </p:cNvSpPr>
          <p:nvPr/>
        </p:nvSpPr>
        <p:spPr>
          <a:xfrm xmlns:a="http://schemas.openxmlformats.org/drawingml/2006/main" rot="0">
            <a:off x="6019800" y="33337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2</a:t>
            </a:r>
          </a:p>
        </p:txBody>
      </p:sp>
      <p:sp>
        <p:nvSpPr>
          <p:cNvPr id="20" name="people-1">
            <a:extLst xmlns:a="http://schemas.openxmlformats.org/drawingml/2006/main">
              <a:ext uri="{FF2B5EF4-FFF2-40B4-BE49-F238E27FC236}">
                <a16:creationId xmlns:a16="http://schemas.microsoft.com/office/drawing/2014/main" id="{1C0C1962-E4EB-42B5-A19F-2483BEA01582}"/>
              </a:ext>
            </a:extLst>
          </p:cNvPr>
          <p:cNvSpPr>
            <a:spLocks xmlns:a="http://schemas.openxmlformats.org/drawingml/2006/main" noGrp="1"/>
          </p:cNvSpPr>
          <p:nvPr/>
        </p:nvSpPr>
        <p:spPr>
          <a:xfrm xmlns:a="http://schemas.openxmlformats.org/drawingml/2006/main" rot="0">
            <a:off x="8096250" y="33337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Choose</a:t>
            </a:r>
          </a:p>
        </p:txBody>
      </p:sp>
      <p:sp>
        <p:nvSpPr>
          <p:cNvPr id="21" name="row-rule-1">
            <a:extLst xmlns:a="http://schemas.openxmlformats.org/drawingml/2006/main">
              <a:ext uri="{FF2B5EF4-FFF2-40B4-BE49-F238E27FC236}">
                <a16:creationId xmlns:a16="http://schemas.microsoft.com/office/drawing/2014/main" id="{ACAABAA6-126D-4CC2-8363-9819E981488C}"/>
              </a:ext>
            </a:extLst>
          </p:cNvPr>
          <p:cNvSpPr>
            <a:spLocks xmlns:a="http://schemas.openxmlformats.org/drawingml/2006/main" noGrp="1"/>
          </p:cNvSpPr>
          <p:nvPr/>
        </p:nvSpPr>
        <p:spPr>
          <a:xfrm xmlns:a="http://schemas.openxmlformats.org/drawingml/2006/main">
            <a:off x="685800" y="395287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22" name="tool-2">
            <a:extLst xmlns:a="http://schemas.openxmlformats.org/drawingml/2006/main">
              <a:ext uri="{FF2B5EF4-FFF2-40B4-BE49-F238E27FC236}">
                <a16:creationId xmlns:a16="http://schemas.microsoft.com/office/drawing/2014/main" id="{B8CE818F-8514-438A-BB73-A01C0471DC67}"/>
              </a:ext>
            </a:extLst>
          </p:cNvPr>
          <p:cNvSpPr>
            <a:spLocks xmlns:a="http://schemas.openxmlformats.org/drawingml/2006/main" noGrp="1"/>
          </p:cNvSpPr>
          <p:nvPr/>
        </p:nvSpPr>
        <p:spPr>
          <a:xfrm xmlns:a="http://schemas.openxmlformats.org/drawingml/2006/main" rot="0">
            <a:off x="876300" y="4057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bd show &lt;id&gt;</a:t>
            </a:r>
          </a:p>
        </p:txBody>
      </p:sp>
      <p:sp>
        <p:nvSpPr>
          <p:cNvPr id="23" name="kind-2">
            <a:extLst xmlns:a="http://schemas.openxmlformats.org/drawingml/2006/main">
              <a:ext uri="{FF2B5EF4-FFF2-40B4-BE49-F238E27FC236}">
                <a16:creationId xmlns:a16="http://schemas.microsoft.com/office/drawing/2014/main" id="{C1268AA5-062E-428F-8B88-389EB789C9C9}"/>
              </a:ext>
            </a:extLst>
          </p:cNvPr>
          <p:cNvSpPr>
            <a:spLocks xmlns:a="http://schemas.openxmlformats.org/drawingml/2006/main" noGrp="1"/>
          </p:cNvSpPr>
          <p:nvPr/>
        </p:nvSpPr>
        <p:spPr>
          <a:xfrm xmlns:a="http://schemas.openxmlformats.org/drawingml/2006/main" rot="0">
            <a:off x="876300" y="43529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Inspect one bounded task</a:t>
            </a:r>
          </a:p>
        </p:txBody>
      </p:sp>
      <p:sp>
        <p:nvSpPr>
          <p:cNvPr id="24" name="track-2">
            <a:extLst xmlns:a="http://schemas.openxmlformats.org/drawingml/2006/main">
              <a:ext uri="{FF2B5EF4-FFF2-40B4-BE49-F238E27FC236}">
                <a16:creationId xmlns:a16="http://schemas.microsoft.com/office/drawing/2014/main" id="{CA26178F-0F96-467C-914F-FCC0CAD58222}"/>
              </a:ext>
            </a:extLst>
          </p:cNvPr>
          <p:cNvSpPr>
            <a:spLocks xmlns:a="http://schemas.openxmlformats.org/drawingml/2006/main" noGrp="1"/>
          </p:cNvSpPr>
          <p:nvPr/>
        </p:nvSpPr>
        <p:spPr>
          <a:xfrm xmlns:a="http://schemas.openxmlformats.org/drawingml/2006/main">
            <a:off x="4095750" y="420052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25" name="bar-2">
            <a:extLst xmlns:a="http://schemas.openxmlformats.org/drawingml/2006/main">
              <a:ext uri="{FF2B5EF4-FFF2-40B4-BE49-F238E27FC236}">
                <a16:creationId xmlns:a16="http://schemas.microsoft.com/office/drawing/2014/main" id="{E2B27E75-921D-44C5-B1A4-30632662978E}"/>
              </a:ext>
            </a:extLst>
          </p:cNvPr>
          <p:cNvSpPr>
            <a:spLocks xmlns:a="http://schemas.openxmlformats.org/drawingml/2006/main" noGrp="1"/>
          </p:cNvSpPr>
          <p:nvPr/>
        </p:nvSpPr>
        <p:spPr>
          <a:xfrm xmlns:a="http://schemas.openxmlformats.org/drawingml/2006/main">
            <a:off x="4095750" y="420052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26" name="count-dot-2">
            <a:extLst xmlns:a="http://schemas.openxmlformats.org/drawingml/2006/main">
              <a:ext uri="{FF2B5EF4-FFF2-40B4-BE49-F238E27FC236}">
                <a16:creationId xmlns:a16="http://schemas.microsoft.com/office/drawing/2014/main" id="{7E954652-70E2-4FEC-A620-CB0A9CE012E5}"/>
              </a:ext>
            </a:extLst>
          </p:cNvPr>
          <p:cNvSpPr>
            <a:spLocks xmlns:a="http://schemas.openxmlformats.org/drawingml/2006/main" noGrp="1"/>
          </p:cNvSpPr>
          <p:nvPr/>
        </p:nvSpPr>
        <p:spPr>
          <a:xfrm xmlns:a="http://schemas.openxmlformats.org/drawingml/2006/main">
            <a:off x="6019800" y="409575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27" name="count-2">
            <a:extLst xmlns:a="http://schemas.openxmlformats.org/drawingml/2006/main">
              <a:ext uri="{FF2B5EF4-FFF2-40B4-BE49-F238E27FC236}">
                <a16:creationId xmlns:a16="http://schemas.microsoft.com/office/drawing/2014/main" id="{106791A0-6A75-419A-AE80-944FC2B4BEB9}"/>
              </a:ext>
            </a:extLst>
          </p:cNvPr>
          <p:cNvSpPr>
            <a:spLocks xmlns:a="http://schemas.openxmlformats.org/drawingml/2006/main" noGrp="1"/>
          </p:cNvSpPr>
          <p:nvPr/>
        </p:nvSpPr>
        <p:spPr>
          <a:xfrm xmlns:a="http://schemas.openxmlformats.org/drawingml/2006/main" rot="0">
            <a:off x="6019800" y="41529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3</a:t>
            </a:r>
          </a:p>
        </p:txBody>
      </p:sp>
      <p:sp>
        <p:nvSpPr>
          <p:cNvPr id="28" name="people-2">
            <a:extLst xmlns:a="http://schemas.openxmlformats.org/drawingml/2006/main">
              <a:ext uri="{FF2B5EF4-FFF2-40B4-BE49-F238E27FC236}">
                <a16:creationId xmlns:a16="http://schemas.microsoft.com/office/drawing/2014/main" id="{B01622AC-2AE1-47C8-8A79-73C107455F18}"/>
              </a:ext>
            </a:extLst>
          </p:cNvPr>
          <p:cNvSpPr>
            <a:spLocks xmlns:a="http://schemas.openxmlformats.org/drawingml/2006/main" noGrp="1"/>
          </p:cNvSpPr>
          <p:nvPr/>
        </p:nvSpPr>
        <p:spPr>
          <a:xfrm xmlns:a="http://schemas.openxmlformats.org/drawingml/2006/main" rot="0">
            <a:off x="8096250" y="41529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Understand</a:t>
            </a:r>
          </a:p>
        </p:txBody>
      </p:sp>
      <p:sp>
        <p:nvSpPr>
          <p:cNvPr id="29" name="row-rule-2">
            <a:extLst xmlns:a="http://schemas.openxmlformats.org/drawingml/2006/main">
              <a:ext uri="{FF2B5EF4-FFF2-40B4-BE49-F238E27FC236}">
                <a16:creationId xmlns:a16="http://schemas.microsoft.com/office/drawing/2014/main" id="{4E8FF3AB-B8CB-4975-8AB6-DCD53F25AEB0}"/>
              </a:ext>
            </a:extLst>
          </p:cNvPr>
          <p:cNvSpPr>
            <a:spLocks xmlns:a="http://schemas.openxmlformats.org/drawingml/2006/main" noGrp="1"/>
          </p:cNvSpPr>
          <p:nvPr/>
        </p:nvSpPr>
        <p:spPr>
          <a:xfrm xmlns:a="http://schemas.openxmlformats.org/drawingml/2006/main">
            <a:off x="685800" y="477202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30" name="tool-3">
            <a:extLst xmlns:a="http://schemas.openxmlformats.org/drawingml/2006/main">
              <a:ext uri="{FF2B5EF4-FFF2-40B4-BE49-F238E27FC236}">
                <a16:creationId xmlns:a16="http://schemas.microsoft.com/office/drawing/2014/main" id="{BC65CA02-B707-450A-A5E7-6B5779EC1F2D}"/>
              </a:ext>
            </a:extLst>
          </p:cNvPr>
          <p:cNvSpPr>
            <a:spLocks xmlns:a="http://schemas.openxmlformats.org/drawingml/2006/main" noGrp="1"/>
          </p:cNvSpPr>
          <p:nvPr/>
        </p:nvSpPr>
        <p:spPr>
          <a:xfrm xmlns:a="http://schemas.openxmlformats.org/drawingml/2006/main" rot="0">
            <a:off x="876300" y="4876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update · create · close</a:t>
            </a:r>
          </a:p>
        </p:txBody>
      </p:sp>
      <p:sp>
        <p:nvSpPr>
          <p:cNvPr id="31" name="kind-3">
            <a:extLst xmlns:a="http://schemas.openxmlformats.org/drawingml/2006/main">
              <a:ext uri="{FF2B5EF4-FFF2-40B4-BE49-F238E27FC236}">
                <a16:creationId xmlns:a16="http://schemas.microsoft.com/office/drawing/2014/main" id="{1EC84F41-F4ED-4A54-B6FA-9FF89D3A0175}"/>
              </a:ext>
            </a:extLst>
          </p:cNvPr>
          <p:cNvSpPr>
            <a:spLocks xmlns:a="http://schemas.openxmlformats.org/drawingml/2006/main" noGrp="1"/>
          </p:cNvSpPr>
          <p:nvPr/>
        </p:nvSpPr>
        <p:spPr>
          <a:xfrm xmlns:a="http://schemas.openxmlformats.org/drawingml/2006/main" rot="0">
            <a:off x="876300" y="51720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Act, record discoveries, hand off</a:t>
            </a:r>
          </a:p>
        </p:txBody>
      </p:sp>
      <p:sp>
        <p:nvSpPr>
          <p:cNvPr id="32" name="track-3">
            <a:extLst xmlns:a="http://schemas.openxmlformats.org/drawingml/2006/main">
              <a:ext uri="{FF2B5EF4-FFF2-40B4-BE49-F238E27FC236}">
                <a16:creationId xmlns:a16="http://schemas.microsoft.com/office/drawing/2014/main" id="{73BCFEA3-3BAE-436F-A3FC-E69255CD521B}"/>
              </a:ext>
            </a:extLst>
          </p:cNvPr>
          <p:cNvSpPr>
            <a:spLocks xmlns:a="http://schemas.openxmlformats.org/drawingml/2006/main" noGrp="1"/>
          </p:cNvSpPr>
          <p:nvPr/>
        </p:nvSpPr>
        <p:spPr>
          <a:xfrm xmlns:a="http://schemas.openxmlformats.org/drawingml/2006/main">
            <a:off x="4095750" y="501967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33" name="bar-3">
            <a:extLst xmlns:a="http://schemas.openxmlformats.org/drawingml/2006/main">
              <a:ext uri="{FF2B5EF4-FFF2-40B4-BE49-F238E27FC236}">
                <a16:creationId xmlns:a16="http://schemas.microsoft.com/office/drawing/2014/main" id="{3C56A538-B3AF-4E09-8239-8C17F2115D4E}"/>
              </a:ext>
            </a:extLst>
          </p:cNvPr>
          <p:cNvSpPr>
            <a:spLocks xmlns:a="http://schemas.openxmlformats.org/drawingml/2006/main" noGrp="1"/>
          </p:cNvSpPr>
          <p:nvPr/>
        </p:nvSpPr>
        <p:spPr>
          <a:xfrm xmlns:a="http://schemas.openxmlformats.org/drawingml/2006/main">
            <a:off x="4095750" y="501967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34" name="count-dot-3">
            <a:extLst xmlns:a="http://schemas.openxmlformats.org/drawingml/2006/main">
              <a:ext uri="{FF2B5EF4-FFF2-40B4-BE49-F238E27FC236}">
                <a16:creationId xmlns:a16="http://schemas.microsoft.com/office/drawing/2014/main" id="{8352FBF2-11EE-4215-9D60-AD6C36BC639C}"/>
              </a:ext>
            </a:extLst>
          </p:cNvPr>
          <p:cNvSpPr>
            <a:spLocks xmlns:a="http://schemas.openxmlformats.org/drawingml/2006/main" noGrp="1"/>
          </p:cNvSpPr>
          <p:nvPr/>
        </p:nvSpPr>
        <p:spPr>
          <a:xfrm xmlns:a="http://schemas.openxmlformats.org/drawingml/2006/main">
            <a:off x="6019800" y="491490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35" name="count-3">
            <a:extLst xmlns:a="http://schemas.openxmlformats.org/drawingml/2006/main">
              <a:ext uri="{FF2B5EF4-FFF2-40B4-BE49-F238E27FC236}">
                <a16:creationId xmlns:a16="http://schemas.microsoft.com/office/drawing/2014/main" id="{218C3602-AC28-45F8-97BD-436F70AE3C59}"/>
              </a:ext>
            </a:extLst>
          </p:cNvPr>
          <p:cNvSpPr>
            <a:spLocks xmlns:a="http://schemas.openxmlformats.org/drawingml/2006/main" noGrp="1"/>
          </p:cNvSpPr>
          <p:nvPr/>
        </p:nvSpPr>
        <p:spPr>
          <a:xfrm xmlns:a="http://schemas.openxmlformats.org/drawingml/2006/main" rot="0">
            <a:off x="6019800" y="49720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4</a:t>
            </a:r>
          </a:p>
        </p:txBody>
      </p:sp>
      <p:sp>
        <p:nvSpPr>
          <p:cNvPr id="36" name="people-3">
            <a:extLst xmlns:a="http://schemas.openxmlformats.org/drawingml/2006/main">
              <a:ext uri="{FF2B5EF4-FFF2-40B4-BE49-F238E27FC236}">
                <a16:creationId xmlns:a16="http://schemas.microsoft.com/office/drawing/2014/main" id="{D4AF6103-CCB9-4D8D-B811-B9AF963EE31D}"/>
              </a:ext>
            </a:extLst>
          </p:cNvPr>
          <p:cNvSpPr>
            <a:spLocks xmlns:a="http://schemas.openxmlformats.org/drawingml/2006/main" noGrp="1"/>
          </p:cNvSpPr>
          <p:nvPr/>
        </p:nvSpPr>
        <p:spPr>
          <a:xfrm xmlns:a="http://schemas.openxmlformats.org/drawingml/2006/main" rot="0">
            <a:off x="8096250" y="49720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Continue</a:t>
            </a:r>
          </a:p>
        </p:txBody>
      </p:sp>
      <p:sp>
        <p:nvSpPr>
          <p:cNvPr id="37" name="row-rule-3">
            <a:extLst xmlns:a="http://schemas.openxmlformats.org/drawingml/2006/main">
              <a:ext uri="{FF2B5EF4-FFF2-40B4-BE49-F238E27FC236}">
                <a16:creationId xmlns:a16="http://schemas.microsoft.com/office/drawing/2014/main" id="{3BFF27DA-093F-444B-BD8B-2D539F74D933}"/>
              </a:ext>
            </a:extLst>
          </p:cNvPr>
          <p:cNvSpPr>
            <a:spLocks xmlns:a="http://schemas.openxmlformats.org/drawingml/2006/main" noGrp="1"/>
          </p:cNvSpPr>
          <p:nvPr/>
        </p:nvSpPr>
        <p:spPr>
          <a:xfrm xmlns:a="http://schemas.openxmlformats.org/drawingml/2006/main">
            <a:off x="685800" y="559117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38" name="note">
            <a:extLst xmlns:a="http://schemas.openxmlformats.org/drawingml/2006/main">
              <a:ext uri="{FF2B5EF4-FFF2-40B4-BE49-F238E27FC236}">
                <a16:creationId xmlns:a16="http://schemas.microsoft.com/office/drawing/2014/main" id="{9261BF10-8624-48C5-BE76-D2758B48C192}"/>
              </a:ext>
            </a:extLst>
          </p:cNvPr>
          <p:cNvSpPr>
            <a:spLocks xmlns:a="http://schemas.openxmlformats.org/drawingml/2006/main" noGrp="1"/>
          </p:cNvSpPr>
          <p:nvPr/>
        </p:nvSpPr>
        <p:spPr>
          <a:xfrm xmlns:a="http://schemas.openxmlformats.org/drawingml/2006/main" rot="0">
            <a:off x="876300" y="59055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buNone/>
              <a:defRPr sz="1350" b="0">
                <a:solidFill>
                  <a:srgbClr val="2B697F"/>
                </a:solidFill>
                <a:latin typeface="Relative Pro"/>
                <a:ea typeface="Relative Pro"/>
                <a:cs typeface="Relative Pro"/>
              </a:defRPr>
            </a:pPr>
            <a:r>
              <a:rPr sz="1350" b="0">
                <a:solidFill>
                  <a:srgbClr val="2B697F"/>
                </a:solidFill>
                <a:latin typeface="Relative Pro"/>
                <a:ea typeface="Relative Pro"/>
                <a:cs typeface="Relative Pro"/>
              </a:rPr>
              <a:t>The task graph survives even when the conversation does not.</a:t>
            </a:r>
          </a:p>
        </p:txBody>
      </p:sp>
      <p:sp>
        <p:nvSpPr>
          <p:cNvPr id="39" name="footer-rule-2">
            <a:extLst xmlns:a="http://schemas.openxmlformats.org/drawingml/2006/main">
              <a:ext uri="{FF2B5EF4-FFF2-40B4-BE49-F238E27FC236}">
                <a16:creationId xmlns:a16="http://schemas.microsoft.com/office/drawing/2014/main" id="{19AE085A-0F0A-42C7-8FA9-4E895CE5BA8A}"/>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0" name="footer-2">
            <a:extLst xmlns:a="http://schemas.openxmlformats.org/drawingml/2006/main">
              <a:ext uri="{FF2B5EF4-FFF2-40B4-BE49-F238E27FC236}">
                <a16:creationId xmlns:a16="http://schemas.microsoft.com/office/drawing/2014/main" id="{7B3305BD-1A52-4FCA-A7A9-BEA5D41D256B}"/>
              </a:ext>
            </a:extLst>
          </p:cNvPr>
          <p:cNvSpPr>
            <a:spLocks xmlns:a="http://schemas.openxmlformats.org/drawingml/2006/main" noGrp="1"/>
          </p:cNvSpPr>
          <p:nvPr/>
        </p:nvSpPr>
        <p:spPr>
          <a:xfrm xmlns:a="http://schemas.openxmlformats.org/drawingml/2006/main" rot="0">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0">
                <a:solidFill>
                  <a:srgbClr val="2B697F"/>
                </a:solidFill>
                <a:latin typeface="Relative Pro"/>
                <a:ea typeface="Relative Pro"/>
                <a:cs typeface="Relative Pro"/>
              </a:defRPr>
            </a:pPr>
            <a:r>
              <a:rPr sz="1050" b="0">
                <a:solidFill>
                  <a:srgbClr val="2B697F"/>
                </a:solidFill>
                <a:latin typeface="Relative Pro"/>
                <a:ea typeface="Relative Pro"/>
                <a:cs typeface="Relative Pro"/>
              </a:rPr>
              <a:t>AI Engineering Fridays  ·  6</a:t>
            </a:r>
          </a:p>
        </p:txBody>
      </p:sp>
    </p:spTree>
    <p:extLst>
      <p:ext uri="{BB962C8B-B14F-4D97-AF65-F5344CB8AC3E}">
        <p14:creationId xmlns:p14="http://schemas.microsoft.com/office/powerpoint/2010/main" val="17613312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C614666D-9A0B-461B-A956-372CA6B5697A}"/>
              </a:ext>
            </a:extLst>
          </p:cNvPr>
          <p:cNvSpPr>
            <a:spLocks xmlns:a="http://schemas.openxmlformats.org/drawingml/2006/main" noGrp="1"/>
          </p:cNvSpPr>
          <p:nvPr/>
        </p:nvSpPr>
        <p:spPr>
          <a:xfrm xmlns:a="http://schemas.openxmlformats.org/drawingml/2006/main">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008194"/>
                </a:solidFill>
                <a:latin typeface="Relative Pro"/>
                <a:ea typeface="Relative Pro"/>
                <a:cs typeface="Relative Pro"/>
              </a:defRPr>
            </a:pPr>
            <a:r>
              <a:rPr sz="975" b="1">
                <a:solidFill>
                  <a:srgbClr val="008194"/>
                </a:solidFill>
                <a:latin typeface="Relative Pro"/>
                <a:ea typeface="Relative Pro"/>
                <a:cs typeface="Relative Pro"/>
              </a:rPr>
              <a:t>AI ENGINEERING FRIDAYS  ·  BEADS MAP</a:t>
            </a:r>
          </a:p>
        </p:txBody>
      </p:sp>
      <p:sp>
        <p:nvSpPr>
          <p:cNvPr id="2" name="title">
            <a:extLst xmlns:a="http://schemas.openxmlformats.org/drawingml/2006/main">
              <a:ext uri="{FF2B5EF4-FFF2-40B4-BE49-F238E27FC236}">
                <a16:creationId xmlns:a16="http://schemas.microsoft.com/office/drawing/2014/main" id="{D9835513-A501-4F1A-8DB4-1E0417F9AFC9}"/>
              </a:ext>
            </a:extLst>
          </p:cNvPr>
          <p:cNvSpPr>
            <a:spLocks xmlns:a="http://schemas.openxmlformats.org/drawingml/2006/main" noGrp="1"/>
          </p:cNvSpPr>
          <p:nvPr/>
        </p:nvSpPr>
        <p:spPr>
          <a:xfrm xmlns:a="http://schemas.openxmlformats.org/drawingml/2006/main">
            <a:off x="685800" y="7239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925" b="1">
                <a:solidFill>
                  <a:srgbClr val="0C2577"/>
                </a:solidFill>
                <a:latin typeface="Relative Pro"/>
                <a:ea typeface="Relative Pro"/>
                <a:cs typeface="Relative Pro"/>
              </a:defRPr>
            </a:pPr>
            <a:r>
              <a:rPr sz="2925" b="1">
                <a:solidFill>
                  <a:srgbClr val="0C2577"/>
                </a:solidFill>
                <a:latin typeface="Relative Pro"/>
                <a:ea typeface="Relative Pro"/>
                <a:cs typeface="Relative Pro"/>
              </a:rPr>
              <a:t>Beads Map makes the hand-off visible</a:t>
            </a:r>
          </a:p>
        </p:txBody>
      </p:sp>
      <p:sp>
        <p:nvSpPr>
          <p:cNvPr id="3" name="footer-rule-1">
            <a:extLst xmlns:a="http://schemas.openxmlformats.org/drawingml/2006/main">
              <a:ext uri="{FF2B5EF4-FFF2-40B4-BE49-F238E27FC236}">
                <a16:creationId xmlns:a16="http://schemas.microsoft.com/office/drawing/2014/main" id="{48FA0D70-8E1C-47BE-A673-6120D3FD77FD}"/>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 name="footer-1">
            <a:extLst xmlns:a="http://schemas.openxmlformats.org/drawingml/2006/main">
              <a:ext uri="{FF2B5EF4-FFF2-40B4-BE49-F238E27FC236}">
                <a16:creationId xmlns:a16="http://schemas.microsoft.com/office/drawing/2014/main" id="{5E2E2545-543A-4CB7-8BD0-295D3189727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0">
                <a:solidFill>
                  <a:srgbClr val="566370"/>
                </a:solidFill>
                <a:latin typeface="Relative Pro"/>
                <a:ea typeface="Relative Pro"/>
                <a:cs typeface="Relative Pro"/>
              </a:defRPr>
            </a:pPr>
            <a:r>
              <a:rPr sz="975" b="0">
                <a:solidFill>
                  <a:srgbClr val="566370"/>
                </a:solidFill>
                <a:latin typeface="Relative Pro"/>
                <a:ea typeface="Relative Pro"/>
                <a:cs typeface="Relative Pro"/>
              </a:rPr>
              <a:t>AI Engineering Fridays  ·  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2e2e6c5e31d40a5"/>
          <a:stretch xmlns:a="http://schemas.openxmlformats.org/drawingml/2006/main"/>
        </p:blipFill>
        <p:spPr>
          <a:xfrm xmlns:a="http://schemas.openxmlformats.org/drawingml/2006/main">
            <a:off x="1905000" y="1381125"/>
            <a:ext cx="8382000" cy="4714875"/>
          </a:xfrm>
          <a:prstGeom xmlns:a="http://schemas.openxmlformats.org/drawingml/2006/main" prst="rect">
            <a:avLst/>
          </a:prstGeom>
        </p:spPr>
      </p:pic>
    </p:spTree>
    <p:extLst>
      <p:ext uri="{BB962C8B-B14F-4D97-AF65-F5344CB8AC3E}">
        <p14:creationId xmlns:p14="http://schemas.microsoft.com/office/powerpoint/2010/main" val="18085711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C614666D-9A0B-461B-A956-372CA6B5697A}"/>
              </a:ext>
            </a:extLst>
          </p:cNvPr>
          <p:cNvSpPr>
            <a:spLocks xmlns:a="http://schemas.openxmlformats.org/drawingml/2006/main" noGrp="1"/>
          </p:cNvSpPr>
          <p:nvPr/>
        </p:nvSpPr>
        <p:spPr>
          <a:xfrm xmlns:a="http://schemas.openxmlformats.org/drawingml/2006/main">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008194"/>
                </a:solidFill>
                <a:latin typeface="Relative Pro"/>
                <a:ea typeface="Relative Pro"/>
                <a:cs typeface="Relative Pro"/>
              </a:defRPr>
            </a:pPr>
            <a:r>
              <a:rPr sz="975" b="1">
                <a:solidFill>
                  <a:srgbClr val="008194"/>
                </a:solidFill>
                <a:latin typeface="Relative Pro"/>
                <a:ea typeface="Relative Pro"/>
                <a:cs typeface="Relative Pro"/>
              </a:rPr>
              <a:t>AI ENGINEERING FRIDAYS  ·  PROOF</a:t>
            </a:r>
          </a:p>
        </p:txBody>
      </p:sp>
      <p:sp>
        <p:nvSpPr>
          <p:cNvPr id="2" name="title">
            <a:extLst xmlns:a="http://schemas.openxmlformats.org/drawingml/2006/main">
              <a:ext uri="{FF2B5EF4-FFF2-40B4-BE49-F238E27FC236}">
                <a16:creationId xmlns:a16="http://schemas.microsoft.com/office/drawing/2014/main" id="{D9835513-A501-4F1A-8DB4-1E0417F9AFC9}"/>
              </a:ext>
            </a:extLst>
          </p:cNvPr>
          <p:cNvSpPr>
            <a:spLocks xmlns:a="http://schemas.openxmlformats.org/drawingml/2006/main" noGrp="1"/>
          </p:cNvSpPr>
          <p:nvPr/>
        </p:nvSpPr>
        <p:spPr>
          <a:xfrm xmlns:a="http://schemas.openxmlformats.org/drawingml/2006/main">
            <a:off x="685800" y="7239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925" b="1">
                <a:solidFill>
                  <a:srgbClr val="0C2577"/>
                </a:solidFill>
                <a:latin typeface="Relative Pro"/>
                <a:ea typeface="Relative Pro"/>
                <a:cs typeface="Relative Pro"/>
              </a:defRPr>
            </a:pPr>
            <a:r>
              <a:rPr sz="2925" b="1">
                <a:solidFill>
                  <a:srgbClr val="0C2577"/>
                </a:solidFill>
                <a:latin typeface="Relative Pro"/>
                <a:ea typeface="Relative Pro"/>
                <a:cs typeface="Relative Pro"/>
              </a:rPr>
              <a:t>49 completed beads in seven days</a:t>
            </a:r>
          </a:p>
        </p:txBody>
      </p:sp>
      <p:sp>
        <p:nvSpPr>
          <p:cNvPr id="3" name="footer-rule-1">
            <a:extLst xmlns:a="http://schemas.openxmlformats.org/drawingml/2006/main">
              <a:ext uri="{FF2B5EF4-FFF2-40B4-BE49-F238E27FC236}">
                <a16:creationId xmlns:a16="http://schemas.microsoft.com/office/drawing/2014/main" id="{48FA0D70-8E1C-47BE-A673-6120D3FD77FD}"/>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 name="footer-1">
            <a:extLst xmlns:a="http://schemas.openxmlformats.org/drawingml/2006/main">
              <a:ext uri="{FF2B5EF4-FFF2-40B4-BE49-F238E27FC236}">
                <a16:creationId xmlns:a16="http://schemas.microsoft.com/office/drawing/2014/main" id="{5E2E2545-543A-4CB7-8BD0-295D3189727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0">
                <a:solidFill>
                  <a:srgbClr val="566370"/>
                </a:solidFill>
                <a:latin typeface="Relative Pro"/>
                <a:ea typeface="Relative Pro"/>
                <a:cs typeface="Relative Pro"/>
              </a:defRPr>
            </a:pPr>
            <a:r>
              <a:rPr sz="975" b="0">
                <a:solidFill>
                  <a:srgbClr val="566370"/>
                </a:solidFill>
                <a:latin typeface="Relative Pro"/>
                <a:ea typeface="Relative Pro"/>
                <a:cs typeface="Relative Pro"/>
              </a:rPr>
              <a:t>AI Engineering Fridays  ·  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27d5f2dbe0e4c61"/>
          <a:stretch xmlns:a="http://schemas.openxmlformats.org/drawingml/2006/main"/>
        </p:blipFill>
        <p:spPr>
          <a:xfrm xmlns:a="http://schemas.openxmlformats.org/drawingml/2006/main">
            <a:off x="1905000" y="1381125"/>
            <a:ext cx="8382000" cy="4714875"/>
          </a:xfrm>
          <a:prstGeom xmlns:a="http://schemas.openxmlformats.org/drawingml/2006/main" prst="rect">
            <a:avLst/>
          </a:prstGeom>
        </p:spPr>
      </p:pic>
    </p:spTree>
    <p:extLst>
      <p:ext uri="{BB962C8B-B14F-4D97-AF65-F5344CB8AC3E}">
        <p14:creationId xmlns:p14="http://schemas.microsoft.com/office/powerpoint/2010/main" val="18085711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C614666D-9A0B-461B-A956-372CA6B5697A}"/>
              </a:ext>
            </a:extLst>
          </p:cNvPr>
          <p:cNvSpPr>
            <a:spLocks xmlns:a="http://schemas.openxmlformats.org/drawingml/2006/main" noGrp="1"/>
          </p:cNvSpPr>
          <p:nvPr/>
        </p:nvSpPr>
        <p:spPr>
          <a:xfrm xmlns:a="http://schemas.openxmlformats.org/drawingml/2006/main">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008194"/>
                </a:solidFill>
                <a:latin typeface="Relative Pro"/>
                <a:ea typeface="Relative Pro"/>
                <a:cs typeface="Relative Pro"/>
              </a:defRPr>
            </a:pPr>
            <a:r>
              <a:rPr sz="975" b="1">
                <a:solidFill>
                  <a:srgbClr val="008194"/>
                </a:solidFill>
                <a:latin typeface="Relative Pro"/>
                <a:ea typeface="Relative Pro"/>
                <a:cs typeface="Relative Pro"/>
              </a:rPr>
              <a:t>AI ENGINEERING FRIDAYS  ·  TEAM REPOSITORIES</a:t>
            </a:r>
          </a:p>
        </p:txBody>
      </p:sp>
      <p:sp>
        <p:nvSpPr>
          <p:cNvPr id="2" name="title">
            <a:extLst xmlns:a="http://schemas.openxmlformats.org/drawingml/2006/main">
              <a:ext uri="{FF2B5EF4-FFF2-40B4-BE49-F238E27FC236}">
                <a16:creationId xmlns:a16="http://schemas.microsoft.com/office/drawing/2014/main" id="{D9835513-A501-4F1A-8DB4-1E0417F9AFC9}"/>
              </a:ext>
            </a:extLst>
          </p:cNvPr>
          <p:cNvSpPr>
            <a:spLocks xmlns:a="http://schemas.openxmlformats.org/drawingml/2006/main" noGrp="1"/>
          </p:cNvSpPr>
          <p:nvPr/>
        </p:nvSpPr>
        <p:spPr>
          <a:xfrm xmlns:a="http://schemas.openxmlformats.org/drawingml/2006/main">
            <a:off x="685800" y="7239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925" b="1">
                <a:solidFill>
                  <a:srgbClr val="0C2577"/>
                </a:solidFill>
                <a:latin typeface="Relative Pro"/>
                <a:ea typeface="Relative Pro"/>
                <a:cs typeface="Relative Pro"/>
              </a:defRPr>
            </a:pPr>
            <a:r>
              <a:rPr sz="2925" b="1">
                <a:solidFill>
                  <a:srgbClr val="0C2577"/>
                </a:solidFill>
                <a:latin typeface="Relative Pro"/>
                <a:ea typeface="Relative Pro"/>
                <a:cs typeface="Relative Pro"/>
              </a:rPr>
              <a:t>Yes—with a Git-like collaboration model</a:t>
            </a:r>
          </a:p>
        </p:txBody>
      </p:sp>
      <p:sp>
        <p:nvSpPr>
          <p:cNvPr id="3" name="footer-rule-1">
            <a:extLst xmlns:a="http://schemas.openxmlformats.org/drawingml/2006/main">
              <a:ext uri="{FF2B5EF4-FFF2-40B4-BE49-F238E27FC236}">
                <a16:creationId xmlns:a16="http://schemas.microsoft.com/office/drawing/2014/main" id="{48FA0D70-8E1C-47BE-A673-6120D3FD77FD}"/>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 name="footer-1">
            <a:extLst xmlns:a="http://schemas.openxmlformats.org/drawingml/2006/main">
              <a:ext uri="{FF2B5EF4-FFF2-40B4-BE49-F238E27FC236}">
                <a16:creationId xmlns:a16="http://schemas.microsoft.com/office/drawing/2014/main" id="{5E2E2545-543A-4CB7-8BD0-295D3189727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0">
                <a:solidFill>
                  <a:srgbClr val="566370"/>
                </a:solidFill>
                <a:latin typeface="Relative Pro"/>
                <a:ea typeface="Relative Pro"/>
                <a:cs typeface="Relative Pro"/>
              </a:defRPr>
            </a:pPr>
            <a:r>
              <a:rPr sz="975" b="0">
                <a:solidFill>
                  <a:srgbClr val="566370"/>
                </a:solidFill>
                <a:latin typeface="Relative Pro"/>
                <a:ea typeface="Relative Pro"/>
                <a:cs typeface="Relative Pro"/>
              </a:rPr>
              <a:t>AI Engineering Fridays  ·  9</a:t>
            </a:r>
          </a:p>
        </p:txBody>
      </p:sp>
      <p:sp>
        <p:nvSpPr>
          <p:cNvPr id="7" name="beads-step-1">
            <a:extLst xmlns:a="http://schemas.openxmlformats.org/drawingml/2006/main">
              <a:ext uri="{FF2B5EF4-FFF2-40B4-BE49-F238E27FC236}">
                <a16:creationId xmlns:a16="http://schemas.microsoft.com/office/drawing/2014/main" id="{1BC54ECD-8C3C-416D-9538-FD378ABD56B8}"/>
              </a:ext>
            </a:extLst>
          </p:cNvPr>
          <p:cNvSpPr>
            <a:spLocks xmlns:a="http://schemas.openxmlformats.org/drawingml/2006/main" noGrp="1"/>
          </p:cNvSpPr>
          <p:nvPr/>
        </p:nvSpPr>
        <p:spPr>
          <a:xfrm xmlns:a="http://schemas.openxmlformats.org/drawingml/2006/main">
            <a:off x="175260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Developer /</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agent A</a:t>
            </a:r>
          </a:p>
        </p:txBody>
      </p:sp>
      <p:sp>
        <p:nvSpPr>
          <p:cNvPr id="8" name="beads-step-2">
            <a:extLst xmlns:a="http://schemas.openxmlformats.org/drawingml/2006/main">
              <a:ext uri="{FF2B5EF4-FFF2-40B4-BE49-F238E27FC236}">
                <a16:creationId xmlns:a16="http://schemas.microsoft.com/office/drawing/2014/main" id="{161EB8AB-7264-46DD-96A8-FA7933411EDB}"/>
              </a:ext>
            </a:extLst>
          </p:cNvPr>
          <p:cNvSpPr>
            <a:spLocks xmlns:a="http://schemas.openxmlformats.org/drawingml/2006/main" noGrp="1"/>
          </p:cNvSpPr>
          <p:nvPr/>
        </p:nvSpPr>
        <p:spPr>
          <a:xfrm xmlns:a="http://schemas.openxmlformats.org/drawingml/2006/main">
            <a:off x="348615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local</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Dolt DB</a:t>
            </a:r>
          </a:p>
        </p:txBody>
      </p:sp>
      <p:sp>
        <p:nvSpPr>
          <p:cNvPr id="9" name="beads-step-3">
            <a:extLst xmlns:a="http://schemas.openxmlformats.org/drawingml/2006/main">
              <a:ext uri="{FF2B5EF4-FFF2-40B4-BE49-F238E27FC236}">
                <a16:creationId xmlns:a16="http://schemas.microsoft.com/office/drawing/2014/main" id="{61672731-4358-47B3-AE99-A61AB232C013}"/>
              </a:ext>
            </a:extLst>
          </p:cNvPr>
          <p:cNvSpPr>
            <a:spLocks xmlns:a="http://schemas.openxmlformats.org/drawingml/2006/main" noGrp="1"/>
          </p:cNvSpPr>
          <p:nvPr/>
        </p:nvSpPr>
        <p:spPr>
          <a:xfrm xmlns:a="http://schemas.openxmlformats.org/drawingml/2006/main">
            <a:off x="521970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Git remote</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refs/dolt/data</a:t>
            </a:r>
          </a:p>
        </p:txBody>
      </p:sp>
      <p:sp>
        <p:nvSpPr>
          <p:cNvPr id="10" name="beads-step-4">
            <a:extLst xmlns:a="http://schemas.openxmlformats.org/drawingml/2006/main">
              <a:ext uri="{FF2B5EF4-FFF2-40B4-BE49-F238E27FC236}">
                <a16:creationId xmlns:a16="http://schemas.microsoft.com/office/drawing/2014/main" id="{C5FF1062-3CE8-4C9E-9A72-91A4FCA1D14C}"/>
              </a:ext>
            </a:extLst>
          </p:cNvPr>
          <p:cNvSpPr>
            <a:spLocks xmlns:a="http://schemas.openxmlformats.org/drawingml/2006/main" noGrp="1"/>
          </p:cNvSpPr>
          <p:nvPr/>
        </p:nvSpPr>
        <p:spPr>
          <a:xfrm xmlns:a="http://schemas.openxmlformats.org/drawingml/2006/main">
            <a:off x="695325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local</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Dolt DB</a:t>
            </a:r>
          </a:p>
        </p:txBody>
      </p:sp>
      <p:sp>
        <p:nvSpPr>
          <p:cNvPr id="11" name="beads-step-5">
            <a:extLst xmlns:a="http://schemas.openxmlformats.org/drawingml/2006/main">
              <a:ext uri="{FF2B5EF4-FFF2-40B4-BE49-F238E27FC236}">
                <a16:creationId xmlns:a16="http://schemas.microsoft.com/office/drawing/2014/main" id="{5B4770C5-0D7B-463D-A1C1-956C3BAB5794}"/>
              </a:ext>
            </a:extLst>
          </p:cNvPr>
          <p:cNvSpPr>
            <a:spLocks xmlns:a="http://schemas.openxmlformats.org/drawingml/2006/main" noGrp="1"/>
          </p:cNvSpPr>
          <p:nvPr/>
        </p:nvSpPr>
        <p:spPr>
          <a:xfrm xmlns:a="http://schemas.openxmlformats.org/drawingml/2006/main">
            <a:off x="8686800" y="2381250"/>
            <a:ext cx="1390650" cy="1028700"/>
          </a:xfrm>
          <a:prstGeom xmlns:a="http://schemas.openxmlformats.org/drawingml/2006/main" prst="roundRect">
            <a:avLst>
              <a:gd name="adj" fmla="val 7407"/>
            </a:avLst>
          </a:prstGeom>
          <a:solidFill xmlns:a="http://schemas.openxmlformats.org/drawingml/2006/main">
            <a:srgbClr val="F1FAFB"/>
          </a:solidFill>
          <a:ln xmlns:a="http://schemas.openxmlformats.org/drawingml/2006/main" w="19050">
            <a:solidFill>
              <a:srgbClr val="008194"/>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Developer /</a:t>
            </a:r>
          </a:p>
          <a:p xmlns:a="http://schemas.openxmlformats.org/drawingml/2006/main">
            <a:pPr algn="ctr">
              <a:buNone/>
              <a:defRPr sz="1350" b="1">
                <a:solidFill>
                  <a:srgbClr val="0C2577"/>
                </a:solidFill>
                <a:latin typeface="Relative Pro"/>
                <a:ea typeface="Relative Pro"/>
                <a:cs typeface="Relative Pro"/>
              </a:defRPr>
            </a:pPr>
            <a:r>
              <a:rPr sz="1350" b="1">
                <a:solidFill>
                  <a:srgbClr val="0C2577"/>
                </a:solidFill>
                <a:latin typeface="Relative Pro"/>
                <a:ea typeface="Relative Pro"/>
                <a:cs typeface="Relative Pro"/>
              </a:rPr>
              <a:t>agent B</a:t>
            </a:r>
          </a:p>
        </p:txBody>
      </p:sp>
      <p:sp>
        <p:nvSpPr>
          <p:cNvPr id="12" name="beads-arrow-1">
            <a:extLst xmlns:a="http://schemas.openxmlformats.org/drawingml/2006/main">
              <a:ext uri="{FF2B5EF4-FFF2-40B4-BE49-F238E27FC236}">
                <a16:creationId xmlns:a16="http://schemas.microsoft.com/office/drawing/2014/main" id="{2FC229A4-0FF6-4195-9310-A57A5F698866}"/>
              </a:ext>
            </a:extLst>
          </p:cNvPr>
          <p:cNvSpPr>
            <a:spLocks xmlns:a="http://schemas.openxmlformats.org/drawingml/2006/main" noGrp="1"/>
          </p:cNvSpPr>
          <p:nvPr/>
        </p:nvSpPr>
        <p:spPr>
          <a:xfrm xmlns:a="http://schemas.openxmlformats.org/drawingml/2006/main">
            <a:off x="3181350" y="26765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3" name="beads-arrow-2">
            <a:extLst xmlns:a="http://schemas.openxmlformats.org/drawingml/2006/main">
              <a:ext uri="{FF2B5EF4-FFF2-40B4-BE49-F238E27FC236}">
                <a16:creationId xmlns:a16="http://schemas.microsoft.com/office/drawing/2014/main" id="{F17866EC-D9DF-400B-8C41-DCC0B30CAF1D}"/>
              </a:ext>
            </a:extLst>
          </p:cNvPr>
          <p:cNvSpPr>
            <a:spLocks xmlns:a="http://schemas.openxmlformats.org/drawingml/2006/main" noGrp="1"/>
          </p:cNvSpPr>
          <p:nvPr/>
        </p:nvSpPr>
        <p:spPr>
          <a:xfrm xmlns:a="http://schemas.openxmlformats.org/drawingml/2006/main">
            <a:off x="4914900" y="26765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4" name="beads-arrow-3">
            <a:extLst xmlns:a="http://schemas.openxmlformats.org/drawingml/2006/main">
              <a:ext uri="{FF2B5EF4-FFF2-40B4-BE49-F238E27FC236}">
                <a16:creationId xmlns:a16="http://schemas.microsoft.com/office/drawing/2014/main" id="{7B9FA2FD-CBA2-443D-8EF8-307A380E8BB0}"/>
              </a:ext>
            </a:extLst>
          </p:cNvPr>
          <p:cNvSpPr>
            <a:spLocks xmlns:a="http://schemas.openxmlformats.org/drawingml/2006/main" noGrp="1"/>
          </p:cNvSpPr>
          <p:nvPr/>
        </p:nvSpPr>
        <p:spPr>
          <a:xfrm xmlns:a="http://schemas.openxmlformats.org/drawingml/2006/main">
            <a:off x="6648450" y="26765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5" name="beads-arrow-4">
            <a:extLst xmlns:a="http://schemas.openxmlformats.org/drawingml/2006/main">
              <a:ext uri="{FF2B5EF4-FFF2-40B4-BE49-F238E27FC236}">
                <a16:creationId xmlns:a16="http://schemas.microsoft.com/office/drawing/2014/main" id="{E384A66D-E410-4746-9090-95490367415F}"/>
              </a:ext>
            </a:extLst>
          </p:cNvPr>
          <p:cNvSpPr>
            <a:spLocks xmlns:a="http://schemas.openxmlformats.org/drawingml/2006/main" noGrp="1"/>
          </p:cNvSpPr>
          <p:nvPr/>
        </p:nvSpPr>
        <p:spPr>
          <a:xfrm xmlns:a="http://schemas.openxmlformats.org/drawingml/2006/main">
            <a:off x="8382000" y="26765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8194"/>
                </a:solidFill>
                <a:latin typeface="Relative Pro"/>
                <a:ea typeface="Relative Pro"/>
                <a:cs typeface="Relative Pro"/>
              </a:defRPr>
            </a:pPr>
            <a:r>
              <a:rPr sz="2400" b="1">
                <a:solidFill>
                  <a:srgbClr val="008194"/>
                </a:solidFill>
                <a:latin typeface="Relative Pro"/>
                <a:ea typeface="Relative Pro"/>
                <a:cs typeface="Relative Pro"/>
              </a:rPr>
              <a:t>↔</a:t>
            </a:r>
          </a:p>
        </p:txBody>
      </p:sp>
      <p:sp>
        <p:nvSpPr>
          <p:cNvPr id="16" name="beads-caption">
            <a:extLst xmlns:a="http://schemas.openxmlformats.org/drawingml/2006/main">
              <a:ext uri="{FF2B5EF4-FFF2-40B4-BE49-F238E27FC236}">
                <a16:creationId xmlns:a16="http://schemas.microsoft.com/office/drawing/2014/main" id="{60F3A728-640F-480E-BDF5-0EE1C31CB27B}"/>
              </a:ext>
            </a:extLst>
          </p:cNvPr>
          <p:cNvSpPr>
            <a:spLocks xmlns:a="http://schemas.openxmlformats.org/drawingml/2006/main" noGrp="1"/>
          </p:cNvSpPr>
          <p:nvPr/>
        </p:nvSpPr>
        <p:spPr>
          <a:xfrm xmlns:a="http://schemas.openxmlformats.org/drawingml/2006/main">
            <a:off x="2095500" y="386715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a:solidFill>
                  <a:srgbClr val="2B697F"/>
                </a:solidFill>
                <a:latin typeface="Relative Pro"/>
                <a:ea typeface="Relative Pro"/>
                <a:cs typeface="Relative Pro"/>
              </a:defRPr>
            </a:pPr>
            <a:r>
              <a:rPr sz="1350">
                <a:solidFill>
                  <a:srgbClr val="2B697F"/>
                </a:solidFill>
                <a:latin typeface="Relative Pro"/>
                <a:ea typeface="Relative Pro"/>
                <a:cs typeface="Relative Pro"/>
              </a:rPr>
              <a:t>Shared graph, explicit sync: pull · claim · push—not automatic live updates</a:t>
            </a:r>
          </a:p>
        </p:txBody>
      </p:sp>
    </p:spTree>
    <p:extLst>
      <p:ext uri="{BB962C8B-B14F-4D97-AF65-F5344CB8AC3E}">
        <p14:creationId xmlns:p14="http://schemas.microsoft.com/office/powerpoint/2010/main" val="18085711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eyebrow">
            <a:extLst xmlns:a="http://schemas.openxmlformats.org/drawingml/2006/main">
              <a:ext uri="{FF2B5EF4-FFF2-40B4-BE49-F238E27FC236}">
                <a16:creationId xmlns:a16="http://schemas.microsoft.com/office/drawing/2014/main" id="{0DCF47BE-DFE5-4017-B1BE-FC92D56BC148}"/>
              </a:ext>
            </a:extLst>
          </p:cNvPr>
          <p:cNvSpPr>
            <a:spLocks xmlns:a="http://schemas.openxmlformats.org/drawingml/2006/main" noGrp="1"/>
          </p:cNvSpPr>
          <p:nvPr/>
        </p:nvSpPr>
        <p:spPr>
          <a:xfrm xmlns:a="http://schemas.openxmlformats.org/drawingml/2006/main" rot="0">
            <a:off x="685800" y="4191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1">
                <a:solidFill>
                  <a:srgbClr val="008194"/>
                </a:solidFill>
                <a:latin typeface="Relative Pro"/>
                <a:ea typeface="Relative Pro"/>
                <a:cs typeface="Relative Pro"/>
              </a:defRPr>
            </a:pPr>
            <a:r>
              <a:rPr sz="1050" b="1">
                <a:solidFill>
                  <a:srgbClr val="008194"/>
                </a:solidFill>
                <a:latin typeface="Relative Pro"/>
                <a:ea typeface="Relative Pro"/>
                <a:cs typeface="Relative Pro"/>
              </a:rPr>
              <a:t>AI ENGINEERING FRIDAYS  ·  YOUR TURN</a:t>
            </a:r>
          </a:p>
        </p:txBody>
      </p:sp>
      <p:sp>
        <p:nvSpPr>
          <p:cNvPr id="2" name="title">
            <a:extLst xmlns:a="http://schemas.openxmlformats.org/drawingml/2006/main">
              <a:ext uri="{FF2B5EF4-FFF2-40B4-BE49-F238E27FC236}">
                <a16:creationId xmlns:a16="http://schemas.microsoft.com/office/drawing/2014/main" id="{50B46A96-9C71-4467-85D7-8F5BBFD15F20}"/>
              </a:ext>
            </a:extLst>
          </p:cNvPr>
          <p:cNvSpPr>
            <a:spLocks xmlns:a="http://schemas.openxmlformats.org/drawingml/2006/main" noGrp="1"/>
          </p:cNvSpPr>
          <p:nvPr/>
        </p:nvSpPr>
        <p:spPr>
          <a:xfrm xmlns:a="http://schemas.openxmlformats.org/drawingml/2006/main" rot="0">
            <a:off x="685800" y="723900"/>
            <a:ext cx="609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51"/>
          </a:bodyPr>
          <a:lstStyle xmlns:a="http://schemas.openxmlformats.org/drawingml/2006/main"/>
          <a:p xmlns:a="http://schemas.openxmlformats.org/drawingml/2006/main">
            <a:pPr algn="l">
              <a:buNone/>
              <a:defRPr sz="3450" b="1">
                <a:solidFill>
                  <a:srgbClr val="0C2577"/>
                </a:solidFill>
                <a:latin typeface="Relative Pro"/>
                <a:ea typeface="Relative Pro"/>
                <a:cs typeface="Relative Pro"/>
              </a:defRPr>
            </a:pPr>
            <a:r>
              <a:rPr sz="3450" b="1">
                <a:solidFill>
                  <a:srgbClr val="0C2577"/>
                </a:solidFill>
                <a:latin typeface="Relative Pro"/>
                <a:ea typeface="Relative Pro"/>
                <a:cs typeface="Relative Pro"/>
              </a:rPr>
              <a:t>Try it—and let me know</a:t>
            </a:r>
          </a:p>
        </p:txBody>
      </p:sp>
      <p:sp>
        <p:nvSpPr>
          <p:cNvPr id="3" name="subtitle">
            <a:extLst xmlns:a="http://schemas.openxmlformats.org/drawingml/2006/main">
              <a:ext uri="{FF2B5EF4-FFF2-40B4-BE49-F238E27FC236}">
                <a16:creationId xmlns:a16="http://schemas.microsoft.com/office/drawing/2014/main" id="{7D55878A-C749-4345-BCB1-91648F12936B}"/>
              </a:ext>
            </a:extLst>
          </p:cNvPr>
          <p:cNvSpPr>
            <a:spLocks xmlns:a="http://schemas.openxmlformats.org/drawingml/2006/main" noGrp="1"/>
          </p:cNvSpPr>
          <p:nvPr/>
        </p:nvSpPr>
        <p:spPr>
          <a:xfrm xmlns:a="http://schemas.openxmlformats.org/drawingml/2006/main" rot="0">
            <a:off x="685800" y="138112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000"/>
          </a:bodyPr>
          <a:lstStyle xmlns:a="http://schemas.openxmlformats.org/drawingml/2006/main"/>
          <a:p xmlns:a="http://schemas.openxmlformats.org/drawingml/2006/main">
            <a:pPr algn="l">
              <a:buNone/>
              <a:defRPr sz="1500" b="0">
                <a:solidFill>
                  <a:srgbClr val="2B697F"/>
                </a:solidFill>
                <a:latin typeface="Relative Pro"/>
                <a:ea typeface="Relative Pro"/>
                <a:cs typeface="Relative Pro"/>
              </a:defRPr>
            </a:pPr>
            <a:r>
              <a:rPr sz="1500" b="0">
                <a:solidFill>
                  <a:srgbClr val="2B697F"/>
                </a:solidFill>
                <a:latin typeface="Relative Pro"/>
                <a:ea typeface="Relative Pro"/>
                <a:cs typeface="Relative Pro"/>
              </a:rPr>
              <a:t>Start with one real task that will still matter tomorrow.</a:t>
            </a:r>
          </a:p>
        </p:txBody>
      </p:sp>
      <p:sp>
        <p:nvSpPr>
          <p:cNvPr id="4" name="count-header">
            <a:extLst xmlns:a="http://schemas.openxmlformats.org/drawingml/2006/main">
              <a:ext uri="{FF2B5EF4-FFF2-40B4-BE49-F238E27FC236}">
                <a16:creationId xmlns:a16="http://schemas.microsoft.com/office/drawing/2014/main" id="{FB1C5206-9B1A-4E9E-9AED-FA3800CDC485}"/>
              </a:ext>
            </a:extLst>
          </p:cNvPr>
          <p:cNvSpPr>
            <a:spLocks xmlns:a="http://schemas.openxmlformats.org/drawingml/2006/main" noGrp="1"/>
          </p:cNvSpPr>
          <p:nvPr/>
        </p:nvSpPr>
        <p:spPr>
          <a:xfrm xmlns:a="http://schemas.openxmlformats.org/drawingml/2006/main" rot="0">
            <a:off x="4143375" y="19145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ctr">
              <a:buNone/>
              <a:defRPr sz="1050" b="1">
                <a:solidFill>
                  <a:srgbClr val="0C2577"/>
                </a:solidFill>
                <a:latin typeface="Relative Pro"/>
                <a:ea typeface="Relative Pro"/>
                <a:cs typeface="Relative Pro"/>
              </a:defRPr>
            </a:pPr>
            <a:r>
              <a:rPr sz="1050" b="1">
                <a:solidFill>
                  <a:srgbClr val="0C2577"/>
                </a:solidFill>
                <a:latin typeface="Relative Pro"/>
                <a:ea typeface="Relative Pro"/>
                <a:cs typeface="Relative Pro"/>
              </a:rPr>
              <a:t>FIRST EXPERIMENT</a:t>
            </a:r>
          </a:p>
        </p:txBody>
      </p:sp>
      <p:sp>
        <p:nvSpPr>
          <p:cNvPr id="5" name="who-header">
            <a:extLst xmlns:a="http://schemas.openxmlformats.org/drawingml/2006/main">
              <a:ext uri="{FF2B5EF4-FFF2-40B4-BE49-F238E27FC236}">
                <a16:creationId xmlns:a16="http://schemas.microsoft.com/office/drawing/2014/main" id="{9C894F39-2EA2-406B-AD33-82F05836C8B7}"/>
              </a:ext>
            </a:extLst>
          </p:cNvPr>
          <p:cNvSpPr>
            <a:spLocks xmlns:a="http://schemas.openxmlformats.org/drawingml/2006/main" noGrp="1"/>
          </p:cNvSpPr>
          <p:nvPr/>
        </p:nvSpPr>
        <p:spPr>
          <a:xfrm xmlns:a="http://schemas.openxmlformats.org/drawingml/2006/main" rot="0">
            <a:off x="8953500" y="19145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1">
                <a:solidFill>
                  <a:srgbClr val="0C2577"/>
                </a:solidFill>
                <a:latin typeface="Relative Pro"/>
                <a:ea typeface="Relative Pro"/>
                <a:cs typeface="Relative Pro"/>
              </a:defRPr>
            </a:pPr>
            <a:r>
              <a:rPr sz="1050" b="1">
                <a:solidFill>
                  <a:srgbClr val="0C2577"/>
                </a:solidFill>
                <a:latin typeface="Relative Pro"/>
                <a:ea typeface="Relative Pro"/>
                <a:cs typeface="Relative Pro"/>
              </a:rPr>
              <a:t>OUTCOME</a:t>
            </a:r>
          </a:p>
        </p:txBody>
      </p:sp>
      <p:sp>
        <p:nvSpPr>
          <p:cNvPr id="6" name="tool-0">
            <a:extLst xmlns:a="http://schemas.openxmlformats.org/drawingml/2006/main">
              <a:ext uri="{FF2B5EF4-FFF2-40B4-BE49-F238E27FC236}">
                <a16:creationId xmlns:a16="http://schemas.microsoft.com/office/drawing/2014/main" id="{2ED8A1F9-3653-4165-AE13-FC7191CBFA62}"/>
              </a:ext>
            </a:extLst>
          </p:cNvPr>
          <p:cNvSpPr>
            <a:spLocks xmlns:a="http://schemas.openxmlformats.org/drawingml/2006/main" noGrp="1"/>
          </p:cNvSpPr>
          <p:nvPr/>
        </p:nvSpPr>
        <p:spPr>
          <a:xfrm xmlns:a="http://schemas.openxmlformats.org/drawingml/2006/main" rot="0">
            <a:off x="876300" y="24193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Install</a:t>
            </a:r>
          </a:p>
        </p:txBody>
      </p:sp>
      <p:sp>
        <p:nvSpPr>
          <p:cNvPr id="7" name="kind-0">
            <a:extLst xmlns:a="http://schemas.openxmlformats.org/drawingml/2006/main">
              <a:ext uri="{FF2B5EF4-FFF2-40B4-BE49-F238E27FC236}">
                <a16:creationId xmlns:a16="http://schemas.microsoft.com/office/drawing/2014/main" id="{74FAFCA1-579A-4312-B6A5-CE5ADCE4F676}"/>
              </a:ext>
            </a:extLst>
          </p:cNvPr>
          <p:cNvSpPr>
            <a:spLocks xmlns:a="http://schemas.openxmlformats.org/drawingml/2006/main" noGrp="1"/>
          </p:cNvSpPr>
          <p:nvPr/>
        </p:nvSpPr>
        <p:spPr>
          <a:xfrm xmlns:a="http://schemas.openxmlformats.org/drawingml/2006/main" rot="0">
            <a:off x="876300" y="27146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brew install beads</a:t>
            </a:r>
          </a:p>
        </p:txBody>
      </p:sp>
      <p:sp>
        <p:nvSpPr>
          <p:cNvPr id="8" name="track-0">
            <a:extLst xmlns:a="http://schemas.openxmlformats.org/drawingml/2006/main">
              <a:ext uri="{FF2B5EF4-FFF2-40B4-BE49-F238E27FC236}">
                <a16:creationId xmlns:a16="http://schemas.microsoft.com/office/drawing/2014/main" id="{6FFA0D4D-BBE2-4D62-BE26-51F574DD0346}"/>
              </a:ext>
            </a:extLst>
          </p:cNvPr>
          <p:cNvSpPr>
            <a:spLocks xmlns:a="http://schemas.openxmlformats.org/drawingml/2006/main" noGrp="1"/>
          </p:cNvSpPr>
          <p:nvPr/>
        </p:nvSpPr>
        <p:spPr>
          <a:xfrm xmlns:a="http://schemas.openxmlformats.org/drawingml/2006/main">
            <a:off x="4095750" y="256222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9" name="bar-0">
            <a:extLst xmlns:a="http://schemas.openxmlformats.org/drawingml/2006/main">
              <a:ext uri="{FF2B5EF4-FFF2-40B4-BE49-F238E27FC236}">
                <a16:creationId xmlns:a16="http://schemas.microsoft.com/office/drawing/2014/main" id="{AE288DFF-C9F7-4099-B5FC-3C8368B04412}"/>
              </a:ext>
            </a:extLst>
          </p:cNvPr>
          <p:cNvSpPr>
            <a:spLocks xmlns:a="http://schemas.openxmlformats.org/drawingml/2006/main" noGrp="1"/>
          </p:cNvSpPr>
          <p:nvPr/>
        </p:nvSpPr>
        <p:spPr>
          <a:xfrm xmlns:a="http://schemas.openxmlformats.org/drawingml/2006/main">
            <a:off x="4095750" y="2562225"/>
            <a:ext cx="314325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10" name="count-dot-0">
            <a:extLst xmlns:a="http://schemas.openxmlformats.org/drawingml/2006/main">
              <a:ext uri="{FF2B5EF4-FFF2-40B4-BE49-F238E27FC236}">
                <a16:creationId xmlns:a16="http://schemas.microsoft.com/office/drawing/2014/main" id="{08C58B02-A3E4-42E7-92E9-40F7D421021C}"/>
              </a:ext>
            </a:extLst>
          </p:cNvPr>
          <p:cNvSpPr>
            <a:spLocks xmlns:a="http://schemas.openxmlformats.org/drawingml/2006/main" noGrp="1"/>
          </p:cNvSpPr>
          <p:nvPr/>
        </p:nvSpPr>
        <p:spPr>
          <a:xfrm xmlns:a="http://schemas.openxmlformats.org/drawingml/2006/main">
            <a:off x="7067550" y="245745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11" name="count-0">
            <a:extLst xmlns:a="http://schemas.openxmlformats.org/drawingml/2006/main">
              <a:ext uri="{FF2B5EF4-FFF2-40B4-BE49-F238E27FC236}">
                <a16:creationId xmlns:a16="http://schemas.microsoft.com/office/drawing/2014/main" id="{2029673E-609F-40F5-8BF7-2CDD6AC38194}"/>
              </a:ext>
            </a:extLst>
          </p:cNvPr>
          <p:cNvSpPr>
            <a:spLocks xmlns:a="http://schemas.openxmlformats.org/drawingml/2006/main" noGrp="1"/>
          </p:cNvSpPr>
          <p:nvPr/>
        </p:nvSpPr>
        <p:spPr>
          <a:xfrm xmlns:a="http://schemas.openxmlformats.org/drawingml/2006/main" rot="0">
            <a:off x="7067550" y="251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1</a:t>
            </a:r>
          </a:p>
        </p:txBody>
      </p:sp>
      <p:sp>
        <p:nvSpPr>
          <p:cNvPr id="12" name="people-0">
            <a:extLst xmlns:a="http://schemas.openxmlformats.org/drawingml/2006/main">
              <a:ext uri="{FF2B5EF4-FFF2-40B4-BE49-F238E27FC236}">
                <a16:creationId xmlns:a16="http://schemas.microsoft.com/office/drawing/2014/main" id="{A05016CF-CBE1-434F-ADFB-7BB33998292A}"/>
              </a:ext>
            </a:extLst>
          </p:cNvPr>
          <p:cNvSpPr>
            <a:spLocks xmlns:a="http://schemas.openxmlformats.org/drawingml/2006/main" noGrp="1"/>
          </p:cNvSpPr>
          <p:nvPr/>
        </p:nvSpPr>
        <p:spPr>
          <a:xfrm xmlns:a="http://schemas.openxmlformats.org/drawingml/2006/main" rot="0">
            <a:off x="8096250" y="25146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Once</a:t>
            </a:r>
          </a:p>
        </p:txBody>
      </p:sp>
      <p:sp>
        <p:nvSpPr>
          <p:cNvPr id="13" name="row-rule-0">
            <a:extLst xmlns:a="http://schemas.openxmlformats.org/drawingml/2006/main">
              <a:ext uri="{FF2B5EF4-FFF2-40B4-BE49-F238E27FC236}">
                <a16:creationId xmlns:a16="http://schemas.microsoft.com/office/drawing/2014/main" id="{FB249F42-162A-478A-A446-4702AA9BA5BD}"/>
              </a:ext>
            </a:extLst>
          </p:cNvPr>
          <p:cNvSpPr>
            <a:spLocks xmlns:a="http://schemas.openxmlformats.org/drawingml/2006/main" noGrp="1"/>
          </p:cNvSpPr>
          <p:nvPr/>
        </p:nvSpPr>
        <p:spPr>
          <a:xfrm xmlns:a="http://schemas.openxmlformats.org/drawingml/2006/main">
            <a:off x="685800" y="313372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14" name="tool-1">
            <a:extLst xmlns:a="http://schemas.openxmlformats.org/drawingml/2006/main">
              <a:ext uri="{FF2B5EF4-FFF2-40B4-BE49-F238E27FC236}">
                <a16:creationId xmlns:a16="http://schemas.microsoft.com/office/drawing/2014/main" id="{8B85E11A-B72F-4CAB-AC64-8B9B099C5AB1}"/>
              </a:ext>
            </a:extLst>
          </p:cNvPr>
          <p:cNvSpPr>
            <a:spLocks xmlns:a="http://schemas.openxmlformats.org/drawingml/2006/main" noGrp="1"/>
          </p:cNvSpPr>
          <p:nvPr/>
        </p:nvSpPr>
        <p:spPr>
          <a:xfrm xmlns:a="http://schemas.openxmlformats.org/drawingml/2006/main" rot="0">
            <a:off x="876300" y="3238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Initialize</a:t>
            </a:r>
          </a:p>
        </p:txBody>
      </p:sp>
      <p:sp>
        <p:nvSpPr>
          <p:cNvPr id="15" name="kind-1">
            <a:extLst xmlns:a="http://schemas.openxmlformats.org/drawingml/2006/main">
              <a:ext uri="{FF2B5EF4-FFF2-40B4-BE49-F238E27FC236}">
                <a16:creationId xmlns:a16="http://schemas.microsoft.com/office/drawing/2014/main" id="{B5718566-62F6-48F7-97DB-7E8BAA0C73EE}"/>
              </a:ext>
            </a:extLst>
          </p:cNvPr>
          <p:cNvSpPr>
            <a:spLocks xmlns:a="http://schemas.openxmlformats.org/drawingml/2006/main" noGrp="1"/>
          </p:cNvSpPr>
          <p:nvPr/>
        </p:nvSpPr>
        <p:spPr>
          <a:xfrm xmlns:a="http://schemas.openxmlformats.org/drawingml/2006/main" rot="0">
            <a:off x="876300" y="35337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bd init inside one repository</a:t>
            </a:r>
          </a:p>
        </p:txBody>
      </p:sp>
      <p:sp>
        <p:nvSpPr>
          <p:cNvPr id="16" name="track-1">
            <a:extLst xmlns:a="http://schemas.openxmlformats.org/drawingml/2006/main">
              <a:ext uri="{FF2B5EF4-FFF2-40B4-BE49-F238E27FC236}">
                <a16:creationId xmlns:a16="http://schemas.microsoft.com/office/drawing/2014/main" id="{696F6BE6-F61A-436D-9C87-FBC8A4202135}"/>
              </a:ext>
            </a:extLst>
          </p:cNvPr>
          <p:cNvSpPr>
            <a:spLocks xmlns:a="http://schemas.openxmlformats.org/drawingml/2006/main" noGrp="1"/>
          </p:cNvSpPr>
          <p:nvPr/>
        </p:nvSpPr>
        <p:spPr>
          <a:xfrm xmlns:a="http://schemas.openxmlformats.org/drawingml/2006/main">
            <a:off x="4095750" y="338137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17" name="bar-1">
            <a:extLst xmlns:a="http://schemas.openxmlformats.org/drawingml/2006/main">
              <a:ext uri="{FF2B5EF4-FFF2-40B4-BE49-F238E27FC236}">
                <a16:creationId xmlns:a16="http://schemas.microsoft.com/office/drawing/2014/main" id="{9A875AD8-994E-44F6-BA8C-EF70865A5123}"/>
              </a:ext>
            </a:extLst>
          </p:cNvPr>
          <p:cNvSpPr>
            <a:spLocks xmlns:a="http://schemas.openxmlformats.org/drawingml/2006/main" noGrp="1"/>
          </p:cNvSpPr>
          <p:nvPr/>
        </p:nvSpPr>
        <p:spPr>
          <a:xfrm xmlns:a="http://schemas.openxmlformats.org/drawingml/2006/main">
            <a:off x="4095750" y="338137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18" name="count-dot-1">
            <a:extLst xmlns:a="http://schemas.openxmlformats.org/drawingml/2006/main">
              <a:ext uri="{FF2B5EF4-FFF2-40B4-BE49-F238E27FC236}">
                <a16:creationId xmlns:a16="http://schemas.microsoft.com/office/drawing/2014/main" id="{044331BB-9ED9-4A0C-963A-E832A38B0B12}"/>
              </a:ext>
            </a:extLst>
          </p:cNvPr>
          <p:cNvSpPr>
            <a:spLocks xmlns:a="http://schemas.openxmlformats.org/drawingml/2006/main" noGrp="1"/>
          </p:cNvSpPr>
          <p:nvPr/>
        </p:nvSpPr>
        <p:spPr>
          <a:xfrm xmlns:a="http://schemas.openxmlformats.org/drawingml/2006/main">
            <a:off x="6019800" y="327660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19" name="count-1">
            <a:extLst xmlns:a="http://schemas.openxmlformats.org/drawingml/2006/main">
              <a:ext uri="{FF2B5EF4-FFF2-40B4-BE49-F238E27FC236}">
                <a16:creationId xmlns:a16="http://schemas.microsoft.com/office/drawing/2014/main" id="{EF00076C-A85F-408F-8917-ABD4FDC7B447}"/>
              </a:ext>
            </a:extLst>
          </p:cNvPr>
          <p:cNvSpPr>
            <a:spLocks xmlns:a="http://schemas.openxmlformats.org/drawingml/2006/main" noGrp="1"/>
          </p:cNvSpPr>
          <p:nvPr/>
        </p:nvSpPr>
        <p:spPr>
          <a:xfrm xmlns:a="http://schemas.openxmlformats.org/drawingml/2006/main" rot="0">
            <a:off x="6019800" y="33337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2</a:t>
            </a:r>
          </a:p>
        </p:txBody>
      </p:sp>
      <p:sp>
        <p:nvSpPr>
          <p:cNvPr id="20" name="people-1">
            <a:extLst xmlns:a="http://schemas.openxmlformats.org/drawingml/2006/main">
              <a:ext uri="{FF2B5EF4-FFF2-40B4-BE49-F238E27FC236}">
                <a16:creationId xmlns:a16="http://schemas.microsoft.com/office/drawing/2014/main" id="{1C0C1962-E4EB-42B5-A19F-2483BEA01582}"/>
              </a:ext>
            </a:extLst>
          </p:cNvPr>
          <p:cNvSpPr>
            <a:spLocks xmlns:a="http://schemas.openxmlformats.org/drawingml/2006/main" noGrp="1"/>
          </p:cNvSpPr>
          <p:nvPr/>
        </p:nvSpPr>
        <p:spPr>
          <a:xfrm xmlns:a="http://schemas.openxmlformats.org/drawingml/2006/main" rot="0">
            <a:off x="8096250" y="33337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Scope</a:t>
            </a:r>
          </a:p>
        </p:txBody>
      </p:sp>
      <p:sp>
        <p:nvSpPr>
          <p:cNvPr id="21" name="row-rule-1">
            <a:extLst xmlns:a="http://schemas.openxmlformats.org/drawingml/2006/main">
              <a:ext uri="{FF2B5EF4-FFF2-40B4-BE49-F238E27FC236}">
                <a16:creationId xmlns:a16="http://schemas.microsoft.com/office/drawing/2014/main" id="{ACAABAA6-126D-4CC2-8363-9819E981488C}"/>
              </a:ext>
            </a:extLst>
          </p:cNvPr>
          <p:cNvSpPr>
            <a:spLocks xmlns:a="http://schemas.openxmlformats.org/drawingml/2006/main" noGrp="1"/>
          </p:cNvSpPr>
          <p:nvPr/>
        </p:nvSpPr>
        <p:spPr>
          <a:xfrm xmlns:a="http://schemas.openxmlformats.org/drawingml/2006/main">
            <a:off x="685800" y="395287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22" name="tool-2">
            <a:extLst xmlns:a="http://schemas.openxmlformats.org/drawingml/2006/main">
              <a:ext uri="{FF2B5EF4-FFF2-40B4-BE49-F238E27FC236}">
                <a16:creationId xmlns:a16="http://schemas.microsoft.com/office/drawing/2014/main" id="{B8CE818F-8514-438A-BB73-A01C0471DC67}"/>
              </a:ext>
            </a:extLst>
          </p:cNvPr>
          <p:cNvSpPr>
            <a:spLocks xmlns:a="http://schemas.openxmlformats.org/drawingml/2006/main" noGrp="1"/>
          </p:cNvSpPr>
          <p:nvPr/>
        </p:nvSpPr>
        <p:spPr>
          <a:xfrm xmlns:a="http://schemas.openxmlformats.org/drawingml/2006/main" rot="0">
            <a:off x="876300" y="4057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Resume</a:t>
            </a:r>
          </a:p>
        </p:txBody>
      </p:sp>
      <p:sp>
        <p:nvSpPr>
          <p:cNvPr id="23" name="kind-2">
            <a:extLst xmlns:a="http://schemas.openxmlformats.org/drawingml/2006/main">
              <a:ext uri="{FF2B5EF4-FFF2-40B4-BE49-F238E27FC236}">
                <a16:creationId xmlns:a16="http://schemas.microsoft.com/office/drawing/2014/main" id="{C1268AA5-062E-428F-8B88-389EB789C9C9}"/>
              </a:ext>
            </a:extLst>
          </p:cNvPr>
          <p:cNvSpPr>
            <a:spLocks xmlns:a="http://schemas.openxmlformats.org/drawingml/2006/main" noGrp="1"/>
          </p:cNvSpPr>
          <p:nvPr/>
        </p:nvSpPr>
        <p:spPr>
          <a:xfrm xmlns:a="http://schemas.openxmlformats.org/drawingml/2006/main" rot="0">
            <a:off x="876300" y="435292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bd prime in a fresh session</a:t>
            </a:r>
          </a:p>
        </p:txBody>
      </p:sp>
      <p:sp>
        <p:nvSpPr>
          <p:cNvPr id="24" name="track-2">
            <a:extLst xmlns:a="http://schemas.openxmlformats.org/drawingml/2006/main">
              <a:ext uri="{FF2B5EF4-FFF2-40B4-BE49-F238E27FC236}">
                <a16:creationId xmlns:a16="http://schemas.microsoft.com/office/drawing/2014/main" id="{CA26178F-0F96-467C-914F-FCC0CAD58222}"/>
              </a:ext>
            </a:extLst>
          </p:cNvPr>
          <p:cNvSpPr>
            <a:spLocks xmlns:a="http://schemas.openxmlformats.org/drawingml/2006/main" noGrp="1"/>
          </p:cNvSpPr>
          <p:nvPr/>
        </p:nvSpPr>
        <p:spPr>
          <a:xfrm xmlns:a="http://schemas.openxmlformats.org/drawingml/2006/main">
            <a:off x="4095750" y="420052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25" name="bar-2">
            <a:extLst xmlns:a="http://schemas.openxmlformats.org/drawingml/2006/main">
              <a:ext uri="{FF2B5EF4-FFF2-40B4-BE49-F238E27FC236}">
                <a16:creationId xmlns:a16="http://schemas.microsoft.com/office/drawing/2014/main" id="{E2B27E75-921D-44C5-B1A4-30632662978E}"/>
              </a:ext>
            </a:extLst>
          </p:cNvPr>
          <p:cNvSpPr>
            <a:spLocks xmlns:a="http://schemas.openxmlformats.org/drawingml/2006/main" noGrp="1"/>
          </p:cNvSpPr>
          <p:nvPr/>
        </p:nvSpPr>
        <p:spPr>
          <a:xfrm xmlns:a="http://schemas.openxmlformats.org/drawingml/2006/main">
            <a:off x="4095750" y="420052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26" name="count-dot-2">
            <a:extLst xmlns:a="http://schemas.openxmlformats.org/drawingml/2006/main">
              <a:ext uri="{FF2B5EF4-FFF2-40B4-BE49-F238E27FC236}">
                <a16:creationId xmlns:a16="http://schemas.microsoft.com/office/drawing/2014/main" id="{7E954652-70E2-4FEC-A620-CB0A9CE012E5}"/>
              </a:ext>
            </a:extLst>
          </p:cNvPr>
          <p:cNvSpPr>
            <a:spLocks xmlns:a="http://schemas.openxmlformats.org/drawingml/2006/main" noGrp="1"/>
          </p:cNvSpPr>
          <p:nvPr/>
        </p:nvSpPr>
        <p:spPr>
          <a:xfrm xmlns:a="http://schemas.openxmlformats.org/drawingml/2006/main">
            <a:off x="6019800" y="409575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27" name="count-2">
            <a:extLst xmlns:a="http://schemas.openxmlformats.org/drawingml/2006/main">
              <a:ext uri="{FF2B5EF4-FFF2-40B4-BE49-F238E27FC236}">
                <a16:creationId xmlns:a16="http://schemas.microsoft.com/office/drawing/2014/main" id="{106791A0-6A75-419A-AE80-944FC2B4BEB9}"/>
              </a:ext>
            </a:extLst>
          </p:cNvPr>
          <p:cNvSpPr>
            <a:spLocks xmlns:a="http://schemas.openxmlformats.org/drawingml/2006/main" noGrp="1"/>
          </p:cNvSpPr>
          <p:nvPr/>
        </p:nvSpPr>
        <p:spPr>
          <a:xfrm xmlns:a="http://schemas.openxmlformats.org/drawingml/2006/main" rot="0">
            <a:off x="6019800" y="41529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3</a:t>
            </a:r>
          </a:p>
        </p:txBody>
      </p:sp>
      <p:sp>
        <p:nvSpPr>
          <p:cNvPr id="28" name="people-2">
            <a:extLst xmlns:a="http://schemas.openxmlformats.org/drawingml/2006/main">
              <a:ext uri="{FF2B5EF4-FFF2-40B4-BE49-F238E27FC236}">
                <a16:creationId xmlns:a16="http://schemas.microsoft.com/office/drawing/2014/main" id="{B01622AC-2AE1-47C8-8A79-73C107455F18}"/>
              </a:ext>
            </a:extLst>
          </p:cNvPr>
          <p:cNvSpPr>
            <a:spLocks xmlns:a="http://schemas.openxmlformats.org/drawingml/2006/main" noGrp="1"/>
          </p:cNvSpPr>
          <p:nvPr/>
        </p:nvSpPr>
        <p:spPr>
          <a:xfrm xmlns:a="http://schemas.openxmlformats.org/drawingml/2006/main" rot="0">
            <a:off x="8096250" y="41529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Context</a:t>
            </a:r>
          </a:p>
        </p:txBody>
      </p:sp>
      <p:sp>
        <p:nvSpPr>
          <p:cNvPr id="29" name="row-rule-2">
            <a:extLst xmlns:a="http://schemas.openxmlformats.org/drawingml/2006/main">
              <a:ext uri="{FF2B5EF4-FFF2-40B4-BE49-F238E27FC236}">
                <a16:creationId xmlns:a16="http://schemas.microsoft.com/office/drawing/2014/main" id="{4E8FF3AB-B8CB-4975-8AB6-DCD53F25AEB0}"/>
              </a:ext>
            </a:extLst>
          </p:cNvPr>
          <p:cNvSpPr>
            <a:spLocks xmlns:a="http://schemas.openxmlformats.org/drawingml/2006/main" noGrp="1"/>
          </p:cNvSpPr>
          <p:nvPr/>
        </p:nvSpPr>
        <p:spPr>
          <a:xfrm xmlns:a="http://schemas.openxmlformats.org/drawingml/2006/main">
            <a:off x="685800" y="477202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30" name="tool-3">
            <a:extLst xmlns:a="http://schemas.openxmlformats.org/drawingml/2006/main">
              <a:ext uri="{FF2B5EF4-FFF2-40B4-BE49-F238E27FC236}">
                <a16:creationId xmlns:a16="http://schemas.microsoft.com/office/drawing/2014/main" id="{BC65CA02-B707-450A-A5E7-6B5779EC1F2D}"/>
              </a:ext>
            </a:extLst>
          </p:cNvPr>
          <p:cNvSpPr>
            <a:spLocks xmlns:a="http://schemas.openxmlformats.org/drawingml/2006/main" noGrp="1"/>
          </p:cNvSpPr>
          <p:nvPr/>
        </p:nvSpPr>
        <p:spPr>
          <a:xfrm xmlns:a="http://schemas.openxmlformats.org/drawingml/2006/main" rot="0">
            <a:off x="876300" y="4876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697"/>
          </a:bodyPr>
          <a:lstStyle xmlns:a="http://schemas.openxmlformats.org/drawingml/2006/main"/>
          <a:p xmlns:a="http://schemas.openxmlformats.org/drawingml/2006/main">
            <a:pPr algn="l">
              <a:buNone/>
              <a:defRPr sz="1650" b="1">
                <a:solidFill>
                  <a:srgbClr val="0C2577"/>
                </a:solidFill>
                <a:latin typeface="Relative Pro"/>
                <a:ea typeface="Relative Pro"/>
                <a:cs typeface="Relative Pro"/>
              </a:defRPr>
            </a:pPr>
            <a:r>
              <a:rPr sz="1650" b="1">
                <a:solidFill>
                  <a:srgbClr val="0C2577"/>
                </a:solidFill>
                <a:latin typeface="Relative Pro"/>
                <a:ea typeface="Relative Pro"/>
                <a:cs typeface="Relative Pro"/>
              </a:rPr>
              <a:t>Tell me</a:t>
            </a:r>
          </a:p>
        </p:txBody>
      </p:sp>
      <p:sp>
        <p:nvSpPr>
          <p:cNvPr id="31" name="kind-3">
            <a:extLst xmlns:a="http://schemas.openxmlformats.org/drawingml/2006/main">
              <a:ext uri="{FF2B5EF4-FFF2-40B4-BE49-F238E27FC236}">
                <a16:creationId xmlns:a16="http://schemas.microsoft.com/office/drawing/2014/main" id="{1EC84F41-F4ED-4A54-B6FA-9FF89D3A0175}"/>
              </a:ext>
            </a:extLst>
          </p:cNvPr>
          <p:cNvSpPr>
            <a:spLocks xmlns:a="http://schemas.openxmlformats.org/drawingml/2006/main" noGrp="1"/>
          </p:cNvSpPr>
          <p:nvPr/>
        </p:nvSpPr>
        <p:spPr>
          <a:xfrm xmlns:a="http://schemas.openxmlformats.org/drawingml/2006/main" rot="0">
            <a:off x="876300" y="51720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p xmlns:a="http://schemas.openxmlformats.org/drawingml/2006/main">
            <a:pPr algn="l">
              <a:buNone/>
              <a:defRPr sz="1200" b="0">
                <a:solidFill>
                  <a:srgbClr val="2B697F"/>
                </a:solidFill>
                <a:latin typeface="Relative Pro"/>
                <a:ea typeface="Relative Pro"/>
                <a:cs typeface="Relative Pro"/>
              </a:defRPr>
            </a:pPr>
            <a:r>
              <a:rPr sz="1200" b="0">
                <a:solidFill>
                  <a:srgbClr val="2B697F"/>
                </a:solidFill>
                <a:latin typeface="Relative Pro"/>
                <a:ea typeface="Relative Pro"/>
                <a:cs typeface="Relative Pro"/>
              </a:rPr>
              <a:t>What worked? What got in the way?</a:t>
            </a:r>
          </a:p>
        </p:txBody>
      </p:sp>
      <p:sp>
        <p:nvSpPr>
          <p:cNvPr id="32" name="track-3">
            <a:extLst xmlns:a="http://schemas.openxmlformats.org/drawingml/2006/main">
              <a:ext uri="{FF2B5EF4-FFF2-40B4-BE49-F238E27FC236}">
                <a16:creationId xmlns:a16="http://schemas.microsoft.com/office/drawing/2014/main" id="{73BCFEA3-3BAE-436F-A3FC-E69255CD521B}"/>
              </a:ext>
            </a:extLst>
          </p:cNvPr>
          <p:cNvSpPr>
            <a:spLocks xmlns:a="http://schemas.openxmlformats.org/drawingml/2006/main" noGrp="1"/>
          </p:cNvSpPr>
          <p:nvPr/>
        </p:nvSpPr>
        <p:spPr>
          <a:xfrm xmlns:a="http://schemas.openxmlformats.org/drawingml/2006/main">
            <a:off x="4095750" y="5019675"/>
            <a:ext cx="3143250" cy="133350"/>
          </a:xfrm>
          <a:prstGeom xmlns:a="http://schemas.openxmlformats.org/drawingml/2006/main" prst="roundRect">
            <a:avLst>
              <a:gd name="adj" fmla="val 50000"/>
            </a:avLst>
          </a:prstGeom>
          <a:solidFill xmlns:a="http://schemas.openxmlformats.org/drawingml/2006/main">
            <a:srgbClr val="DAF4F5"/>
          </a:solidFill>
          <a:ln xmlns:a="http://schemas.openxmlformats.org/drawingml/2006/main" w="0">
            <a:solidFill>
              <a:srgbClr val="DAF4F5"/>
            </a:solidFill>
            <a:prstDash val="solid"/>
          </a:ln>
        </p:spPr>
      </p:sp>
      <p:sp>
        <p:nvSpPr>
          <p:cNvPr id="33" name="bar-3">
            <a:extLst xmlns:a="http://schemas.openxmlformats.org/drawingml/2006/main">
              <a:ext uri="{FF2B5EF4-FFF2-40B4-BE49-F238E27FC236}">
                <a16:creationId xmlns:a16="http://schemas.microsoft.com/office/drawing/2014/main" id="{3C56A538-B3AF-4E09-8239-8C17F2115D4E}"/>
              </a:ext>
            </a:extLst>
          </p:cNvPr>
          <p:cNvSpPr>
            <a:spLocks xmlns:a="http://schemas.openxmlformats.org/drawingml/2006/main" noGrp="1"/>
          </p:cNvSpPr>
          <p:nvPr/>
        </p:nvSpPr>
        <p:spPr>
          <a:xfrm xmlns:a="http://schemas.openxmlformats.org/drawingml/2006/main">
            <a:off x="4095750" y="5019675"/>
            <a:ext cx="2095500" cy="133350"/>
          </a:xfrm>
          <a:prstGeom xmlns:a="http://schemas.openxmlformats.org/drawingml/2006/main" prst="roundRect">
            <a:avLst>
              <a:gd name="adj" fmla="val 50000"/>
            </a:avLst>
          </a:prstGeom>
          <a:solidFill xmlns:a="http://schemas.openxmlformats.org/drawingml/2006/main">
            <a:srgbClr val="008194"/>
          </a:solidFill>
          <a:ln xmlns:a="http://schemas.openxmlformats.org/drawingml/2006/main" w="0">
            <a:solidFill>
              <a:srgbClr val="008194"/>
            </a:solidFill>
            <a:prstDash val="solid"/>
          </a:ln>
        </p:spPr>
      </p:sp>
      <p:sp>
        <p:nvSpPr>
          <p:cNvPr id="34" name="count-dot-3">
            <a:extLst xmlns:a="http://schemas.openxmlformats.org/drawingml/2006/main">
              <a:ext uri="{FF2B5EF4-FFF2-40B4-BE49-F238E27FC236}">
                <a16:creationId xmlns:a16="http://schemas.microsoft.com/office/drawing/2014/main" id="{8352FBF2-11EE-4215-9D60-AD6C36BC639C}"/>
              </a:ext>
            </a:extLst>
          </p:cNvPr>
          <p:cNvSpPr>
            <a:spLocks xmlns:a="http://schemas.openxmlformats.org/drawingml/2006/main" noGrp="1"/>
          </p:cNvSpPr>
          <p:nvPr/>
        </p:nvSpPr>
        <p:spPr>
          <a:xfrm xmlns:a="http://schemas.openxmlformats.org/drawingml/2006/main">
            <a:off x="6019800" y="4914900"/>
            <a:ext cx="342900" cy="342900"/>
          </a:xfrm>
          <a:prstGeom xmlns:a="http://schemas.openxmlformats.org/drawingml/2006/main" prst="ellipse">
            <a:avLst/>
          </a:prstGeom>
          <a:solidFill xmlns:a="http://schemas.openxmlformats.org/drawingml/2006/main">
            <a:srgbClr val="008194"/>
          </a:solidFill>
          <a:ln xmlns:a="http://schemas.openxmlformats.org/drawingml/2006/main" w="19050">
            <a:solidFill>
              <a:srgbClr val="FFFFFF"/>
            </a:solidFill>
            <a:prstDash val="solid"/>
          </a:ln>
        </p:spPr>
      </p:sp>
      <p:sp>
        <p:nvSpPr>
          <p:cNvPr id="35" name="count-3">
            <a:extLst xmlns:a="http://schemas.openxmlformats.org/drawingml/2006/main">
              <a:ext uri="{FF2B5EF4-FFF2-40B4-BE49-F238E27FC236}">
                <a16:creationId xmlns:a16="http://schemas.microsoft.com/office/drawing/2014/main" id="{218C3602-AC28-45F8-97BD-436F70AE3C59}"/>
              </a:ext>
            </a:extLst>
          </p:cNvPr>
          <p:cNvSpPr>
            <a:spLocks xmlns:a="http://schemas.openxmlformats.org/drawingml/2006/main" noGrp="1"/>
          </p:cNvSpPr>
          <p:nvPr/>
        </p:nvSpPr>
        <p:spPr>
          <a:xfrm xmlns:a="http://schemas.openxmlformats.org/drawingml/2006/main" rot="0">
            <a:off x="6019800" y="49720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p xmlns:a="http://schemas.openxmlformats.org/drawingml/2006/main">
            <a:pPr algn="ctr">
              <a:buNone/>
              <a:defRPr sz="1350" b="1">
                <a:solidFill>
                  <a:srgbClr val="FFFFFF"/>
                </a:solidFill>
                <a:latin typeface="Relative Pro"/>
                <a:ea typeface="Relative Pro"/>
                <a:cs typeface="Relative Pro"/>
              </a:defRPr>
            </a:pPr>
            <a:r>
              <a:rPr sz="1350" b="1">
                <a:solidFill>
                  <a:srgbClr val="FFFFFF"/>
                </a:solidFill>
                <a:latin typeface="Relative Pro"/>
                <a:ea typeface="Relative Pro"/>
                <a:cs typeface="Relative Pro"/>
              </a:rPr>
              <a:t>↗</a:t>
            </a:r>
          </a:p>
        </p:txBody>
      </p:sp>
      <p:sp>
        <p:nvSpPr>
          <p:cNvPr id="36" name="people-3">
            <a:extLst xmlns:a="http://schemas.openxmlformats.org/drawingml/2006/main">
              <a:ext uri="{FF2B5EF4-FFF2-40B4-BE49-F238E27FC236}">
                <a16:creationId xmlns:a16="http://schemas.microsoft.com/office/drawing/2014/main" id="{D4AF6103-CCB9-4D8D-B811-B9AF963EE31D}"/>
              </a:ext>
            </a:extLst>
          </p:cNvPr>
          <p:cNvSpPr>
            <a:spLocks xmlns:a="http://schemas.openxmlformats.org/drawingml/2006/main" noGrp="1"/>
          </p:cNvSpPr>
          <p:nvPr/>
        </p:nvSpPr>
        <p:spPr>
          <a:xfrm xmlns:a="http://schemas.openxmlformats.org/drawingml/2006/main" rot="0">
            <a:off x="8096250" y="49720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926"/>
          </a:bodyPr>
          <a:lstStyle xmlns:a="http://schemas.openxmlformats.org/drawingml/2006/main"/>
          <a:p xmlns:a="http://schemas.openxmlformats.org/drawingml/2006/main">
            <a:pPr algn="l">
              <a:buNone/>
              <a:defRPr sz="1350" b="0">
                <a:solidFill>
                  <a:srgbClr val="0C2577"/>
                </a:solidFill>
                <a:latin typeface="Relative Pro"/>
                <a:ea typeface="Relative Pro"/>
                <a:cs typeface="Relative Pro"/>
              </a:defRPr>
            </a:pPr>
            <a:r>
              <a:rPr sz="1350" b="0">
                <a:solidFill>
                  <a:srgbClr val="0C2577"/>
                </a:solidFill>
                <a:latin typeface="Relative Pro"/>
                <a:ea typeface="Relative Pro"/>
                <a:cs typeface="Relative Pro"/>
              </a:rPr>
              <a:t>Feedback</a:t>
            </a:r>
          </a:p>
        </p:txBody>
      </p:sp>
      <p:sp>
        <p:nvSpPr>
          <p:cNvPr id="37" name="row-rule-3">
            <a:extLst xmlns:a="http://schemas.openxmlformats.org/drawingml/2006/main">
              <a:ext uri="{FF2B5EF4-FFF2-40B4-BE49-F238E27FC236}">
                <a16:creationId xmlns:a16="http://schemas.microsoft.com/office/drawing/2014/main" id="{3BFF27DA-093F-444B-BD8B-2D539F74D933}"/>
              </a:ext>
            </a:extLst>
          </p:cNvPr>
          <p:cNvSpPr>
            <a:spLocks xmlns:a="http://schemas.openxmlformats.org/drawingml/2006/main" noGrp="1"/>
          </p:cNvSpPr>
          <p:nvPr/>
        </p:nvSpPr>
        <p:spPr>
          <a:xfrm xmlns:a="http://schemas.openxmlformats.org/drawingml/2006/main">
            <a:off x="685800" y="5591175"/>
            <a:ext cx="101346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38" name="note">
            <a:extLst xmlns:a="http://schemas.openxmlformats.org/drawingml/2006/main">
              <a:ext uri="{FF2B5EF4-FFF2-40B4-BE49-F238E27FC236}">
                <a16:creationId xmlns:a16="http://schemas.microsoft.com/office/drawing/2014/main" id="{9261BF10-8624-48C5-BE76-D2758B48C192}"/>
              </a:ext>
            </a:extLst>
          </p:cNvPr>
          <p:cNvSpPr>
            <a:spLocks xmlns:a="http://schemas.openxmlformats.org/drawingml/2006/main" noGrp="1"/>
          </p:cNvSpPr>
          <p:nvPr/>
        </p:nvSpPr>
        <p:spPr>
          <a:xfrm xmlns:a="http://schemas.openxmlformats.org/drawingml/2006/main" rot="0">
            <a:off x="876300" y="59055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buNone/>
              <a:defRPr sz="1350" b="0">
                <a:solidFill>
                  <a:srgbClr val="2B697F"/>
                </a:solidFill>
                <a:latin typeface="Relative Pro"/>
                <a:ea typeface="Relative Pro"/>
                <a:cs typeface="Relative Pro"/>
              </a:defRPr>
            </a:pPr>
            <a:r>
              <a:rPr sz="1350" b="0">
                <a:solidFill>
                  <a:srgbClr val="2B697F"/>
                </a:solidFill>
                <a:latin typeface="Relative Pro"/>
                <a:ea typeface="Relative Pro"/>
                <a:cs typeface="Relative Pro"/>
              </a:rPr>
              <a:t>Use beads where the work—not merely the chat—needs continuity.</a:t>
            </a:r>
          </a:p>
        </p:txBody>
      </p:sp>
      <p:sp>
        <p:nvSpPr>
          <p:cNvPr id="39" name="footer-rule-2">
            <a:extLst xmlns:a="http://schemas.openxmlformats.org/drawingml/2006/main">
              <a:ext uri="{FF2B5EF4-FFF2-40B4-BE49-F238E27FC236}">
                <a16:creationId xmlns:a16="http://schemas.microsoft.com/office/drawing/2014/main" id="{19AE085A-0F0A-42C7-8FA9-4E895CE5BA8A}"/>
              </a:ext>
            </a:extLst>
          </p:cNvPr>
          <p:cNvSpPr>
            <a:spLocks xmlns:a="http://schemas.openxmlformats.org/drawingml/2006/main" noGrp="1"/>
          </p:cNvSpPr>
          <p:nvPr/>
        </p:nvSpPr>
        <p:spPr>
          <a:xfrm xmlns:a="http://schemas.openxmlformats.org/drawingml/2006/main">
            <a:off x="685800" y="6229350"/>
            <a:ext cx="10820400" cy="0"/>
          </a:xfrm>
          <a:prstGeom xmlns:a="http://schemas.openxmlformats.org/drawingml/2006/main" prst="line">
            <a:avLst/>
          </a:prstGeom>
          <a:noFill xmlns:a="http://schemas.openxmlformats.org/drawingml/2006/main"/>
          <a:ln xmlns:a="http://schemas.openxmlformats.org/drawingml/2006/main" w="9525">
            <a:solidFill>
              <a:srgbClr val="F0F0E7"/>
            </a:solidFill>
            <a:prstDash val="solid"/>
          </a:ln>
        </p:spPr>
      </p:sp>
      <p:sp>
        <p:nvSpPr>
          <p:cNvPr id="40" name="footer-2">
            <a:extLst xmlns:a="http://schemas.openxmlformats.org/drawingml/2006/main">
              <a:ext uri="{FF2B5EF4-FFF2-40B4-BE49-F238E27FC236}">
                <a16:creationId xmlns:a16="http://schemas.microsoft.com/office/drawing/2014/main" id="{7B3305BD-1A52-4FCA-A7A9-BEA5D41D256B}"/>
              </a:ext>
            </a:extLst>
          </p:cNvPr>
          <p:cNvSpPr>
            <a:spLocks xmlns:a="http://schemas.openxmlformats.org/drawingml/2006/main" noGrp="1"/>
          </p:cNvSpPr>
          <p:nvPr/>
        </p:nvSpPr>
        <p:spPr>
          <a:xfrm xmlns:a="http://schemas.openxmlformats.org/drawingml/2006/main" rot="0">
            <a:off x="685800" y="636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buNone/>
              <a:defRPr sz="1050" b="0">
                <a:solidFill>
                  <a:srgbClr val="2B697F"/>
                </a:solidFill>
                <a:latin typeface="Relative Pro"/>
                <a:ea typeface="Relative Pro"/>
                <a:cs typeface="Relative Pro"/>
              </a:defRPr>
            </a:pPr>
            <a:r>
              <a:rPr sz="1050" b="0">
                <a:solidFill>
                  <a:srgbClr val="2B697F"/>
                </a:solidFill>
                <a:latin typeface="Relative Pro"/>
                <a:ea typeface="Relative Pro"/>
                <a:cs typeface="Relative Pro"/>
              </a:rPr>
              <a:t>AI Engineering Fridays  ·  10</a:t>
            </a:r>
          </a:p>
        </p:txBody>
      </p:sp>
    </p:spTree>
    <p:extLst>
      <p:ext uri="{BB962C8B-B14F-4D97-AF65-F5344CB8AC3E}">
        <p14:creationId xmlns:p14="http://schemas.microsoft.com/office/powerpoint/2010/main" val="17613312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2026-09-03T13:56:36.9440000Z</dcterms:created>
  <dcterms:modified xsi:type="dcterms:W3CDTF">2026-09-03T13:56:36.9440000Z</dcterms:modified>
</coreProperties>
</file>