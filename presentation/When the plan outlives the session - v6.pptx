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ced7af39194f78" /><Relationship Type="http://schemas.openxmlformats.org/officeDocument/2006/relationships/extended-properties" Target="/docProps/app.xml" Id="R035b2414b65b4fcc" /><Relationship Type="http://schemas.openxmlformats.org/officeDocument/2006/relationships/officeDocument" Target="/ppt/presentation.xml" Id="R514f3b1ca84047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b03f8113634fb8"/>
  </p:sldMasterIdLst>
  <p:notesMasterIdLst>
    <p:notesMasterId xmlns:r="http://schemas.openxmlformats.org/officeDocument/2006/relationships" r:id="Rf6b7e56924854504"/>
  </p:notesMasterIdLst>
  <p:sldIdLst>
    <p:sldId xmlns:r="http://schemas.openxmlformats.org/officeDocument/2006/relationships" id="256" r:id="R051aa43d6a114b45"/>
    <p:sldId xmlns:r="http://schemas.openxmlformats.org/officeDocument/2006/relationships" id="257" r:id="R7106d1cf62a84298"/>
    <p:sldId xmlns:r="http://schemas.openxmlformats.org/officeDocument/2006/relationships" id="258" r:id="R9bbaeaea486946e7"/>
    <p:sldId xmlns:r="http://schemas.openxmlformats.org/officeDocument/2006/relationships" id="259" r:id="Rf9211627cb984327"/>
    <p:sldId xmlns:r="http://schemas.openxmlformats.org/officeDocument/2006/relationships" id="260" r:id="R57016f203e194d63"/>
    <p:sldId xmlns:r="http://schemas.openxmlformats.org/officeDocument/2006/relationships" id="261" r:id="R2238b39c42f74bb0"/>
    <p:sldId xmlns:r="http://schemas.openxmlformats.org/officeDocument/2006/relationships" id="262" r:id="Rfb29571287ef44aa"/>
    <p:sldId xmlns:r="http://schemas.openxmlformats.org/officeDocument/2006/relationships" id="263" r:id="Rd70a13979ea14a04"/>
    <p:sldId xmlns:r="http://schemas.openxmlformats.org/officeDocument/2006/relationships" id="264" r:id="R6c1fd7a73ab14470"/>
    <p:sldId xmlns:r="http://schemas.openxmlformats.org/officeDocument/2006/relationships" id="265" r:id="R5006b196bc374f71"/>
    <p:sldId xmlns:r="http://schemas.openxmlformats.org/officeDocument/2006/relationships" id="266" r:id="Raefd472da78748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7702f7040d4e3d" /><Relationship Type="http://schemas.openxmlformats.org/officeDocument/2006/relationships/slideMaster" Target="/ppt/slideMasters/slideMaster1.xml" Id="R49b03f8113634fb8" /><Relationship Type="http://schemas.openxmlformats.org/officeDocument/2006/relationships/notesMaster" Target="/ppt/notesMasters/notesMaster1.xml" Id="Rf6b7e56924854504" /><Relationship Type="http://schemas.openxmlformats.org/officeDocument/2006/relationships/presProps" Target="/ppt/presProps.xml" Id="Rded89c1f78b94b76" /><Relationship Type="http://schemas.openxmlformats.org/officeDocument/2006/relationships/tableStyles" Target="/ppt/tableStyles.xml" Id="R22bada95eb044076" /><Relationship Type="http://schemas.openxmlformats.org/officeDocument/2006/relationships/slide" Target="/ppt/slides/slide1.xml" Id="R051aa43d6a114b45" /><Relationship Type="http://schemas.openxmlformats.org/officeDocument/2006/relationships/slide" Target="/ppt/slides/slide2.xml" Id="R7106d1cf62a84298" /><Relationship Type="http://schemas.openxmlformats.org/officeDocument/2006/relationships/slide" Target="/ppt/slides/slide3.xml" Id="R9bbaeaea486946e7" /><Relationship Type="http://schemas.openxmlformats.org/officeDocument/2006/relationships/slide" Target="/ppt/slides/slide4.xml" Id="Rf9211627cb984327" /><Relationship Type="http://schemas.openxmlformats.org/officeDocument/2006/relationships/slide" Target="/ppt/slides/slide5.xml" Id="R57016f203e194d63" /><Relationship Type="http://schemas.openxmlformats.org/officeDocument/2006/relationships/slide" Target="/ppt/slides/slide6.xml" Id="R2238b39c42f74bb0" /><Relationship Type="http://schemas.openxmlformats.org/officeDocument/2006/relationships/slide" Target="/ppt/slides/slide7.xml" Id="Rfb29571287ef44aa" /><Relationship Type="http://schemas.openxmlformats.org/officeDocument/2006/relationships/slide" Target="/ppt/slides/slide8.xml" Id="Rd70a13979ea14a04" /><Relationship Type="http://schemas.openxmlformats.org/officeDocument/2006/relationships/slide" Target="/ppt/slides/slide9.xml" Id="R6c1fd7a73ab14470" /><Relationship Type="http://schemas.openxmlformats.org/officeDocument/2006/relationships/slide" Target="/ppt/slides/slide10.xml" Id="R5006b196bc374f71" /><Relationship Type="http://schemas.openxmlformats.org/officeDocument/2006/relationships/slide" Target="/ppt/slides/slide11.xml" Id="Raefd472da787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2d9a0c8724b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8c474e40e14529" /><Relationship Type="http://schemas.openxmlformats.org/officeDocument/2006/relationships/notesMaster" Target="/ppt/notesMasters/notesMaster1.xml" Id="R0b8eb7ecf6a74d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e0c94f1edf4af8" /><Relationship Type="http://schemas.openxmlformats.org/officeDocument/2006/relationships/notesMaster" Target="/ppt/notesMasters/notesMaster1.xml" Id="Rfcd09f062e5e49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f231089a9c462b" /><Relationship Type="http://schemas.openxmlformats.org/officeDocument/2006/relationships/notesMaster" Target="/ppt/notesMasters/notesMaster1.xml" Id="R480b014c1b294d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8fb205b5a04fba" /><Relationship Type="http://schemas.openxmlformats.org/officeDocument/2006/relationships/notesMaster" Target="/ppt/notesMasters/notesMaster1.xml" Id="R1f818baeb77b41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91dc2ee93041c5" /><Relationship Type="http://schemas.openxmlformats.org/officeDocument/2006/relationships/notesMaster" Target="/ppt/notesMasters/notesMaster1.xml" Id="R1cf422485f374b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3141c0e0224857" /><Relationship Type="http://schemas.openxmlformats.org/officeDocument/2006/relationships/notesMaster" Target="/ppt/notesMasters/notesMaster1.xml" Id="R1d301f03f65f48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3c715ed8ed4912" /><Relationship Type="http://schemas.openxmlformats.org/officeDocument/2006/relationships/notesMaster" Target="/ppt/notesMasters/notesMaster1.xml" Id="R41c06b4b631f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3acc21d5574337" /><Relationship Type="http://schemas.openxmlformats.org/officeDocument/2006/relationships/notesMaster" Target="/ppt/notesMasters/notesMaster1.xml" Id="Rfd01f620b7ea4d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b8755d4cc64b69" /><Relationship Type="http://schemas.openxmlformats.org/officeDocument/2006/relationships/notesMaster" Target="/ppt/notesMasters/notesMaster1.xml" Id="R9c670c87945040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b9ce78cc674ea0" /><Relationship Type="http://schemas.openxmlformats.org/officeDocument/2006/relationships/notesMaster" Target="/ppt/notesMasters/notesMaster1.xml" Id="R3e6c49e8188a4a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f9c75a0b054330" /><Relationship Type="http://schemas.openxmlformats.org/officeDocument/2006/relationships/notesMaster" Target="/ppt/notesMasters/notesMaster1.xml" Id="R77595ac8abb445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audience’s normal experience: “You are probably all very familiar with this flow.” In Plan Mode Claude reads and explores without editing source files, presents a plan, and begins editing after approval in the selected permission mode. Say plainly that this is a useful workflow and is not the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“But what happens when the work is too large for one sitting, starts spawning new work, or needs to move across several sessions?”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https://code.claude.com/docs/en/permission-modes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show what “more complex” can become. Steve Yegge did not reject Markdown from the outset: he went all-in on Git-versioned, hierarchical Markdown plans for agent orchestration—and eventually found 605 plan files in varying stages of decay.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image is a screenshot of the relevant passage in Yegge’s original article. It is direct source evidence, not a reconstruction of his plans folder. Let the audience read the emphasized “six hundred and five” line, then land the point: Markdown itself is not the problem; the coordination conventions around hundreds of partly current documents 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“This pressure grows as we move from an assistant inside one session toward agents working across tasks and in parallel. You may remember this model from the sprint review.”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Accuracy note: the launch essay describes Beads’ historical JSONL implementation. Current technical claims later in the deck use the modern Dolt-based documentation and StepStone’s Git-mediated JSONL compatibility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Steve Yegge, Introducing Beads: A coding agent memory system, 13 October 2025: https://yegge.ai/essays/introducing-beads-a-coding-agent-memory-system/</a:t>
            </a:r>
          </a:p>
          <a:p xmlns:a="http://schemas.openxmlformats.org/drawingml/2006/main">
            <a:r>
              <a:t>- Slide image: first-party screenshot of the same article passage, captured 3 September 2026.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exact adoption-stages slide from the sprint review. Move quickly from left to right: interactive coding assistance, a more autonomous agent, task-bounded agents, then parallel orchestration. Treat it as a useful progression, not a maturity score everyone must climb.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point for today is narrower: the farther right we work, the more tasks outlive an individual conversation and the more coordination state matters. A native Markdown plan can be enough on the left; durable, queryable task state becomes increasingly valuable as work becomes longer-lived and more concurrent.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“Even before full orchestration, ordinary engineering work already creates these pressure points.”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Reused source slide: /Users/paishe01/hNotes/20__Output/Agentic AI workflows — adoption stages.pptx, slide 1</a:t>
            </a:r>
          </a:p>
          <a:p xmlns:a="http://schemas.openxmlformats.org/drawingml/2006/main">
            <a:r>
              <a:t>- User-provided asset: yegge-agent-evolution.webp</a:t>
            </a:r>
          </a:p>
          <a:p xmlns:a="http://schemas.openxmlformats.org/drawingml/2006/main">
            <a:r>
              <a:t>- Stage model reference: https://justin.abrah.ms/blog/2026-01-08-yegge-s-developer-agent-evolution-model.html</a:t>
            </a:r>
          </a:p>
          <a:p xmlns:a="http://schemas.openxmlformats.org/drawingml/2006/main">
            <a:r>
              <a:t>- Brand treatment: https://brandhub.stepstone.com/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complexity emerge through questions: What is done? What is next? Where does the bug belong? What is blocked? How does a fresh session know why? Acknowledge that Markdown can encode all of this. The point is that we are progressively designing task-management conventions inside the document.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 back to the adoption slide: parallelism is only the most visible version of the problem; continuity, provenance, and dependency tracking begin to matter as soon as work crosses a session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beads only now. It is a persistent, dependency-aware task graph designed for AI-supervised coding workflows. The agent can restore project context, find unblocked work, inspect one bounded unit, claim it, record discovered work with provenance, and leave a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https://github.com/gastownhall/beads/blob/main/docs/getting-started/ide-setup.md</a:t>
            </a:r>
          </a:p>
          <a:p xmlns:a="http://schemas.openxmlformats.org/drawingml/2006/main">
            <a:r>
              <a:t>- https://github.com/gastownhall/beads/blob/main/docs/multi-agent/coordination.md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terminal. Run the prepared demo from presentation/demo-runbook.md. Keep this to roughly three minutes. If the live agent response stalls, use the deterministic CLI path and continue; the audience still sees the same persisted context and task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Local demo runbook: presentation/demo-runbook.md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presentation task selected with its children, state, description, acceptance criteria, design, and notes. The opening slide already established the repository-level view; here, zoom into one durable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 captured from beads-map on 2026-09-02: presentation/assets/beads-map-presentation-work.png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benchmark or a causal productivity claim. It is a traceable project history: 49 beads were closed between 25 and 31 August 2026, spanning product decisions, implementation, bugs, packaging, and release hardening. The visualizer shown here was built through the system it visualizes.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“Now the team question—and our Git server changes the answer. StepStone uses Bitbucket, so Beads’ native Dolt remote transport is not available to us.”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bd stats and closed-issue records inspected 2026-09-02</a:t>
            </a:r>
          </a:p>
          <a:p xmlns:a="http://schemas.openxmlformats.org/drawingml/2006/main">
            <a:r>
              <a:t>- Local screenshot captured from beads-map on 2026-09-02: presentation/assets/beads-map-release-hardening.png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StepStone, the answer is a qualified yes through a Git-mediated compatibility workflow—not through Beads’ native Dolt remote sync.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clone still works from its own local Dolt database. Before commit, a hook exports issue records to .beads/issues.jsonl. Git and Bitbucket carry that ordinary text file. After merge or checkout, another hook imports the JSONL into the receiving clone’s local database. A fresh clone can use bd bootstrap.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distinction explicit: JSONL is the exported interchange and hand-off medium, not the live database or Beads’ canonical wire protocol. Collaboration happens at commit/push/pull time rather than as live synchronization. Export and staging are opt-in, and hooks must be installed or configured in every working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Never commit .beads/embeddeddolt/ or .beads/dolt/. The binary database is not mergeable. Memories are excluded from issue export by default and should not be put into a shared repository without a deliberate team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StepStone Bitbucket/Stash transport constraint supplied by Helio Pais on 2026-09-03</a:t>
            </a:r>
          </a:p>
          <a:p xmlns:a="http://schemas.openxmlformats.org/drawingml/2006/main">
            <a:r>
              <a:t>- https://github.com/gastownhall/beads/blob/main/docs/core-concepts/sync-concepts.md</a:t>
            </a:r>
          </a:p>
          <a:p xmlns:a="http://schemas.openxmlformats.org/drawingml/2006/main">
            <a:r>
              <a:t>- https://github.com/gastownhall/beads/blob/main/docs/reference/configuration.md</a:t>
            </a:r>
          </a:p>
          <a:p xmlns:a="http://schemas.openxmlformats.org/drawingml/2006/main">
            <a:r>
              <a:t>- https://github.com/gastownhall/beads/blob/main/docs/reference/git-integration.md</a:t>
            </a:r>
          </a:p>
          <a:p xmlns:a="http://schemas.openxmlformats.org/drawingml/2006/main">
            <a:r>
              <a:t>- https://github.com/gastownhall/beads/blob/main/docs/cli-reference/bootstrap.md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audience through one asynchronous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Agent A claims or updates a bead in the local database.</a:t>
            </a:r>
          </a:p>
          <a:p xmlns:a="http://schemas.openxmlformats.org/drawingml/2006/main">
            <a:r>
              <a:t>2. The repository’s pre-commit hook exports the current issue records and stages .beads/issues.jsonl.</a:t>
            </a:r>
          </a:p>
          <a:p xmlns:a="http://schemas.openxmlformats.org/drawingml/2006/main">
            <a:r>
              <a:t>3. The pull request carries code and task state together through Bitbucket review.</a:t>
            </a:r>
          </a:p>
          <a:p xmlns:a="http://schemas.openxmlformats.org/drawingml/2006/main">
            <a:r>
              <a:t>4. Agent B pulls the merged work; the compatibility hook—or an explicit bd import .beads/issues.jsonl—hydrates the local database, and bd prime restores the working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Hash-based IDs make independently created beads coexist well across branches. Concurrent edits to the same bead are less automatic: import is an upsert with timestamp rules, not a semantic three-way merge. If Git reports a JSONL conflict, preserve both lines, import, inspect the affected beads, and export again. A union merge driver can reduce line-level conflict markers, but the result still needs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operational promise is deliberately modest: the hand-off is reviewable in Git and queryable again in Beads. It is not live state, and JSONL does not reproduce Dolt history, branches, or deletion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https://github.com/gastownhall/beads/blob/main/docs/cli-reference/export.md</a:t>
            </a:r>
          </a:p>
          <a:p xmlns:a="http://schemas.openxmlformats.org/drawingml/2006/main">
            <a:r>
              <a:t>- https://github.com/gastownhall/beads/blob/main/docs/cli-reference/import.md</a:t>
            </a:r>
          </a:p>
          <a:p xmlns:a="http://schemas.openxmlformats.org/drawingml/2006/main">
            <a:r>
              <a:t>- https://github.com/gastownhall/beads/blob/main/docs/core-concepts/hash-ids.md</a:t>
            </a:r>
          </a:p>
          <a:p xmlns:a="http://schemas.openxmlformats.org/drawingml/2006/main">
            <a:r>
              <a:t>- https://github.com/gastownhall/beads/blob/main/docs/reference/git-integration.md</a:t>
            </a:r>
          </a:p>
          <a:p xmlns:a="http://schemas.openxmlformats.org/drawingml/2006/main">
            <a:r>
              <a:t>- https://git-scm.com/docs/gitattributes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after the practical Bitbucket hand-off, without overselling. Ask people to try Beads on one genuine multi-session task—solo or through one small pull request—and tell you where the explicit export/import convention helps or adds friction. Leave the final slide visible for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https://github.com/gastownhall/beads/blob/main/docs/index.md</a:t>
            </a:r>
          </a:p>
          <a:p xmlns:a="http://schemas.openxmlformats.org/drawingml/2006/main">
            <a:r>
              <a:t>- Visual template: Agentic AI workflows — adoption stages + workflow descriptions.pptx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bac373ec648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743b475d7a488f" /><Relationship Type="http://schemas.openxmlformats.org/officeDocument/2006/relationships/slideLayout" Target="/ppt/slideLayouts/slideLayout1.xml" Id="Rddc3d05f33d444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c3d05f33d444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8d97e6987430e" /><Relationship Type="http://schemas.openxmlformats.org/officeDocument/2006/relationships/notesSlide" Target="/ppt/notesSlides/notesSlide1.xml" Id="R532db01a1a0242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aef844bc94ff0" /><Relationship Type="http://schemas.openxmlformats.org/officeDocument/2006/relationships/image" Target="/ppt/media/image.jpeg" Id="R8e83164a2f504091" /><Relationship Type="http://schemas.openxmlformats.org/officeDocument/2006/relationships/notesSlide" Target="/ppt/notesSlides/notesSlide2.xml" Id="R1195d5149d144e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3f68291aa4081" /><Relationship Type="http://schemas.openxmlformats.org/officeDocument/2006/relationships/image" Target="/ppt/media/image.bin" Id="Racb2765afbf541f8" /><Relationship Type="http://schemas.openxmlformats.org/officeDocument/2006/relationships/notesSlide" Target="/ppt/notesSlides/notesSlide3.xml" Id="R6f85840e014f4d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b410155ef4bfc" /><Relationship Type="http://schemas.openxmlformats.org/officeDocument/2006/relationships/notesSlide" Target="/ppt/notesSlides/notesSlide4.xml" Id="R44ed46f67b9346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47948c1ef49fa" /><Relationship Type="http://schemas.openxmlformats.org/officeDocument/2006/relationships/notesSlide" Target="/ppt/notesSlides/notesSlide5.xml" Id="R9dd7de8eddc04a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f33b9203d4d11" /><Relationship Type="http://schemas.openxmlformats.org/officeDocument/2006/relationships/notesSlide" Target="/ppt/notesSlides/notesSlide6.xml" Id="Re1d08ab942c942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c6a31349f49c7" /><Relationship Type="http://schemas.openxmlformats.org/officeDocument/2006/relationships/image" Target="/ppt/media/image2.jpeg" Id="R4eb65f9c49e34db9" /><Relationship Type="http://schemas.openxmlformats.org/officeDocument/2006/relationships/notesSlide" Target="/ppt/notesSlides/notesSlide7.xml" Id="Re086a6b17a3a4f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9a59ddd6a449c" /><Relationship Type="http://schemas.openxmlformats.org/officeDocument/2006/relationships/image" Target="/ppt/media/image3.jpeg" Id="R50d9be7da13b4412" /><Relationship Type="http://schemas.openxmlformats.org/officeDocument/2006/relationships/notesSlide" Target="/ppt/notesSlides/notesSlide8.xml" Id="Rb09362f8d65b48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0763c94ed4cbb" /><Relationship Type="http://schemas.openxmlformats.org/officeDocument/2006/relationships/notesSlide" Target="/ppt/notesSlides/notesSlide9.xml" Id="R74688414b76b46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ac0b501b5467e" /><Relationship Type="http://schemas.openxmlformats.org/officeDocument/2006/relationships/notesSlide" Target="/ppt/notesSlides/notesSlide10.xml" Id="R1ebea8e8bd0047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5c54f4daf45ff" /><Relationship Type="http://schemas.openxmlformats.org/officeDocument/2006/relationships/notesSlide" Target="/ppt/notesSlides/notesSlide11.xml" Id="Ref60872b4e0047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FAMILIAR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familiar Claude Code loop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1</a:t>
            </a:r>
          </a:p>
        </p:txBody>
      </p:sp>
      <p:sp>
        <p:nvSpPr>
          <p:cNvPr id="7" name="classical-step-1">
            <a:extLst xmlns:a="http://schemas.openxmlformats.org/drawingml/2006/main">
              <a:ext uri="{FF2B5EF4-FFF2-40B4-BE49-F238E27FC236}">
                <a16:creationId xmlns:a16="http://schemas.microsoft.com/office/drawing/2014/main" id="{BC616160-4903-461B-818E-E879F67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PLAN MODE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Read + propose</a:t>
            </a:r>
          </a:p>
        </p:txBody>
      </p:sp>
      <p:sp>
        <p:nvSpPr>
          <p:cNvPr id="8" name="classical-step-2">
            <a:extLst xmlns:a="http://schemas.openxmlformats.org/drawingml/2006/main">
              <a:ext uri="{FF2B5EF4-FFF2-40B4-BE49-F238E27FC236}">
                <a16:creationId xmlns:a16="http://schemas.microsoft.com/office/drawing/2014/main" id="{54881E1A-77E9-42DB-8CCC-AE35A0E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Refine + approve</a:t>
            </a:r>
          </a:p>
        </p:txBody>
      </p:sp>
      <p:sp>
        <p:nvSpPr>
          <p:cNvPr id="9" name="classical-step-3">
            <a:extLst xmlns:a="http://schemas.openxmlformats.org/drawingml/2006/main">
              <a:ext uri="{FF2B5EF4-FFF2-40B4-BE49-F238E27FC236}">
                <a16:creationId xmlns:a16="http://schemas.microsoft.com/office/drawing/2014/main" id="{01229AD3-BCE5-4CB7-9B83-7D71D7CB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EXECUTE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Edit + run</a:t>
            </a:r>
          </a:p>
        </p:txBody>
      </p:sp>
      <p:sp>
        <p:nvSpPr>
          <p:cNvPr id="10" name="classical-step-4">
            <a:extLst xmlns:a="http://schemas.openxmlformats.org/drawingml/2006/main">
              <a:ext uri="{FF2B5EF4-FFF2-40B4-BE49-F238E27FC236}">
                <a16:creationId xmlns:a16="http://schemas.microsoft.com/office/drawing/2014/main" id="{D4B45699-C7D8-4BFB-B7D9-AA0C681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VERIFY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57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 the result</a:t>
            </a:r>
          </a:p>
        </p:txBody>
      </p:sp>
      <p:sp>
        <p:nvSpPr>
          <p:cNvPr id="11" name="classical-arrow-1">
            <a:extLst xmlns:a="http://schemas.openxmlformats.org/drawingml/2006/main">
              <a:ext uri="{FF2B5EF4-FFF2-40B4-BE49-F238E27FC236}">
                <a16:creationId xmlns:a16="http://schemas.microsoft.com/office/drawing/2014/main" id="{C439129A-4C6C-437B-B0FB-52DAA4E4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classical-arrow-2">
            <a:extLst xmlns:a="http://schemas.openxmlformats.org/drawingml/2006/main">
              <a:ext uri="{FF2B5EF4-FFF2-40B4-BE49-F238E27FC236}">
                <a16:creationId xmlns:a16="http://schemas.microsoft.com/office/drawing/2014/main" id="{8AA5D5E0-C0DA-48DB-826E-6310885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classical-arrow-3">
            <a:extLst xmlns:a="http://schemas.openxmlformats.org/drawingml/2006/main">
              <a:ext uri="{FF2B5EF4-FFF2-40B4-BE49-F238E27FC236}">
                <a16:creationId xmlns:a16="http://schemas.microsoft.com/office/drawing/2014/main" id="{3F3917BF-DFE2-4B86-8766-FA466D8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classical-caption">
            <a:extLst xmlns:a="http://schemas.openxmlformats.org/drawingml/2006/main">
              <a:ext uri="{FF2B5EF4-FFF2-40B4-BE49-F238E27FC236}">
                <a16:creationId xmlns:a16="http://schemas.microsoft.com/office/drawing/2014/main" id="{C5A1B456-9B08-4A25-96C1-80E963D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95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strong workflow for bounded work inside one session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STEVE YEGGE  ·  INTRODUCING BEADS  ·  2025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605 markdown plan files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3164a2f504091"/>
          <a:srcRect xmlns:a="http://schemas.openxmlformats.org/drawingml/2006/main" l="0" t="29980" r="0" b="29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10820400" cy="4400550"/>
          </a:xfrm>
          <a:prstGeom xmlns:a="http://schemas.openxmlformats.org/drawingml/2006/main" prst="rect">
            <a:avLst/>
          </a:prstGeom>
        </p:spPr>
      </p:pic>
      <p:sp>
        <p:nvSpPr>
          <p:cNvPr id="8" name="source-attribution">
            <a:extLst xmlns:a="http://schemas.openxmlformats.org/drawingml/2006/main">
              <a:ext uri="{FF2B5EF4-FFF2-40B4-BE49-F238E27FC236}">
                <a16:creationId xmlns:a16="http://schemas.microsoft.com/office/drawing/2014/main" id="{51B9064E-E6F5-41AA-9C69-7492D03E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“in varying stages of decay” — Steve Yegge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CODING WORKFLOW SNAPSHOT  ·  ADOPTION MODEL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Stages of AI Adoption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2765afbf541f8"/>
          <a:stretch xmlns:a="http://schemas.openxmlformats.org/drawingml/2006/main"/>
        </p:blipFill>
        <p:spPr>
          <a:xfrm xmlns:a="http://schemas.openxmlformats.org/drawingml/2006/main">
            <a:off x="1714500" y="1385615"/>
            <a:ext cx="8763000" cy="47820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3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THE PRESSURE POINTS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Real work escapes the session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Markdown can carry this—but each pressure adds another convention.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WHAT HAPPENS?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PLAN NOW NEEDS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Several sessions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Work continues tomorrow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State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New work appears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Execution reveals a bug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Provenance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Dependencies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Task B waits for Task A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graph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hand-off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Another session takes over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Memory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IDs · status · ownership · dependencies · provenance · hand-off context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4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makes the work state explicit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5</a:t>
            </a:r>
          </a:p>
        </p:txBody>
      </p:sp>
      <p:sp>
        <p:nvSpPr>
          <p:cNvPr id="7" name="beads-step-1">
            <a:extLst xmlns:a="http://schemas.openxmlformats.org/drawingml/2006/main">
              <a:ext uri="{FF2B5EF4-FFF2-40B4-BE49-F238E27FC236}">
                <a16:creationId xmlns:a16="http://schemas.microsoft.com/office/drawing/2014/main" id="{1BC54ECD-8C3C-416D-9538-FD378A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restore context</a:t>
            </a:r>
          </a:p>
        </p:txBody>
      </p:sp>
      <p:sp>
        <p:nvSpPr>
          <p:cNvPr id="8" name="beads-step-2">
            <a:extLst xmlns:a="http://schemas.openxmlformats.org/drawingml/2006/main">
              <a:ext uri="{FF2B5EF4-FFF2-40B4-BE49-F238E27FC236}">
                <a16:creationId xmlns:a16="http://schemas.microsoft.com/office/drawing/2014/main" id="{161EB8AB-7264-46DD-96A8-FA79334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find work</a:t>
            </a:r>
          </a:p>
        </p:txBody>
      </p:sp>
      <p:sp>
        <p:nvSpPr>
          <p:cNvPr id="9" name="beads-step-3">
            <a:extLst xmlns:a="http://schemas.openxmlformats.org/drawingml/2006/main">
              <a:ext uri="{FF2B5EF4-FFF2-40B4-BE49-F238E27FC236}">
                <a16:creationId xmlns:a16="http://schemas.microsoft.com/office/drawing/2014/main" id="{61672731-4358-47B3-AE99-A61AB23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inspect</a:t>
            </a:r>
          </a:p>
        </p:txBody>
      </p:sp>
      <p:sp>
        <p:nvSpPr>
          <p:cNvPr id="10" name="beads-step-4">
            <a:extLst xmlns:a="http://schemas.openxmlformats.org/drawingml/2006/main">
              <a:ext uri="{FF2B5EF4-FFF2-40B4-BE49-F238E27FC236}">
                <a16:creationId xmlns:a16="http://schemas.microsoft.com/office/drawing/2014/main" id="{C5FF1062-3CE8-4C9E-9A72-91A4FCA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update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claim + record</a:t>
            </a:r>
          </a:p>
        </p:txBody>
      </p:sp>
      <p:sp>
        <p:nvSpPr>
          <p:cNvPr id="11" name="beads-step-5">
            <a:extLst xmlns:a="http://schemas.openxmlformats.org/drawingml/2006/main">
              <a:ext uri="{FF2B5EF4-FFF2-40B4-BE49-F238E27FC236}">
                <a16:creationId xmlns:a16="http://schemas.microsoft.com/office/drawing/2014/main" id="{5B4770C5-0D7B-463D-A1C1-956C3BA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close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hand off</a:t>
            </a:r>
          </a:p>
        </p:txBody>
      </p:sp>
      <p:sp>
        <p:nvSpPr>
          <p:cNvPr id="12" name="beads-arrow-1">
            <a:extLst xmlns:a="http://schemas.openxmlformats.org/drawingml/2006/main">
              <a:ext uri="{FF2B5EF4-FFF2-40B4-BE49-F238E27FC236}">
                <a16:creationId xmlns:a16="http://schemas.microsoft.com/office/drawing/2014/main" id="{2FC229A4-0FF6-4195-9310-A57A5F6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beads-arrow-2">
            <a:extLst xmlns:a="http://schemas.openxmlformats.org/drawingml/2006/main">
              <a:ext uri="{FF2B5EF4-FFF2-40B4-BE49-F238E27FC236}">
                <a16:creationId xmlns:a16="http://schemas.microsoft.com/office/drawing/2014/main" id="{F17866EC-D9DF-400B-8C41-DCC0B3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beads-arrow-3">
            <a:extLst xmlns:a="http://schemas.openxmlformats.org/drawingml/2006/main">
              <a:ext uri="{FF2B5EF4-FFF2-40B4-BE49-F238E27FC236}">
                <a16:creationId xmlns:a16="http://schemas.microsoft.com/office/drawing/2014/main" id="{7B9FA2FD-CBA2-443D-8EF8-307A38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5" name="beads-arrow-4">
            <a:extLst xmlns:a="http://schemas.openxmlformats.org/drawingml/2006/main">
              <a:ext uri="{FF2B5EF4-FFF2-40B4-BE49-F238E27FC236}">
                <a16:creationId xmlns:a16="http://schemas.microsoft.com/office/drawing/2014/main" id="{E384A66D-E410-4746-9090-9549036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6" name="beads-caption">
            <a:extLst xmlns:a="http://schemas.openxmlformats.org/drawingml/2006/main">
              <a:ext uri="{FF2B5EF4-FFF2-40B4-BE49-F238E27FC236}">
                <a16:creationId xmlns:a16="http://schemas.microsoft.com/office/drawing/2014/main" id="{60F3A728-640F-480E-BDF5-0EE1C3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Discovered work becomes a linked bead—not a lost note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LIVE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 short beads loop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 fresh session can recover context and leave the next one a clean hand-off.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COMMAND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RESULT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prime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Load workflow + project memory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Orient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ready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Find work with no open blockers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Choose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bd show &lt;id&gt;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Inspect one bounded task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Understand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update · create · close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Act, record discoveries, hand off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4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Continue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The task graph survives even when the conversation does not.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6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BEADS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Beads Map makes the hand-off visible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65f9c49e34db9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49 completed beads in seven days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9be7da13b4412"/>
          <a:stretch xmlns:a="http://schemas.openxmlformats.org/drawingml/2006/main"/>
        </p:blipFill>
        <p:spPr>
          <a:xfrm xmlns:a="http://schemas.openxmlformats.org/drawingml/2006/main">
            <a:off x="1905000" y="1381125"/>
            <a:ext cx="8382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614666D-9A0B-461B-A956-372CA6B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BITBUCKET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835513-A501-4F1A-8DB4-1E0417F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2925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At StepStone, Git carries the hand-off</a:t>
            </a:r>
          </a:p>
        </p:txBody>
      </p:sp>
      <p:sp>
        <p:nvSpPr>
          <p:cNvPr id="3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48FA0D70-8E1C-47BE-A673-6120D3FD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5E2E2545-543A-4CB7-8BD0-295D318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defRPr>
            </a:pPr>
            <a:r>
              <a:rPr sz="975" b="0">
                <a:solidFill>
                  <a:srgbClr val="566370"/>
                </a:solidFill>
                <a:latin typeface="Relative Pro"/>
                <a:ea typeface="Relative Pro"/>
                <a:cs typeface="Relative Pro"/>
              </a:rPr>
              <a:t>AI Engineering Fridays  ·  9</a:t>
            </a:r>
          </a:p>
        </p:txBody>
      </p:sp>
      <p:sp>
        <p:nvSpPr>
          <p:cNvPr id="7" name="beads-step-1">
            <a:extLst xmlns:a="http://schemas.openxmlformats.org/drawingml/2006/main">
              <a:ext uri="{FF2B5EF4-FFF2-40B4-BE49-F238E27FC236}">
                <a16:creationId xmlns:a16="http://schemas.microsoft.com/office/drawing/2014/main" id="{1BC54ECD-8C3C-416D-9538-FD378A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Developer /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local Dolt DB</a:t>
            </a:r>
          </a:p>
        </p:txBody>
      </p:sp>
      <p:sp>
        <p:nvSpPr>
          <p:cNvPr id="8" name="beads-step-2">
            <a:extLst xmlns:a="http://schemas.openxmlformats.org/drawingml/2006/main">
              <a:ext uri="{FF2B5EF4-FFF2-40B4-BE49-F238E27FC236}">
                <a16:creationId xmlns:a16="http://schemas.microsoft.com/office/drawing/2014/main" id="{161EB8AB-7264-46DD-96A8-FA79334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pre-commit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export</a:t>
            </a:r>
          </a:p>
        </p:txBody>
      </p:sp>
      <p:sp>
        <p:nvSpPr>
          <p:cNvPr id="9" name="beads-step-3">
            <a:extLst xmlns:a="http://schemas.openxmlformats.org/drawingml/2006/main">
              <a:ext uri="{FF2B5EF4-FFF2-40B4-BE49-F238E27FC236}">
                <a16:creationId xmlns:a16="http://schemas.microsoft.com/office/drawing/2014/main" id="{61672731-4358-47B3-AE99-A61AB23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.beads/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issues.jsonl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 Git</a:t>
            </a:r>
          </a:p>
        </p:txBody>
      </p:sp>
      <p:sp>
        <p:nvSpPr>
          <p:cNvPr id="10" name="beads-step-4">
            <a:extLst xmlns:a="http://schemas.openxmlformats.org/drawingml/2006/main">
              <a:ext uri="{FF2B5EF4-FFF2-40B4-BE49-F238E27FC236}">
                <a16:creationId xmlns:a16="http://schemas.microsoft.com/office/drawing/2014/main" id="{C5FF1062-3CE8-4C9E-9A72-91A4FCA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post-merge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import</a:t>
            </a:r>
          </a:p>
        </p:txBody>
      </p:sp>
      <p:sp>
        <p:nvSpPr>
          <p:cNvPr id="11" name="beads-step-5">
            <a:extLst xmlns:a="http://schemas.openxmlformats.org/drawingml/2006/main">
              <a:ext uri="{FF2B5EF4-FFF2-40B4-BE49-F238E27FC236}">
                <a16:creationId xmlns:a16="http://schemas.microsoft.com/office/drawing/2014/main" id="{5B4770C5-0D7B-463D-A1C1-956C3BAB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3906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FAFB"/>
          </a:solidFill>
          <a:ln xmlns:a="http://schemas.openxmlformats.org/drawingml/2006/main" w="19050">
            <a:solidFill>
              <a:srgbClr val="0081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Developer /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B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local Dolt DB</a:t>
            </a:r>
          </a:p>
        </p:txBody>
      </p:sp>
      <p:sp>
        <p:nvSpPr>
          <p:cNvPr id="12" name="beads-arrow-1">
            <a:extLst xmlns:a="http://schemas.openxmlformats.org/drawingml/2006/main">
              <a:ext uri="{FF2B5EF4-FFF2-40B4-BE49-F238E27FC236}">
                <a16:creationId xmlns:a16="http://schemas.microsoft.com/office/drawing/2014/main" id="{2FC229A4-0FF6-4195-9310-A57A5F6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3" name="beads-arrow-2">
            <a:extLst xmlns:a="http://schemas.openxmlformats.org/drawingml/2006/main">
              <a:ext uri="{FF2B5EF4-FFF2-40B4-BE49-F238E27FC236}">
                <a16:creationId xmlns:a16="http://schemas.microsoft.com/office/drawing/2014/main" id="{F17866EC-D9DF-400B-8C41-DCC0B3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4" name="beads-arrow-3">
            <a:extLst xmlns:a="http://schemas.openxmlformats.org/drawingml/2006/main">
              <a:ext uri="{FF2B5EF4-FFF2-40B4-BE49-F238E27FC236}">
                <a16:creationId xmlns:a16="http://schemas.microsoft.com/office/drawing/2014/main" id="{7B9FA2FD-CBA2-443D-8EF8-307A380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5" name="beads-arrow-4">
            <a:extLst xmlns:a="http://schemas.openxmlformats.org/drawingml/2006/main">
              <a:ext uri="{FF2B5EF4-FFF2-40B4-BE49-F238E27FC236}">
                <a16:creationId xmlns:a16="http://schemas.microsoft.com/office/drawing/2014/main" id="{E384A66D-E410-4746-9090-9549036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6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240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→</a:t>
            </a:r>
          </a:p>
        </p:txBody>
      </p:sp>
      <p:sp>
        <p:nvSpPr>
          <p:cNvPr id="16" name="beads-caption">
            <a:extLst xmlns:a="http://schemas.openxmlformats.org/drawingml/2006/main">
              <a:ext uri="{FF2B5EF4-FFF2-40B4-BE49-F238E27FC236}">
                <a16:creationId xmlns:a16="http://schemas.microsoft.com/office/drawing/2014/main" id="{60F3A728-640F-480E-BDF5-0EE1C3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67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Bitbucket carries the exported hand-off—not the database or live state</a:t>
            </a:r>
          </a:p>
        </p:txBody>
      </p:sp>
    </p:spTree>
    <p:extLst>
      <p:ext uri="{BB962C8B-B14F-4D97-AF65-F5344CB8AC3E}">
        <p14:creationId xmlns:p14="http://schemas.microsoft.com/office/powerpoint/2010/main" val="1808571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IN PRACTICE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The hand-off travels with the code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One pull request carries the implementation and its Beads hand-off.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HAND-OFF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RESULT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A claims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update BEAD-123 --claim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Owned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Commit exports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.beads/issues.jsonl refreshed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Versioned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PR merges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code + task state in Bitbucket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Reviewable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Agent B resumes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git pull · import · bd prime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4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Restored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Hooks automate the round trip; same-bead edits may still need reconciliation.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10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">
            <a:extLst xmlns:a="http://schemas.openxmlformats.org/drawingml/2006/main">
              <a:ext uri="{FF2B5EF4-FFF2-40B4-BE49-F238E27FC236}">
                <a16:creationId xmlns:a16="http://schemas.microsoft.com/office/drawing/2014/main" id="{0DCF47BE-DFE5-4017-B1BE-FC92D56B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19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08194"/>
                </a:solidFill>
                <a:latin typeface="Relative Pro"/>
                <a:ea typeface="Relative Pro"/>
                <a:cs typeface="Relative Pro"/>
              </a:rPr>
              <a:t>AI ENGINEERING FRIDAYS  ·  YOUR TURN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46A96-9C71-4467-85D7-8F5BBFD1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239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34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Try it—and let me know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55878A-C749-4345-BCB1-91648F12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3811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5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Start with one real task that will still matter tomorrow.</a:t>
            </a:r>
          </a:p>
        </p:txBody>
      </p:sp>
      <p:sp>
        <p:nvSpPr>
          <p:cNvPr id="4" name="count-header">
            <a:extLst xmlns:a="http://schemas.openxmlformats.org/drawingml/2006/main">
              <a:ext uri="{FF2B5EF4-FFF2-40B4-BE49-F238E27FC236}">
                <a16:creationId xmlns:a16="http://schemas.microsoft.com/office/drawing/2014/main" id="{FB1C5206-9B1A-4E9E-9AED-FA3800CD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19145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FIRST EXPERIMENT</a:t>
            </a:r>
          </a:p>
        </p:txBody>
      </p:sp>
      <p:sp>
        <p:nvSpPr>
          <p:cNvPr id="5" name="who-header">
            <a:extLst xmlns:a="http://schemas.openxmlformats.org/drawingml/2006/main">
              <a:ext uri="{FF2B5EF4-FFF2-40B4-BE49-F238E27FC236}">
                <a16:creationId xmlns:a16="http://schemas.microsoft.com/office/drawing/2014/main" id="{9C894F39-2EA2-406B-AD33-82F0583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145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OUTCOME</a:t>
            </a:r>
          </a:p>
        </p:txBody>
      </p:sp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2ED8A1F9-3653-4165-AE13-FC7191C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Install</a:t>
            </a:r>
          </a:p>
        </p:txBody>
      </p:sp>
      <p:sp>
        <p:nvSpPr>
          <p:cNvPr id="7" name="kind-0">
            <a:extLst xmlns:a="http://schemas.openxmlformats.org/drawingml/2006/main">
              <a:ext uri="{FF2B5EF4-FFF2-40B4-BE49-F238E27FC236}">
                <a16:creationId xmlns:a16="http://schemas.microsoft.com/office/drawing/2014/main" id="{74FAFCA1-579A-4312-B6A5-CE5ADCE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714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brew install beads</a:t>
            </a:r>
          </a:p>
        </p:txBody>
      </p:sp>
      <p:sp>
        <p:nvSpPr>
          <p:cNvPr id="8" name="track-0">
            <a:extLst xmlns:a="http://schemas.openxmlformats.org/drawingml/2006/main">
              <a:ext uri="{FF2B5EF4-FFF2-40B4-BE49-F238E27FC236}">
                <a16:creationId xmlns:a16="http://schemas.microsoft.com/office/drawing/2014/main" id="{6FFA0D4D-BBE2-4D62-BE26-51F574DD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9" name="bar-0">
            <a:extLst xmlns:a="http://schemas.openxmlformats.org/drawingml/2006/main">
              <a:ext uri="{FF2B5EF4-FFF2-40B4-BE49-F238E27FC236}">
                <a16:creationId xmlns:a16="http://schemas.microsoft.com/office/drawing/2014/main" id="{AE288DFF-C9F7-4099-B5FC-3C8368B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622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0" name="count-dot-0">
            <a:extLst xmlns:a="http://schemas.openxmlformats.org/drawingml/2006/main">
              <a:ext uri="{FF2B5EF4-FFF2-40B4-BE49-F238E27FC236}">
                <a16:creationId xmlns:a16="http://schemas.microsoft.com/office/drawing/2014/main" id="{08C58B02-A3E4-42E7-92E9-40F7D421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unt-0">
            <a:extLst xmlns:a="http://schemas.openxmlformats.org/drawingml/2006/main">
              <a:ext uri="{FF2B5EF4-FFF2-40B4-BE49-F238E27FC236}">
                <a16:creationId xmlns:a16="http://schemas.microsoft.com/office/drawing/2014/main" id="{2029673E-609F-40F5-8BF7-2CDD6AC3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51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1</a:t>
            </a:r>
          </a:p>
        </p:txBody>
      </p:sp>
      <p:sp>
        <p:nvSpPr>
          <p:cNvPr id="12" name="people-0">
            <a:extLst xmlns:a="http://schemas.openxmlformats.org/drawingml/2006/main">
              <a:ext uri="{FF2B5EF4-FFF2-40B4-BE49-F238E27FC236}">
                <a16:creationId xmlns:a16="http://schemas.microsoft.com/office/drawing/2014/main" id="{A05016CF-CBE1-434F-ADFB-7BB3399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2514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Once</a:t>
            </a:r>
          </a:p>
        </p:txBody>
      </p:sp>
      <p:sp>
        <p:nvSpPr>
          <p:cNvPr id="13" name="row-rule-0">
            <a:extLst xmlns:a="http://schemas.openxmlformats.org/drawingml/2006/main">
              <a:ext uri="{FF2B5EF4-FFF2-40B4-BE49-F238E27FC236}">
                <a16:creationId xmlns:a16="http://schemas.microsoft.com/office/drawing/2014/main" id="{FB249F42-162A-478A-A446-4702AA9B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14" name="tool-1">
            <a:extLst xmlns:a="http://schemas.openxmlformats.org/drawingml/2006/main">
              <a:ext uri="{FF2B5EF4-FFF2-40B4-BE49-F238E27FC236}">
                <a16:creationId xmlns:a16="http://schemas.microsoft.com/office/drawing/2014/main" id="{8B85E11A-B72F-4CAB-AC64-8B9B099C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Initialize</a:t>
            </a:r>
          </a:p>
        </p:txBody>
      </p:sp>
      <p:sp>
        <p:nvSpPr>
          <p:cNvPr id="15" name="kind-1">
            <a:extLst xmlns:a="http://schemas.openxmlformats.org/drawingml/2006/main">
              <a:ext uri="{FF2B5EF4-FFF2-40B4-BE49-F238E27FC236}">
                <a16:creationId xmlns:a16="http://schemas.microsoft.com/office/drawing/2014/main" id="{B5718566-62F6-48F7-97DB-7E8BAA0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337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init inside one repository</a:t>
            </a:r>
          </a:p>
        </p:txBody>
      </p:sp>
      <p:sp>
        <p:nvSpPr>
          <p:cNvPr id="16" name="track-1">
            <a:extLst xmlns:a="http://schemas.openxmlformats.org/drawingml/2006/main">
              <a:ext uri="{FF2B5EF4-FFF2-40B4-BE49-F238E27FC236}">
                <a16:creationId xmlns:a16="http://schemas.microsoft.com/office/drawing/2014/main" id="{696F6BE6-F61A-436D-9C87-FBC8A42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17" name="bar-1">
            <a:extLst xmlns:a="http://schemas.openxmlformats.org/drawingml/2006/main">
              <a:ext uri="{FF2B5EF4-FFF2-40B4-BE49-F238E27FC236}">
                <a16:creationId xmlns:a16="http://schemas.microsoft.com/office/drawing/2014/main" id="{9A875AD8-994E-44F6-BA8C-EF70865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18" name="count-dot-1">
            <a:extLst xmlns:a="http://schemas.openxmlformats.org/drawingml/2006/main">
              <a:ext uri="{FF2B5EF4-FFF2-40B4-BE49-F238E27FC236}">
                <a16:creationId xmlns:a16="http://schemas.microsoft.com/office/drawing/2014/main" id="{044331BB-9ED9-4A0C-963A-E832A38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unt-1">
            <a:extLst xmlns:a="http://schemas.openxmlformats.org/drawingml/2006/main">
              <a:ext uri="{FF2B5EF4-FFF2-40B4-BE49-F238E27FC236}">
                <a16:creationId xmlns:a16="http://schemas.microsoft.com/office/drawing/2014/main" id="{EF00076C-A85F-408F-8917-ABD4FDC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333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2</a:t>
            </a:r>
          </a:p>
        </p:txBody>
      </p:sp>
      <p:sp>
        <p:nvSpPr>
          <p:cNvPr id="20" name="people-1">
            <a:extLst xmlns:a="http://schemas.openxmlformats.org/drawingml/2006/main">
              <a:ext uri="{FF2B5EF4-FFF2-40B4-BE49-F238E27FC236}">
                <a16:creationId xmlns:a16="http://schemas.microsoft.com/office/drawing/2014/main" id="{1C0C1962-E4EB-42B5-A19F-2483BEA0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333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Scope</a:t>
            </a:r>
          </a:p>
        </p:txBody>
      </p:sp>
      <p:sp>
        <p:nvSpPr>
          <p:cNvPr id="21" name="row-rule-1">
            <a:extLst xmlns:a="http://schemas.openxmlformats.org/drawingml/2006/main">
              <a:ext uri="{FF2B5EF4-FFF2-40B4-BE49-F238E27FC236}">
                <a16:creationId xmlns:a16="http://schemas.microsoft.com/office/drawing/2014/main" id="{ACAABAA6-126D-4CC2-8363-9819E98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22" name="tool-2">
            <a:extLst xmlns:a="http://schemas.openxmlformats.org/drawingml/2006/main">
              <a:ext uri="{FF2B5EF4-FFF2-40B4-BE49-F238E27FC236}">
                <a16:creationId xmlns:a16="http://schemas.microsoft.com/office/drawing/2014/main" id="{B8CE818F-8514-438A-BB73-A01C047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57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Resume</a:t>
            </a:r>
          </a:p>
        </p:txBody>
      </p:sp>
      <p:sp>
        <p:nvSpPr>
          <p:cNvPr id="23" name="kind-2">
            <a:extLst xmlns:a="http://schemas.openxmlformats.org/drawingml/2006/main">
              <a:ext uri="{FF2B5EF4-FFF2-40B4-BE49-F238E27FC236}">
                <a16:creationId xmlns:a16="http://schemas.microsoft.com/office/drawing/2014/main" id="{C1268AA5-062E-428F-8B88-389EB78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352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bd prime in a fresh session</a:t>
            </a:r>
          </a:p>
        </p:txBody>
      </p:sp>
      <p:sp>
        <p:nvSpPr>
          <p:cNvPr id="24" name="track-2">
            <a:extLst xmlns:a="http://schemas.openxmlformats.org/drawingml/2006/main">
              <a:ext uri="{FF2B5EF4-FFF2-40B4-BE49-F238E27FC236}">
                <a16:creationId xmlns:a16="http://schemas.microsoft.com/office/drawing/2014/main" id="{CA26178F-0F96-467C-914F-FCC0CAD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25" name="bar-2">
            <a:extLst xmlns:a="http://schemas.openxmlformats.org/drawingml/2006/main">
              <a:ext uri="{FF2B5EF4-FFF2-40B4-BE49-F238E27FC236}">
                <a16:creationId xmlns:a16="http://schemas.microsoft.com/office/drawing/2014/main" id="{E2B27E75-921D-44C5-B1A4-3063266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26" name="count-dot-2">
            <a:extLst xmlns:a="http://schemas.openxmlformats.org/drawingml/2006/main">
              <a:ext uri="{FF2B5EF4-FFF2-40B4-BE49-F238E27FC236}">
                <a16:creationId xmlns:a16="http://schemas.microsoft.com/office/drawing/2014/main" id="{7E954652-70E2-4FEC-A620-CB0A9CE0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95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count-2">
            <a:extLst xmlns:a="http://schemas.openxmlformats.org/drawingml/2006/main">
              <a:ext uri="{FF2B5EF4-FFF2-40B4-BE49-F238E27FC236}">
                <a16:creationId xmlns:a16="http://schemas.microsoft.com/office/drawing/2014/main" id="{106791A0-6A75-419A-AE80-944FC2B4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1529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3</a:t>
            </a:r>
          </a:p>
        </p:txBody>
      </p:sp>
      <p:sp>
        <p:nvSpPr>
          <p:cNvPr id="28" name="people-2">
            <a:extLst xmlns:a="http://schemas.openxmlformats.org/drawingml/2006/main">
              <a:ext uri="{FF2B5EF4-FFF2-40B4-BE49-F238E27FC236}">
                <a16:creationId xmlns:a16="http://schemas.microsoft.com/office/drawing/2014/main" id="{B01622AC-2AE1-47C8-8A79-73C1074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1529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Context</a:t>
            </a:r>
          </a:p>
        </p:txBody>
      </p:sp>
      <p:sp>
        <p:nvSpPr>
          <p:cNvPr id="2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E8FF3AB-B8CB-4975-8AB6-DCD53F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0" name="tool-3">
            <a:extLst xmlns:a="http://schemas.openxmlformats.org/drawingml/2006/main">
              <a:ext uri="{FF2B5EF4-FFF2-40B4-BE49-F238E27FC236}">
                <a16:creationId xmlns:a16="http://schemas.microsoft.com/office/drawing/2014/main" id="{BC65CA02-B707-450A-A5E7-6B5779EC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650" b="1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Tell me</a:t>
            </a:r>
          </a:p>
        </p:txBody>
      </p:sp>
      <p:sp>
        <p:nvSpPr>
          <p:cNvPr id="31" name="kind-3">
            <a:extLst xmlns:a="http://schemas.openxmlformats.org/drawingml/2006/main">
              <a:ext uri="{FF2B5EF4-FFF2-40B4-BE49-F238E27FC236}">
                <a16:creationId xmlns:a16="http://schemas.microsoft.com/office/drawing/2014/main" id="{1EC84F41-F4ED-4A54-B6FA-9FF89D3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72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20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What worked? What got in the way?</a:t>
            </a:r>
          </a:p>
        </p:txBody>
      </p:sp>
      <p:sp>
        <p:nvSpPr>
          <p:cNvPr id="32" name="track-3">
            <a:extLst xmlns:a="http://schemas.openxmlformats.org/drawingml/2006/main">
              <a:ext uri="{FF2B5EF4-FFF2-40B4-BE49-F238E27FC236}">
                <a16:creationId xmlns:a16="http://schemas.microsoft.com/office/drawing/2014/main" id="{73BCFEA3-3BAE-436F-A3FC-E69255CD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AF4F5"/>
          </a:solidFill>
          <a:ln xmlns:a="http://schemas.openxmlformats.org/drawingml/2006/main" w="0">
            <a:solidFill>
              <a:srgbClr val="DAF4F5"/>
            </a:solidFill>
            <a:prstDash val="solid"/>
          </a:ln>
        </p:spPr>
      </p:sp>
      <p:sp>
        <p:nvSpPr>
          <p:cNvPr id="33" name="bar-3">
            <a:extLst xmlns:a="http://schemas.openxmlformats.org/drawingml/2006/main">
              <a:ext uri="{FF2B5EF4-FFF2-40B4-BE49-F238E27FC236}">
                <a16:creationId xmlns:a16="http://schemas.microsoft.com/office/drawing/2014/main" id="{3C56A538-B3AF-4E09-8239-8C17F211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9675"/>
            <a:ext cx="2095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194"/>
          </a:solidFill>
          <a:ln xmlns:a="http://schemas.openxmlformats.org/drawingml/2006/main" w="0">
            <a:solidFill>
              <a:srgbClr val="008194"/>
            </a:solidFill>
            <a:prstDash val="solid"/>
          </a:ln>
        </p:spPr>
      </p:sp>
      <p:sp>
        <p:nvSpPr>
          <p:cNvPr id="34" name="count-dot-3">
            <a:extLst xmlns:a="http://schemas.openxmlformats.org/drawingml/2006/main">
              <a:ext uri="{FF2B5EF4-FFF2-40B4-BE49-F238E27FC236}">
                <a16:creationId xmlns:a16="http://schemas.microsoft.com/office/drawing/2014/main" id="{8352FBF2-11EE-4215-9D60-AD6C36B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14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19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count-3">
            <a:extLst xmlns:a="http://schemas.openxmlformats.org/drawingml/2006/main">
              <a:ext uri="{FF2B5EF4-FFF2-40B4-BE49-F238E27FC236}">
                <a16:creationId xmlns:a16="http://schemas.microsoft.com/office/drawing/2014/main" id="{218C3602-AC28-45F8-97BD-436F70A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9720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1">
                <a:solidFill>
                  <a:srgbClr val="FFFFFF"/>
                </a:solidFill>
                <a:latin typeface="Relative Pro"/>
                <a:ea typeface="Relative Pro"/>
                <a:cs typeface="Relative Pro"/>
              </a:rPr>
              <a:t>↗</a:t>
            </a:r>
          </a:p>
        </p:txBody>
      </p:sp>
      <p:sp>
        <p:nvSpPr>
          <p:cNvPr id="36" name="people-3">
            <a:extLst xmlns:a="http://schemas.openxmlformats.org/drawingml/2006/main">
              <a:ext uri="{FF2B5EF4-FFF2-40B4-BE49-F238E27FC236}">
                <a16:creationId xmlns:a16="http://schemas.microsoft.com/office/drawing/2014/main" id="{D4AF6103-CCB9-4D8D-B811-B9AF963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972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0C2577"/>
                </a:solidFill>
                <a:latin typeface="Relative Pro"/>
                <a:ea typeface="Relative Pro"/>
                <a:cs typeface="Relative Pro"/>
              </a:rPr>
              <a:t>Feedback</a:t>
            </a:r>
          </a:p>
        </p:txBody>
      </p:sp>
      <p:sp>
        <p:nvSpPr>
          <p:cNvPr id="37" name="row-rule-3">
            <a:extLst xmlns:a="http://schemas.openxmlformats.org/drawingml/2006/main">
              <a:ext uri="{FF2B5EF4-FFF2-40B4-BE49-F238E27FC236}">
                <a16:creationId xmlns:a16="http://schemas.microsoft.com/office/drawing/2014/main" id="{3BFF27DA-093F-444B-BD8B-2D539F74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38" name="note">
            <a:extLst xmlns:a="http://schemas.openxmlformats.org/drawingml/2006/main">
              <a:ext uri="{FF2B5EF4-FFF2-40B4-BE49-F238E27FC236}">
                <a16:creationId xmlns:a16="http://schemas.microsoft.com/office/drawing/2014/main" id="{9261BF10-8624-48C5-BE76-D2758B48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3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Use beads where the work—not merely the chat—needs continuity.</a:t>
            </a:r>
          </a:p>
        </p:txBody>
      </p:sp>
      <p:sp>
        <p:nvSpPr>
          <p:cNvPr id="3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19AE085A-0F0A-42C7-8FA9-4E895CE5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E7"/>
            </a:solidFill>
            <a:prstDash val="solid"/>
          </a:ln>
        </p:spPr>
      </p:sp>
      <p:sp>
        <p:nvSpPr>
          <p:cNvPr id="40" name="footer-2">
            <a:extLst xmlns:a="http://schemas.openxmlformats.org/drawingml/2006/main">
              <a:ext uri="{FF2B5EF4-FFF2-40B4-BE49-F238E27FC236}">
                <a16:creationId xmlns:a16="http://schemas.microsoft.com/office/drawing/2014/main" id="{7B3305BD-1A52-4FCA-A7A9-BEA5D41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defRPr>
            </a:pPr>
            <a:r>
              <a:rPr sz="1050" b="0">
                <a:solidFill>
                  <a:srgbClr val="2B697F"/>
                </a:solidFill>
                <a:latin typeface="Relative Pro"/>
                <a:ea typeface="Relative Pro"/>
                <a:cs typeface="Relative Pro"/>
              </a:rPr>
              <a:t>AI Engineering Fridays  ·  11</a:t>
            </a:r>
          </a:p>
        </p:txBody>
      </p:sp>
    </p:spTree>
    <p:extLst>
      <p:ext uri="{BB962C8B-B14F-4D97-AF65-F5344CB8AC3E}">
        <p14:creationId xmlns:p14="http://schemas.microsoft.com/office/powerpoint/2010/main" val="1761331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2026-09-03T20:00:01.3410000Z</dcterms:created>
  <dcterms:modified xsi:type="dcterms:W3CDTF">2026-09-03T20:00:01.3410000Z</dcterms:modified>
</coreProperties>
</file>